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0697b47-26b1-1aee-a586-3b13731a84d9}">
          <p14:sldIdLst>
            <p14:sldId id="256"/>
          </p14:sldIdLst>
        </p14:section>
        <p14:section name="Problem" id="{698a17c7-a1d8-66f8-148b-dd9b140fd6e5}">
          <p14:sldIdLst>
            <p14:sldId id="257"/>
          </p14:sldIdLst>
        </p14:section>
        <p14:section name="Solution" id="{966bb5b1-6d6e-5822-8df1-4321f9273246}">
          <p14:sldIdLst>
            <p14:sldId id="258"/>
            <p14:sldId id="259"/>
          </p14:sldIdLst>
        </p14:section>
        <p14:section name="Build" id="{6af3cbdf-3d35-d740-9977-bb8e1e9bf7da}">
          <p14:sldIdLst>
            <p14:sldId id="260"/>
            <p14:sldId id="261"/>
            <p14:sldId id="262"/>
          </p14:sldIdLst>
        </p14:section>
        <p14:section name="Why us" id="{e69204c5-719d-1b2b-2eb8-965cea1b76f1}">
          <p14:sldIdLst>
            <p14:sldId id="263"/>
          </p14:sldIdLst>
        </p14:section>
        <p14:section name="Outcomes" id="{fcb90fd7-18f5-841c-2c9a-cf797ff9060e}">
          <p14:sldIdLst>
            <p14:sldId id="264"/>
            <p14:sldId id="265"/>
          </p14:sldIdLst>
        </p14:section>
        <p14:section name="Business" id="{525b9da2-4f1c-4dd6-5ee5-bc2aba2b2135}">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A1B3D"/>
                </a:solidFill>
                <a:latin typeface="+mn-lt"/>
              </a:defRPr>
            </a:pPr>
            <a:r>
              <a:rPr sz="1300" b="0" i="0" u="none" strike="noStrike">
                <a:solidFill>
                  <a:srgbClr val="0A1B3D"/>
                </a:solidFill>
                <a:latin typeface="+mn-lt"/>
              </a:rPr>
              <a:t>Projected change vs. today (%)</a:t>
            </a:r>
          </a:p>
        </c:rich>
      </c:tx>
      <c:layout/>
      <c:overlay val="0"/>
    </c:title>
    <c:autoTitleDeleted val="0"/>
    <c:plotArea>
      <c:layout/>
      <c:barChart>
        <c:barDir val="col"/>
        <c:grouping val="clustered"/>
        <c:varyColors val="0"/>
        <c:ser>
          <c:idx val="0"/>
          <c:order val="0"/>
          <c:tx>
            <c:strRef>
              <c:f>Sheet1!$B$1</c:f>
              <c:strCache>
                <c:ptCount val="1"/>
                <c:pt idx="0">
                  <c:v>With Chaukas</c:v>
                </c:pt>
              </c:strCache>
            </c:strRef>
          </c:tx>
          <c:spPr>
            <a:solidFill>
              <a:srgbClr val="00BAF2"/>
            </a:solidFill>
            <a:effectLst/>
          </c:spPr>
          <c:invertIfNegative val="0"/>
          <c:dLbls>
            <c:numFmt formatCode="#,##0" sourceLinked="0"/>
            <c:txPr>
              <a:bodyPr/>
              <a:lstStyle/>
              <a:p>
                <a:pPr>
                  <a:defRPr b="0" i="0" strike="noStrike" sz="1100" u="none">
                    <a:solidFill>
                      <a:srgbClr val="0A1B3D"/>
                    </a:solidFill>
                    <a:latin typeface="+mn-lt"/>
                  </a:defRPr>
                </a:pPr>
              </a:p>
            </c:txPr>
            <c:showLegendKey val="0"/>
            <c:showVal val="1"/>
            <c:showCatName val="0"/>
            <c:showSerName val="0"/>
            <c:showPercent val="0"/>
            <c:showBubbleSize val="0"/>
            <c:showLeaderLines val="0"/>
          </c:dLbls>
          <c:dPt>
            <c:idx val="0"/>
            <c:invertIfNegative val="0"/>
            <c:bubble3D val="0"/>
            <c:spPr>
              <a:solidFill>
                <a:srgbClr val="00BAF2"/>
              </a:solidFill>
              <a:effectLst/>
            </c:spPr>
          </c:dPt>
          <c:dPt>
            <c:idx val="1"/>
            <c:invertIfNegative val="0"/>
            <c:bubble3D val="0"/>
            <c:spPr>
              <a:solidFill>
                <a:srgbClr val="00BAF2"/>
              </a:solidFill>
              <a:effectLst/>
            </c:spPr>
          </c:dPt>
          <c:dPt>
            <c:idx val="2"/>
            <c:invertIfNegative val="0"/>
            <c:bubble3D val="0"/>
            <c:spPr>
              <a:solidFill>
                <a:srgbClr val="00BAF2"/>
              </a:solidFill>
              <a:effectLst/>
            </c:spPr>
          </c:dPt>
          <c:dPt>
            <c:idx val="3"/>
            <c:invertIfNegative val="0"/>
            <c:bubble3D val="0"/>
            <c:spPr>
              <a:solidFill>
                <a:srgbClr val="2BB673"/>
              </a:solidFill>
              <a:effectLst/>
            </c:spPr>
          </c:dPt>
          <c:cat>
            <c:multiLvlStrRef>
              <c:f>Sheet1!$A$2:$A$5</c:f>
              <c:multiLvlStrCache>
                <c:ptCount val="4"/>
                <c:lvl>
                  <c:pt idx="0">
                    <c:v>Resolution time</c:v>
                  </c:pt>
                  <c:pt idx="1">
                    <c:v>Cost to serve</c:v>
                  </c:pt>
                  <c:pt idx="2">
                    <c:v>Agent handle time</c:v>
                  </c:pt>
                  <c:pt idx="3">
                    <c:v>Loan offer acceptance</c:v>
                  </c:pt>
                </c:lvl>
              </c:multiLvlStrCache>
            </c:multiLvlStrRef>
          </c:cat>
          <c:val>
            <c:numRef>
              <c:f>Sheet1!$B$2:$B$5</c:f>
              <c:numCache>
                <c:formatCode>General</c:formatCode>
                <c:ptCount val="4"/>
                <c:pt idx="0">
                  <c:v>-70</c:v>
                </c:pt>
                <c:pt idx="1">
                  <c:v>-35</c:v>
                </c:pt>
                <c:pt idx="2">
                  <c:v>-45</c:v>
                </c:pt>
                <c:pt idx="3">
                  <c:v>25</c:v>
                </c:pt>
              </c:numCache>
            </c:numRef>
          </c:val>
        </c:ser>
        <c:dLbls>
          <c:numFmt formatCode="#,##0" sourceLinked="0"/>
          <c:txPr>
            <a:bodyPr/>
            <a:lstStyle/>
            <a:p>
              <a:pPr>
                <a:defRPr b="0" i="0" strike="noStrike" sz="1100" u="none">
                  <a:solidFill>
                    <a:srgbClr val="0A1B3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7A93"/>
                </a:solidFill>
                <a:latin typeface="+mn-lt"/>
              </a:defRPr>
            </a:pPr>
            <a:endParaRPr lang="en-US"/>
          </a:p>
        </c:txPr>
        <c:crossAx val="2094734552"/>
        <c:crosses val="autoZero"/>
        <c:auto val="1"/>
        <c:lblAlgn val="ctr"/>
        <c:noMultiLvlLbl val="1"/>
      </c:catAx>
      <c:valAx>
        <c:axId val="2094734552"/>
        <c:scaling>
          <c:orientation val="minMax"/>
          <c:max val="40"/>
          <c:min val="-80"/>
        </c:scaling>
        <c:delete val="0"/>
        <c:axPos val="l"/>
        <c:majorGridlines>
          <c:spPr>
            <a:ln w="12700" cap="flat">
              <a:solidFill>
                <a:srgbClr val="E6EC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7A9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Chaukas means 'action' or 'the work to be done'. Our one-line pitch: Paytm solved the conversation; we are building the execution layer behind it. Track 3 asks for agents that understand context, make decisions, take actions and work alongside human teams — that is exactly the loop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framing: we deliberately do NOT claim Paytm lacks voice or vernacular — the AI Soundbox launched in Oct 2025 with an 11-language assistant. Claiming otherwise in front of Paytm judges would be a mistake. The real unsolved problem is the execution layer behind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and sales resolved in a single turn. The guardrail stage is what separates this from a chatbot demo — nothing touches money without passing policy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reward teams that narrow scope and show a real trace. Settlement/refund disputes are the highest-volume action-requiring ticket class and sit directly on top of the lending funnel, so one workflow proves both halves of the track: customer service and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cut the architecture from nine agents to five on purpose. In a hackathon, agent count signals over-engineering; typed contracts and per-agent evals signal engineering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 choice not to lead with GPT-4o/Claude. Paytm's management has said it is building applied models on open-source foundations with SLMs optimised for voice and Indian languages — a stack that ignores cost per conversation reads as naive to this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direct answer to the phrase 'work alongside human teams' in the track brief. Escalation is treated as a product surface, not a failure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Explicitly acknowledge that Paytm already shipped the AI Soundbox with an 11-language assistant. Claiming vernacular voice as our own USP would be pitching Paytm its own product back. Our wedge is execution, consent, measurement and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differentiator against other hackathon decks, which quote industry benchmarks they never tested. The golden set and red-team suite already run in our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quote generic '40-70% deflection' industry figures here. Paytm's own support automation is already mature, so an unsourced deflection claim invites a question we cannot win. We anchor instead to their disclosed FY26 numbers and our own test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framed as leverage on existing revenue engines rather than a speculative new business line, which is what a profitable, cost-disciplined Paytm actually wants to hear in FY27.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hackathon decks skip this entirely. For a fintech audience it is the slide that separates a student project from something a risk team could actually sign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roadmap, not a status claim. Do not overstate what exists today - judges check. Shadow mode is also the answer to the inevitable question: how would you ever deploy this safely at Paytm's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core idea: a teammate, not a bot. Thank the judges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1B3D"/>
          </a:solidFill>
          <a:ln/>
        </p:spPr>
      </p:sp>
      <p:sp>
        <p:nvSpPr>
          <p:cNvPr id="3" name="Text 1"/>
          <p:cNvSpPr/>
          <p:nvPr>
            <p:ph idx="101" type="body" hasCustomPrompt="1"/>
          </p:nvPr>
        </p:nvSpPr>
        <p:spPr>
          <a:xfrm>
            <a:off x="822960" y="1371600"/>
            <a:ext cx="10515600" cy="320040"/>
          </a:xfrm>
          <a:prstGeom prst="rect">
            <a:avLst/>
          </a:prstGeom>
          <a:noFill/>
          <a:ln/>
        </p:spPr>
        <p:txBody>
          <a:bodyPr wrap="square" rtlCol="0"/>
          <a:lstStyle>
            <a:lvl1pPr indent="0" marL="0">
              <a:buNone/>
              <a:defRPr lang="en-US" sz="1100" b="1" spc="250" kern="0" dirty="0">
                <a:solidFill>
                  <a:srgbClr val="00BAF2"/>
                </a:solidFill>
              </a:defRPr>
            </a:lvl1pPr>
          </a:lstStyle>
          <a:p>
            <a:pPr indent="0" marL="0">
              <a:buNone/>
            </a:pPr>
            <a:r>
              <a:rPr lang="en-US" sz="1100" b="1" spc="250" kern="0" dirty="0">
                <a:solidFill>
                  <a:srgbClr val="00BAF2"/>
                </a:solidFill>
              </a:rPr>
              <a:t> </a:t>
            </a:r>
            <a:endParaRPr lang="en-US" sz="1100" dirty="0"/>
          </a:p>
        </p:txBody>
      </p:sp>
      <p:sp>
        <p:nvSpPr>
          <p:cNvPr id="4" name="Text 1"/>
          <p:cNvSpPr/>
          <p:nvPr>
            <p:ph idx="102" type="title" hasCustomPrompt="1"/>
          </p:nvPr>
        </p:nvSpPr>
        <p:spPr>
          <a:xfrm>
            <a:off x="822960" y="1828800"/>
            <a:ext cx="8412480" cy="1188720"/>
          </a:xfrm>
          <a:prstGeom prst="rect">
            <a:avLst/>
          </a:prstGeom>
          <a:noFill/>
          <a:ln/>
        </p:spPr>
        <p:txBody>
          <a:bodyPr wrap="square" rtlCol="0"/>
          <a:lstStyle>
            <a:lvl1pPr algn="l" indent="0" marL="0">
              <a:buNone/>
              <a:defRPr lang="en-US" sz="5400" b="1" dirty="0">
                <a:solidFill>
                  <a:srgbClr val="FFFFFF"/>
                </a:solidFill>
              </a:defRPr>
            </a:lvl1pPr>
          </a:lstStyle>
          <a:p>
            <a:pPr algn="l" indent="0" marL="0">
              <a:buNone/>
            </a:pPr>
            <a:r>
              <a:rPr lang="en-US" sz="5400" b="1" dirty="0">
                <a:solidFill>
                  <a:srgbClr val="FFFFFF"/>
                </a:solidFill>
              </a:rPr>
              <a:t> </a:t>
            </a:r>
            <a:endParaRPr lang="en-US" sz="5400" dirty="0"/>
          </a:p>
        </p:txBody>
      </p:sp>
      <p:sp>
        <p:nvSpPr>
          <p:cNvPr id="5" name="Text 1"/>
          <p:cNvSpPr/>
          <p:nvPr>
            <p:ph idx="103" type="body" hasCustomPrompt="1"/>
          </p:nvPr>
        </p:nvSpPr>
        <p:spPr>
          <a:xfrm>
            <a:off x="822960" y="3017520"/>
            <a:ext cx="10058400" cy="548640"/>
          </a:xfrm>
          <a:prstGeom prst="rect">
            <a:avLst/>
          </a:prstGeom>
          <a:noFill/>
          <a:ln/>
        </p:spPr>
        <p:txBody>
          <a:bodyPr wrap="square" rtlCol="0"/>
          <a:lstStyle>
            <a:lvl1pPr indent="0" marL="0">
              <a:buNone/>
              <a:defRPr lang="en-US" sz="2000" dirty="0">
                <a:solidFill>
                  <a:srgbClr val="00BAF2"/>
                </a:solidFill>
              </a:defRPr>
            </a:lvl1pPr>
          </a:lstStyle>
          <a:p>
            <a:pPr indent="0" marL="0">
              <a:buNone/>
            </a:pPr>
            <a:r>
              <a:rPr lang="en-US" sz="2000" dirty="0">
                <a:solidFill>
                  <a:srgbClr val="00BAF2"/>
                </a:solidFill>
              </a:rPr>
              <a:t> </a:t>
            </a:r>
            <a:endParaRPr lang="en-US" sz="2000" dirty="0"/>
          </a:p>
        </p:txBody>
      </p:sp>
      <p:sp>
        <p:nvSpPr>
          <p:cNvPr id="6" name="Text 1"/>
          <p:cNvSpPr/>
          <p:nvPr>
            <p:ph idx="104" type="body" hasCustomPrompt="1"/>
          </p:nvPr>
        </p:nvSpPr>
        <p:spPr>
          <a:xfrm>
            <a:off x="822960" y="3749040"/>
            <a:ext cx="9326880" cy="1005840"/>
          </a:xfrm>
          <a:prstGeom prst="rect">
            <a:avLst/>
          </a:prstGeom>
          <a:noFill/>
          <a:ln/>
        </p:spPr>
        <p:txBody>
          <a:bodyPr wrap="square" rtlCol="0"/>
          <a:lstStyle>
            <a:lvl1pPr indent="0" marL="0">
              <a:buNone/>
              <a:defRPr lang="en-US" sz="1450" dirty="0">
                <a:solidFill>
                  <a:srgbClr val="C8D4E8"/>
                </a:solidFill>
              </a:defRPr>
            </a:lvl1pPr>
          </a:lstStyle>
          <a:p>
            <a:pPr indent="0" marL="0">
              <a:buNone/>
            </a:pPr>
            <a:r>
              <a:rPr lang="en-US" sz="1450" dirty="0">
                <a:solidFill>
                  <a:srgbClr val="C8D4E8"/>
                </a:solidFill>
              </a:rPr>
              <a:t> </a:t>
            </a:r>
            <a:endParaRPr lang="en-US" sz="1450" dirty="0"/>
          </a:p>
        </p:txBody>
      </p:sp>
      <p:sp>
        <p:nvSpPr>
          <p:cNvPr id="7" name="Text 1"/>
          <p:cNvSpPr/>
          <p:nvPr>
            <p:ph idx="105" type="body" hasCustomPrompt="1"/>
          </p:nvPr>
        </p:nvSpPr>
        <p:spPr>
          <a:xfrm>
            <a:off x="822960" y="5943600"/>
            <a:ext cx="10515600" cy="365760"/>
          </a:xfrm>
          <a:prstGeom prst="rect">
            <a:avLst/>
          </a:prstGeom>
          <a:noFill/>
          <a:ln/>
        </p:spPr>
        <p:txBody>
          <a:bodyPr wrap="square" rtlCol="0"/>
          <a:lstStyle>
            <a:lvl1pPr indent="0" marL="0">
              <a:buNone/>
              <a:defRPr lang="en-US" sz="1100" dirty="0">
                <a:solidFill>
                  <a:srgbClr val="8FA3C0"/>
                </a:solidFill>
              </a:defRPr>
            </a:lvl1pPr>
          </a:lstStyle>
          <a:p>
            <a:pPr indent="0" marL="0">
              <a:buNone/>
            </a:pPr>
            <a:r>
              <a:rPr lang="en-US" sz="1100" dirty="0">
                <a:solidFill>
                  <a:srgbClr val="8FA3C0"/>
                </a:solidFill>
              </a:rPr>
              <a:t> </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ph idx="101" type="body" hasCustomPrompt="1"/>
          </p:nvPr>
        </p:nvSpPr>
        <p:spPr>
          <a:xfrm>
            <a:off x="594360" y="384048"/>
            <a:ext cx="10515600" cy="274320"/>
          </a:xfrm>
          <a:prstGeom prst="rect">
            <a:avLst/>
          </a:prstGeom>
          <a:noFill/>
          <a:ln/>
        </p:spPr>
        <p:txBody>
          <a:bodyPr wrap="square" rtlCol="0"/>
          <a:lstStyle>
            <a:lvl1pPr indent="0" marL="0">
              <a:buNone/>
              <a:defRPr lang="en-US" sz="1100" b="1" spc="220" kern="0" dirty="0">
                <a:solidFill>
                  <a:srgbClr val="00BAF2"/>
                </a:solidFill>
              </a:defRPr>
            </a:lvl1pPr>
          </a:lstStyle>
          <a:p>
            <a:pPr indent="0" marL="0">
              <a:buNone/>
            </a:pPr>
            <a:r>
              <a:rPr lang="en-US" sz="1100" b="1" spc="220" kern="0" dirty="0">
                <a:solidFill>
                  <a:srgbClr val="00BAF2"/>
                </a:solidFill>
              </a:rPr>
              <a:t> </a:t>
            </a:r>
            <a:endParaRPr lang="en-US" sz="1100" dirty="0"/>
          </a:p>
        </p:txBody>
      </p:sp>
      <p:sp>
        <p:nvSpPr>
          <p:cNvPr id="4" name="Text 1"/>
          <p:cNvSpPr/>
          <p:nvPr>
            <p:ph idx="102" type="title" hasCustomPrompt="1"/>
          </p:nvPr>
        </p:nvSpPr>
        <p:spPr>
          <a:xfrm>
            <a:off x="594360" y="676656"/>
            <a:ext cx="10972800" cy="621792"/>
          </a:xfrm>
          <a:prstGeom prst="rect">
            <a:avLst/>
          </a:prstGeom>
          <a:noFill/>
          <a:ln/>
        </p:spPr>
        <p:txBody>
          <a:bodyPr wrap="square" rtlCol="0"/>
          <a:lstStyle>
            <a:lvl1pPr algn="l" indent="0" marL="0">
              <a:buNone/>
              <a:defRPr lang="en-US" sz="3200" b="1" dirty="0">
                <a:solidFill>
                  <a:srgbClr val="0A1B3D"/>
                </a:solidFill>
              </a:defRPr>
            </a:lvl1pPr>
          </a:lstStyle>
          <a:p>
            <a:pPr algn="l" indent="0" marL="0">
              <a:buNone/>
            </a:pPr>
            <a:r>
              <a:rPr lang="en-US" sz="3200" b="1" dirty="0">
                <a:solidFill>
                  <a:srgbClr val="0A1B3D"/>
                </a:solidFill>
              </a:rPr>
              <a:t> </a:t>
            </a:r>
            <a:endParaRPr lang="en-US" sz="3200" dirty="0"/>
          </a:p>
        </p:txBody>
      </p:sp>
      <p:sp>
        <p:nvSpPr>
          <p:cNvPr id="5" name="Text 1"/>
          <p:cNvSpPr/>
          <p:nvPr>
            <p:ph idx="103" type="body" hasCustomPrompt="1"/>
          </p:nvPr>
        </p:nvSpPr>
        <p:spPr>
          <a:xfrm>
            <a:off x="594360" y="1316736"/>
            <a:ext cx="10607040" cy="566928"/>
          </a:xfrm>
          <a:prstGeom prst="rect">
            <a:avLst/>
          </a:prstGeom>
          <a:noFill/>
          <a:ln/>
        </p:spPr>
        <p:txBody>
          <a:bodyPr wrap="square" rtlCol="0"/>
          <a:lstStyle>
            <a:lvl1pPr indent="0" marL="0">
              <a:buNone/>
              <a:defRPr lang="en-US" sz="1350" dirty="0">
                <a:solidFill>
                  <a:srgbClr val="6C7A93"/>
                </a:solidFill>
              </a:defRPr>
            </a:lvl1pPr>
          </a:lstStyle>
          <a:p>
            <a:pPr indent="0" marL="0">
              <a:buNone/>
            </a:pPr>
            <a:r>
              <a:rPr lang="en-US" sz="1350" dirty="0">
                <a:solidFill>
                  <a:srgbClr val="6C7A93"/>
                </a:solidFill>
              </a:rPr>
              <a:t> </a:t>
            </a:r>
            <a:endParaRPr lang="en-US" sz="1350" dirty="0"/>
          </a:p>
        </p:txBody>
      </p:sp>
      <p:sp>
        <p:nvSpPr>
          <p:cNvPr id="6" name="Text 1"/>
          <p:cNvSpPr txBox="1"/>
          <p:nvPr/>
        </p:nvSpPr>
        <p:spPr>
          <a:xfrm>
            <a:off x="594360" y="6355080"/>
            <a:ext cx="8686800" cy="292608"/>
          </a:xfrm>
          <a:prstGeom prst="rect">
            <a:avLst/>
          </a:prstGeom>
          <a:noFill/>
          <a:ln/>
        </p:spPr>
        <p:txBody>
          <a:bodyPr wrap="square" lIns="0" tIns="0" rIns="0" bIns="0" rtlCol="0" anchor="ctr"/>
          <a:lstStyle/>
          <a:p>
            <a:pPr indent="0" marL="0">
              <a:buNone/>
            </a:pPr>
            <a:r>
              <a:rPr lang="en-US" sz="900" dirty="0">
                <a:solidFill>
                  <a:srgbClr val="6C7A93"/>
                </a:solidFill>
              </a:rPr>
              <a:t>Chaukas  ·  Enver AI  ·  Paytm Build for India AI Hackathon</a:t>
            </a:r>
            <a:endParaRPr lang="en-US" sz="900" dirty="0"/>
          </a:p>
        </p:txBody>
      </p:sp>
      <p:sp>
        <p:nvSpPr>
          <p:cNvPr id="7" name="Text 2"/>
          <p:cNvSpPr/>
          <p:nvPr>
            <p:ph idx="105" hasCustomPrompt="1"/>
          </p:nvPr>
        </p:nvSpPr>
        <p:spPr>
          <a:xfrm>
            <a:off x="11338560" y="6355080"/>
            <a:ext cx="457200" cy="292608"/>
          </a:xfrm>
          <a:prstGeom prst="rect">
            <a:avLst/>
          </a:prstGeom>
          <a:noFill/>
          <a:ln/>
        </p:spPr>
        <p:txBody>
          <a:bodyPr wrap="square" rtlCol="0"/>
          <a:lstStyle>
            <a:lvl1pPr algn="r" indent="0" marL="0">
              <a:buNone/>
              <a:defRPr lang="en-US" sz="900" dirty="0">
                <a:solidFill>
                  <a:srgbClr val="6C7A93"/>
                </a:solidFill>
              </a:defRPr>
            </a:lvl1pPr>
          </a:lstStyle>
          <a:p>
            <a:pPr algn="r" indent="0" marL="0">
              <a:buNone/>
            </a:pPr>
            <a:r>
              <a:rPr lang="en-US" sz="900" dirty="0">
                <a:solidFill>
                  <a:srgbClr val="6C7A93"/>
                </a:solidFill>
              </a:rPr>
              <a:t> </a:t>
            </a:r>
            <a:endParaRPr lang="en-US" sz="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1B3D"/>
          </a:solidFill>
          <a:ln/>
        </p:spPr>
      </p:sp>
      <p:sp>
        <p:nvSpPr>
          <p:cNvPr id="3" name="Text 1"/>
          <p:cNvSpPr/>
          <p:nvPr>
            <p:ph idx="101" type="body" hasCustomPrompt="1"/>
          </p:nvPr>
        </p:nvSpPr>
        <p:spPr>
          <a:xfrm>
            <a:off x="594360" y="384048"/>
            <a:ext cx="10515600" cy="274320"/>
          </a:xfrm>
          <a:prstGeom prst="rect">
            <a:avLst/>
          </a:prstGeom>
          <a:noFill/>
          <a:ln/>
        </p:spPr>
        <p:txBody>
          <a:bodyPr wrap="square" rtlCol="0"/>
          <a:lstStyle>
            <a:lvl1pPr indent="0" marL="0">
              <a:buNone/>
              <a:defRPr lang="en-US" sz="1100" b="1" spc="220" kern="0" dirty="0">
                <a:solidFill>
                  <a:srgbClr val="00BAF2"/>
                </a:solidFill>
              </a:defRPr>
            </a:lvl1pPr>
          </a:lstStyle>
          <a:p>
            <a:pPr indent="0" marL="0">
              <a:buNone/>
            </a:pPr>
            <a:r>
              <a:rPr lang="en-US" sz="1100" b="1" spc="220" kern="0" dirty="0">
                <a:solidFill>
                  <a:srgbClr val="00BAF2"/>
                </a:solidFill>
              </a:rPr>
              <a:t> </a:t>
            </a:r>
            <a:endParaRPr lang="en-US" sz="1100" dirty="0"/>
          </a:p>
        </p:txBody>
      </p:sp>
      <p:sp>
        <p:nvSpPr>
          <p:cNvPr id="4" name="Text 1"/>
          <p:cNvSpPr/>
          <p:nvPr>
            <p:ph idx="102" type="title" hasCustomPrompt="1"/>
          </p:nvPr>
        </p:nvSpPr>
        <p:spPr>
          <a:xfrm>
            <a:off x="594360" y="676656"/>
            <a:ext cx="10972800" cy="621792"/>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r>
              <a:rPr lang="en-US" sz="3200" b="1" dirty="0">
                <a:solidFill>
                  <a:srgbClr val="FFFFFF"/>
                </a:solidFill>
              </a:rPr>
              <a:t> </a:t>
            </a:r>
            <a:endParaRPr lang="en-US" sz="3200" dirty="0"/>
          </a:p>
        </p:txBody>
      </p:sp>
      <p:sp>
        <p:nvSpPr>
          <p:cNvPr id="5" name="Text 1"/>
          <p:cNvSpPr/>
          <p:nvPr>
            <p:ph idx="103" type="body" hasCustomPrompt="1"/>
          </p:nvPr>
        </p:nvSpPr>
        <p:spPr>
          <a:xfrm>
            <a:off x="594360" y="1316736"/>
            <a:ext cx="10607040" cy="566928"/>
          </a:xfrm>
          <a:prstGeom prst="rect">
            <a:avLst/>
          </a:prstGeom>
          <a:noFill/>
          <a:ln/>
        </p:spPr>
        <p:txBody>
          <a:bodyPr wrap="square" rtlCol="0"/>
          <a:lstStyle>
            <a:lvl1pPr indent="0" marL="0">
              <a:buNone/>
              <a:defRPr lang="en-US" sz="1350" dirty="0">
                <a:solidFill>
                  <a:srgbClr val="AFC2DC"/>
                </a:solidFill>
              </a:defRPr>
            </a:lvl1pPr>
          </a:lstStyle>
          <a:p>
            <a:pPr indent="0" marL="0">
              <a:buNone/>
            </a:pPr>
            <a:r>
              <a:rPr lang="en-US" sz="1350" dirty="0">
                <a:solidFill>
                  <a:srgbClr val="AFC2DC"/>
                </a:solidFill>
              </a:rPr>
              <a:t> </a:t>
            </a:r>
            <a:endParaRPr lang="en-US" sz="1350" dirty="0"/>
          </a:p>
        </p:txBody>
      </p:sp>
      <p:sp>
        <p:nvSpPr>
          <p:cNvPr id="6" name="Text 1"/>
          <p:cNvSpPr txBox="1"/>
          <p:nvPr/>
        </p:nvSpPr>
        <p:spPr>
          <a:xfrm>
            <a:off x="594360" y="6355080"/>
            <a:ext cx="8686800" cy="292608"/>
          </a:xfrm>
          <a:prstGeom prst="rect">
            <a:avLst/>
          </a:prstGeom>
          <a:noFill/>
          <a:ln/>
        </p:spPr>
        <p:txBody>
          <a:bodyPr wrap="square" lIns="0" tIns="0" rIns="0" bIns="0" rtlCol="0" anchor="ctr"/>
          <a:lstStyle/>
          <a:p>
            <a:pPr indent="0" marL="0">
              <a:buNone/>
            </a:pPr>
            <a:r>
              <a:rPr lang="en-US" sz="900" dirty="0">
                <a:solidFill>
                  <a:srgbClr val="7D91AE"/>
                </a:solidFill>
              </a:rPr>
              <a:t>Chaukas  ·  Enver AI  ·  Paytm Build for India AI Hackathon</a:t>
            </a:r>
            <a:endParaRPr lang="en-US" sz="900" dirty="0"/>
          </a:p>
        </p:txBody>
      </p:sp>
      <p:sp>
        <p:nvSpPr>
          <p:cNvPr id="7" name="Text 2"/>
          <p:cNvSpPr/>
          <p:nvPr>
            <p:ph idx="105" hasCustomPrompt="1"/>
          </p:nvPr>
        </p:nvSpPr>
        <p:spPr>
          <a:xfrm>
            <a:off x="11338560" y="6355080"/>
            <a:ext cx="457200" cy="292608"/>
          </a:xfrm>
          <a:prstGeom prst="rect">
            <a:avLst/>
          </a:prstGeom>
          <a:noFill/>
          <a:ln/>
        </p:spPr>
        <p:txBody>
          <a:bodyPr wrap="square" rtlCol="0"/>
          <a:lstStyle>
            <a:lvl1pPr algn="r" indent="0" marL="0">
              <a:buNone/>
              <a:defRPr lang="en-US" sz="900" dirty="0">
                <a:solidFill>
                  <a:srgbClr val="7D91AE"/>
                </a:solidFill>
              </a:defRPr>
            </a:lvl1pPr>
          </a:lstStyle>
          <a:p>
            <a:pPr algn="r" indent="0" marL="0">
              <a:buNone/>
            </a:pPr>
            <a:r>
              <a:rPr lang="en-US" sz="900" dirty="0">
                <a:solidFill>
                  <a:srgbClr val="7D91AE"/>
                </a:solidFill>
              </a:rPr>
              <a:t> </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509760" y="1417320"/>
            <a:ext cx="2377440" cy="2377440"/>
          </a:xfrm>
          <a:prstGeom prst="ellipse">
            <a:avLst/>
          </a:prstGeom>
          <a:solidFill>
            <a:srgbClr val="1F3A68"/>
          </a:solidFill>
          <a:ln w="12700">
            <a:solidFill>
              <a:srgbClr val="1F3A68"/>
            </a:solidFill>
            <a:prstDash val="solid"/>
          </a:ln>
        </p:spPr>
      </p:sp>
      <p:sp>
        <p:nvSpPr>
          <p:cNvPr id="3" name="Shape 1"/>
          <p:cNvSpPr/>
          <p:nvPr/>
        </p:nvSpPr>
        <p:spPr>
          <a:xfrm>
            <a:off x="10104120" y="2011680"/>
            <a:ext cx="1188720" cy="1188720"/>
          </a:xfrm>
          <a:prstGeom prst="ellipse">
            <a:avLst/>
          </a:prstGeom>
          <a:solidFill>
            <a:srgbClr val="00BAF2"/>
          </a:solidFill>
          <a:ln w="12700">
            <a:solidFill>
              <a:srgbClr val="00BAF2"/>
            </a:solidFill>
            <a:prstDash val="solid"/>
          </a:ln>
        </p:spPr>
      </p:sp>
      <p:sp>
        <p:nvSpPr>
          <p:cNvPr id="4" name="Text 1"/>
          <p:cNvSpPr/>
          <p:nvPr>
            <p:ph idx="101" type="body" hasCustomPrompt="1"/>
          </p:nvPr>
        </p:nvSpPr>
        <p:spPr>
          <a:xfrm>
            <a:off x="822960" y="1371600"/>
            <a:ext cx="10515600" cy="320040"/>
          </a:xfrm>
          <a:prstGeom prst="rect">
            <a:avLst/>
          </a:prstGeom>
          <a:noFill/>
          <a:ln/>
        </p:spPr>
        <p:txBody>
          <a:bodyPr wrap="square" rtlCol="0" anchor="ctr"/>
          <a:lstStyle/>
          <a:p>
            <a:pPr indent="0" marL="0">
              <a:buNone/>
            </a:pPr>
            <a:r>
              <a:rPr lang="en-US" sz="1100" b="1" spc="250" kern="0" dirty="0">
                <a:solidFill>
                  <a:srgbClr val="00BAF2"/>
                </a:solidFill>
              </a:rPr>
              <a:t>PAYTM BUILD FOR INDIA · AI HACKATHON   ·   TRACK 3: AUTONOMOUS AI TEAMMATES</a:t>
            </a:r>
            <a:endParaRPr lang="en-US" sz="1100" dirty="0"/>
          </a:p>
        </p:txBody>
      </p:sp>
      <p:sp>
        <p:nvSpPr>
          <p:cNvPr id="5" name="Text 1"/>
          <p:cNvSpPr/>
          <p:nvPr>
            <p:ph idx="102" type="title" hasCustomPrompt="1"/>
          </p:nvPr>
        </p:nvSpPr>
        <p:spPr>
          <a:xfrm>
            <a:off x="822960" y="1828800"/>
            <a:ext cx="8412480" cy="1188720"/>
          </a:xfrm>
          <a:prstGeom prst="rect">
            <a:avLst/>
          </a:prstGeom>
          <a:noFill/>
          <a:ln/>
        </p:spPr>
        <p:txBody>
          <a:bodyPr wrap="square" rtlCol="0" anchor="ctr"/>
          <a:lstStyle/>
          <a:p>
            <a:pPr algn="l" indent="0" marL="0">
              <a:buNone/>
            </a:pPr>
            <a:r>
              <a:rPr lang="en-US" sz="5400" b="1" dirty="0">
                <a:solidFill>
                  <a:srgbClr val="FFFFFF"/>
                </a:solidFill>
              </a:rPr>
              <a:t>Chaukas</a:t>
            </a:r>
            <a:endParaRPr lang="en-US" sz="5400" dirty="0"/>
          </a:p>
        </p:txBody>
      </p:sp>
      <p:sp>
        <p:nvSpPr>
          <p:cNvPr id="6" name="Text 1"/>
          <p:cNvSpPr/>
          <p:nvPr>
            <p:ph idx="103" type="body" hasCustomPrompt="1"/>
          </p:nvPr>
        </p:nvSpPr>
        <p:spPr>
          <a:xfrm>
            <a:off x="822960" y="3017520"/>
            <a:ext cx="10058400" cy="548640"/>
          </a:xfrm>
          <a:prstGeom prst="rect">
            <a:avLst/>
          </a:prstGeom>
          <a:noFill/>
          <a:ln/>
        </p:spPr>
        <p:txBody>
          <a:bodyPr wrap="square" rtlCol="0" anchor="ctr"/>
          <a:lstStyle/>
          <a:p>
            <a:pPr indent="0" marL="0">
              <a:buNone/>
            </a:pPr>
            <a:r>
              <a:rPr lang="en-US" sz="2000" dirty="0">
                <a:solidFill>
                  <a:srgbClr val="00BAF2"/>
                </a:solidFill>
              </a:rPr>
              <a:t>The AI teammate that acts — and checks itself first</a:t>
            </a:r>
            <a:endParaRPr lang="en-US" sz="2000" dirty="0"/>
          </a:p>
        </p:txBody>
      </p:sp>
      <p:sp>
        <p:nvSpPr>
          <p:cNvPr id="7" name="Text 1"/>
          <p:cNvSpPr/>
          <p:nvPr>
            <p:ph idx="104" type="body" hasCustomPrompt="1"/>
          </p:nvPr>
        </p:nvSpPr>
        <p:spPr>
          <a:xfrm>
            <a:off x="822960" y="3749040"/>
            <a:ext cx="9326880" cy="1005840"/>
          </a:xfrm>
          <a:prstGeom prst="rect">
            <a:avLst/>
          </a:prstGeom>
          <a:noFill/>
          <a:ln/>
        </p:spPr>
        <p:txBody>
          <a:bodyPr wrap="square" rtlCol="0" anchor="t"/>
          <a:lstStyle/>
          <a:p>
            <a:pPr indent="0" marL="0">
              <a:buNone/>
            </a:pPr>
            <a:r>
              <a:rPr lang="en-US" sz="1450" dirty="0">
                <a:solidFill>
                  <a:srgbClr val="C8D4E8"/>
                </a:solidFill>
              </a:rPr>
              <a:t>Paytm has already given 1.5 crore merchants a voice in 11 languages. Chaukas gives that voice the power to act — executing settlements, refunds, tickets and consented loan offers, with a guardrail on every rupee.</a:t>
            </a:r>
            <a:endParaRPr lang="en-US" sz="1450" dirty="0"/>
          </a:p>
        </p:txBody>
      </p:sp>
      <p:sp>
        <p:nvSpPr>
          <p:cNvPr id="8" name="chip0"/>
          <p:cNvSpPr/>
          <p:nvPr/>
        </p:nvSpPr>
        <p:spPr>
          <a:xfrm>
            <a:off x="822960" y="4846320"/>
            <a:ext cx="2834640" cy="475488"/>
          </a:xfrm>
          <a:prstGeom prst="roundRect">
            <a:avLst>
              <a:gd name="adj" fmla="val 19231"/>
            </a:avLst>
          </a:prstGeom>
          <a:solidFill>
            <a:srgbClr val="1F3A68"/>
          </a:solidFill>
          <a:ln w="12700">
            <a:solidFill>
              <a:srgbClr val="1F3A68"/>
            </a:solidFill>
            <a:prstDash val="solid"/>
          </a:ln>
        </p:spPr>
      </p:sp>
      <p:sp>
        <p:nvSpPr>
          <p:cNvPr id="9" name="Shape 7"/>
          <p:cNvSpPr/>
          <p:nvPr/>
        </p:nvSpPr>
        <p:spPr>
          <a:xfrm>
            <a:off x="1042416" y="5020056"/>
            <a:ext cx="128016" cy="128016"/>
          </a:xfrm>
          <a:prstGeom prst="ellipse">
            <a:avLst/>
          </a:prstGeom>
          <a:solidFill>
            <a:srgbClr val="F5A623"/>
          </a:solidFill>
          <a:ln w="12700">
            <a:solidFill>
              <a:srgbClr val="F5A623"/>
            </a:solidFill>
            <a:prstDash val="solid"/>
          </a:ln>
        </p:spPr>
      </p:sp>
      <p:sp>
        <p:nvSpPr>
          <p:cNvPr id="10" name="Text 8"/>
          <p:cNvSpPr txBox="1"/>
          <p:nvPr/>
        </p:nvSpPr>
        <p:spPr>
          <a:xfrm>
            <a:off x="1298448" y="4846320"/>
            <a:ext cx="2240280" cy="475488"/>
          </a:xfrm>
          <a:prstGeom prst="rect">
            <a:avLst/>
          </a:prstGeom>
          <a:noFill/>
          <a:ln/>
        </p:spPr>
        <p:txBody>
          <a:bodyPr wrap="square" lIns="0" tIns="0" rIns="0" bIns="0" rtlCol="0" anchor="ctr"/>
          <a:lstStyle/>
          <a:p>
            <a:pPr indent="0" marL="0">
              <a:buNone/>
            </a:pPr>
            <a:r>
              <a:rPr lang="en-US" sz="1200" dirty="0">
                <a:solidFill>
                  <a:srgbClr val="D4E0F2"/>
                </a:solidFill>
              </a:rPr>
              <a:t>Acts, doesn't just answer</a:t>
            </a:r>
            <a:endParaRPr lang="en-US" sz="1200" dirty="0"/>
          </a:p>
        </p:txBody>
      </p:sp>
      <p:sp>
        <p:nvSpPr>
          <p:cNvPr id="11" name="chip1"/>
          <p:cNvSpPr/>
          <p:nvPr/>
        </p:nvSpPr>
        <p:spPr>
          <a:xfrm>
            <a:off x="3886200" y="4846320"/>
            <a:ext cx="2834640" cy="475488"/>
          </a:xfrm>
          <a:prstGeom prst="roundRect">
            <a:avLst>
              <a:gd name="adj" fmla="val 19231"/>
            </a:avLst>
          </a:prstGeom>
          <a:solidFill>
            <a:srgbClr val="1F3A68"/>
          </a:solidFill>
          <a:ln w="12700">
            <a:solidFill>
              <a:srgbClr val="1F3A68"/>
            </a:solidFill>
            <a:prstDash val="solid"/>
          </a:ln>
        </p:spPr>
      </p:sp>
      <p:sp>
        <p:nvSpPr>
          <p:cNvPr id="12" name="Shape 10"/>
          <p:cNvSpPr/>
          <p:nvPr/>
        </p:nvSpPr>
        <p:spPr>
          <a:xfrm>
            <a:off x="4105656" y="5020056"/>
            <a:ext cx="128016" cy="128016"/>
          </a:xfrm>
          <a:prstGeom prst="ellipse">
            <a:avLst/>
          </a:prstGeom>
          <a:solidFill>
            <a:srgbClr val="2BB673"/>
          </a:solidFill>
          <a:ln w="12700">
            <a:solidFill>
              <a:srgbClr val="2BB673"/>
            </a:solidFill>
            <a:prstDash val="solid"/>
          </a:ln>
        </p:spPr>
      </p:sp>
      <p:sp>
        <p:nvSpPr>
          <p:cNvPr id="13" name="Text 11"/>
          <p:cNvSpPr txBox="1"/>
          <p:nvPr/>
        </p:nvSpPr>
        <p:spPr>
          <a:xfrm>
            <a:off x="4361688" y="4846320"/>
            <a:ext cx="2240280" cy="475488"/>
          </a:xfrm>
          <a:prstGeom prst="rect">
            <a:avLst/>
          </a:prstGeom>
          <a:noFill/>
          <a:ln/>
        </p:spPr>
        <p:txBody>
          <a:bodyPr wrap="square" lIns="0" tIns="0" rIns="0" bIns="0" rtlCol="0" anchor="ctr"/>
          <a:lstStyle/>
          <a:p>
            <a:pPr indent="0" marL="0">
              <a:buNone/>
            </a:pPr>
            <a:r>
              <a:rPr lang="en-US" sz="1200" dirty="0">
                <a:solidFill>
                  <a:srgbClr val="D4E0F2"/>
                </a:solidFill>
              </a:rPr>
              <a:t>Guardrail on every rupee</a:t>
            </a:r>
            <a:endParaRPr lang="en-US" sz="1200" dirty="0"/>
          </a:p>
        </p:txBody>
      </p:sp>
      <p:sp>
        <p:nvSpPr>
          <p:cNvPr id="14" name="chip2"/>
          <p:cNvSpPr/>
          <p:nvPr/>
        </p:nvSpPr>
        <p:spPr>
          <a:xfrm>
            <a:off x="6949440" y="4846320"/>
            <a:ext cx="2834640" cy="475488"/>
          </a:xfrm>
          <a:prstGeom prst="roundRect">
            <a:avLst>
              <a:gd name="adj" fmla="val 19231"/>
            </a:avLst>
          </a:prstGeom>
          <a:solidFill>
            <a:srgbClr val="1F3A68"/>
          </a:solidFill>
          <a:ln w="12700">
            <a:solidFill>
              <a:srgbClr val="1F3A68"/>
            </a:solidFill>
            <a:prstDash val="solid"/>
          </a:ln>
        </p:spPr>
      </p:sp>
      <p:sp>
        <p:nvSpPr>
          <p:cNvPr id="15" name="Shape 13"/>
          <p:cNvSpPr/>
          <p:nvPr/>
        </p:nvSpPr>
        <p:spPr>
          <a:xfrm>
            <a:off x="7168896" y="5020056"/>
            <a:ext cx="128016" cy="128016"/>
          </a:xfrm>
          <a:prstGeom prst="ellipse">
            <a:avLst/>
          </a:prstGeom>
          <a:solidFill>
            <a:srgbClr val="00BAF2"/>
          </a:solidFill>
          <a:ln w="12700">
            <a:solidFill>
              <a:srgbClr val="00BAF2"/>
            </a:solidFill>
            <a:prstDash val="solid"/>
          </a:ln>
        </p:spPr>
      </p:sp>
      <p:sp>
        <p:nvSpPr>
          <p:cNvPr id="16" name="Text 14"/>
          <p:cNvSpPr txBox="1"/>
          <p:nvPr/>
        </p:nvSpPr>
        <p:spPr>
          <a:xfrm>
            <a:off x="7424928" y="4846320"/>
            <a:ext cx="2240280" cy="475488"/>
          </a:xfrm>
          <a:prstGeom prst="rect">
            <a:avLst/>
          </a:prstGeom>
          <a:noFill/>
          <a:ln/>
        </p:spPr>
        <p:txBody>
          <a:bodyPr wrap="square" lIns="0" tIns="0" rIns="0" bIns="0" rtlCol="0" anchor="ctr"/>
          <a:lstStyle/>
          <a:p>
            <a:pPr indent="0" marL="0">
              <a:buNone/>
            </a:pPr>
            <a:r>
              <a:rPr lang="en-US" sz="1200" dirty="0">
                <a:solidFill>
                  <a:srgbClr val="D4E0F2"/>
                </a:solidFill>
              </a:rPr>
              <a:t>Eval-first, not demo-first</a:t>
            </a:r>
            <a:endParaRPr lang="en-US" sz="1200" dirty="0"/>
          </a:p>
        </p:txBody>
      </p:sp>
      <p:sp>
        <p:nvSpPr>
          <p:cNvPr id="17" name="Text 1"/>
          <p:cNvSpPr/>
          <p:nvPr>
            <p:ph idx="105" type="body" hasCustomPrompt="1"/>
          </p:nvPr>
        </p:nvSpPr>
        <p:spPr>
          <a:xfrm>
            <a:off x="822960" y="5943600"/>
            <a:ext cx="10515600" cy="365760"/>
          </a:xfrm>
          <a:prstGeom prst="rect">
            <a:avLst/>
          </a:prstGeom>
          <a:noFill/>
          <a:ln/>
        </p:spPr>
        <p:txBody>
          <a:bodyPr wrap="square" rtlCol="0" anchor="ctr"/>
          <a:lstStyle/>
          <a:p>
            <a:pPr indent="0" marL="0">
              <a:buNone/>
            </a:pPr>
            <a:r>
              <a:rPr lang="en-US" sz="1100" dirty="0">
                <a:solidFill>
                  <a:srgbClr val="8FA3C0"/>
                </a:solidFill>
              </a:rPr>
              <a:t>Enver AI   ·   Stage 1 Submission   ·   27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94360" y="384048"/>
            <a:ext cx="10515600" cy="274320"/>
          </a:xfrm>
          <a:prstGeom prst="rect">
            <a:avLst/>
          </a:prstGeom>
          <a:noFill/>
          <a:ln/>
        </p:spPr>
        <p:txBody>
          <a:bodyPr wrap="square" lIns="0" tIns="0" rIns="0" bIns="0" rtlCol="0" anchor="ctr"/>
          <a:lstStyle/>
          <a:p>
            <a:pPr indent="0" marL="0">
              <a:buNone/>
            </a:pPr>
            <a:r>
              <a:rPr lang="en-US" sz="1100" b="1" spc="220" kern="0" dirty="0">
                <a:solidFill>
                  <a:srgbClr val="00BAF2"/>
                </a:solidFill>
              </a:rPr>
              <a:t>PROBLEM STATEMENT</a:t>
            </a:r>
            <a:endParaRPr lang="en-US" sz="1100" dirty="0"/>
          </a:p>
        </p:txBody>
      </p:sp>
      <p:sp>
        <p:nvSpPr>
          <p:cNvPr id="3" name="Text 1"/>
          <p:cNvSpPr/>
          <p:nvPr>
            <p:ph idx="102" type="title" hasCustomPrompt="1"/>
          </p:nvPr>
        </p:nvSpPr>
        <p:spPr>
          <a:xfrm>
            <a:off x="594360" y="676656"/>
            <a:ext cx="10972800" cy="621792"/>
          </a:xfrm>
          <a:prstGeom prst="rect">
            <a:avLst/>
          </a:prstGeom>
          <a:noFill/>
          <a:ln/>
        </p:spPr>
        <p:txBody>
          <a:bodyPr wrap="square" lIns="0" tIns="0" rIns="0" bIns="0" rtlCol="0" anchor="ctr"/>
          <a:lstStyle/>
          <a:p>
            <a:pPr algn="l" indent="0" marL="0">
              <a:buNone/>
            </a:pPr>
            <a:r>
              <a:rPr lang="en-US" sz="3200" b="1" dirty="0">
                <a:solidFill>
                  <a:srgbClr val="0A1B3D"/>
                </a:solidFill>
              </a:rPr>
              <a:t>Paytm solved the voice. The last mile is still manual</a:t>
            </a:r>
            <a:endParaRPr lang="en-US" sz="3200" dirty="0"/>
          </a:p>
        </p:txBody>
      </p:sp>
      <p:sp>
        <p:nvSpPr>
          <p:cNvPr id="4" name="Text 1"/>
          <p:cNvSpPr/>
          <p:nvPr>
            <p:ph idx="103" type="body" hasCustomPrompt="1"/>
          </p:nvPr>
        </p:nvSpPr>
        <p:spPr>
          <a:xfrm>
            <a:off x="594360" y="1316736"/>
            <a:ext cx="10607040" cy="566928"/>
          </a:xfrm>
          <a:prstGeom prst="rect">
            <a:avLst/>
          </a:prstGeom>
          <a:noFill/>
          <a:ln/>
        </p:spPr>
        <p:txBody>
          <a:bodyPr wrap="square" lIns="0" tIns="0" rIns="0" bIns="0" rtlCol="0" anchor="t"/>
          <a:lstStyle/>
          <a:p>
            <a:pPr indent="0" marL="0">
              <a:buNone/>
            </a:pPr>
            <a:r>
              <a:rPr lang="en-US" sz="1350" dirty="0">
                <a:solidFill>
                  <a:srgbClr val="6C7A93"/>
                </a:solidFill>
              </a:rPr>
              <a:t>AI Soundbox already answers a merchant in 11 Indian languages. But the moment the answer requires an action — re-trigger a settlement, raise a refund, extend a loan — a human still has to do the work.</a:t>
            </a:r>
            <a:endParaRPr lang="en-US" sz="1350" dirty="0"/>
          </a:p>
        </p:txBody>
      </p:sp>
      <p:sp>
        <p:nvSpPr>
          <p:cNvPr id="5" name="An answer is not a resol"/>
          <p:cNvSpPr/>
          <p:nvPr/>
        </p:nvSpPr>
        <p:spPr>
          <a:xfrm>
            <a:off x="594360" y="2057400"/>
            <a:ext cx="5394960" cy="1600200"/>
          </a:xfrm>
          <a:prstGeom prst="roundRect">
            <a:avLst>
              <a:gd name="adj" fmla="val 4571"/>
            </a:avLst>
          </a:prstGeom>
          <a:solidFill>
            <a:srgbClr val="F1F5FB"/>
          </a:solidFill>
          <a:ln w="12700">
            <a:solidFill>
              <a:srgbClr val="F1F5FB"/>
            </a:solidFill>
            <a:prstDash val="solid"/>
          </a:ln>
        </p:spPr>
      </p:sp>
      <p:sp>
        <p:nvSpPr>
          <p:cNvPr id="6" name="Shape 4"/>
          <p:cNvSpPr/>
          <p:nvPr/>
        </p:nvSpPr>
        <p:spPr>
          <a:xfrm>
            <a:off x="822960" y="2258568"/>
            <a:ext cx="384048" cy="384048"/>
          </a:xfrm>
          <a:prstGeom prst="ellipse">
            <a:avLst/>
          </a:prstGeom>
          <a:solidFill>
            <a:srgbClr val="00BAF2"/>
          </a:solidFill>
          <a:ln w="12700">
            <a:solidFill>
              <a:srgbClr val="00BAF2"/>
            </a:solidFill>
            <a:prstDash val="solid"/>
          </a:ln>
        </p:spPr>
      </p:sp>
      <p:sp>
        <p:nvSpPr>
          <p:cNvPr id="7" name="Text 5"/>
          <p:cNvSpPr txBox="1"/>
          <p:nvPr/>
        </p:nvSpPr>
        <p:spPr>
          <a:xfrm>
            <a:off x="822960" y="2258568"/>
            <a:ext cx="384048" cy="384048"/>
          </a:xfrm>
          <a:prstGeom prst="rect">
            <a:avLst/>
          </a:prstGeom>
          <a:noFill/>
          <a:ln/>
        </p:spPr>
        <p:txBody>
          <a:bodyPr wrap="square" lIns="0" tIns="0" rIns="0" bIns="0" rtlCol="0" anchor="ctr"/>
          <a:lstStyle/>
          <a:p>
            <a:pPr algn="ctr" indent="0" marL="0">
              <a:buNone/>
            </a:pPr>
            <a:r>
              <a:rPr lang="en-US" sz="1300" b="1" dirty="0">
                <a:solidFill>
                  <a:srgbClr val="0A1B3D"/>
                </a:solidFill>
              </a:rPr>
              <a:t>01</a:t>
            </a:r>
            <a:endParaRPr lang="en-US" sz="1300" dirty="0"/>
          </a:p>
        </p:txBody>
      </p:sp>
      <p:sp>
        <p:nvSpPr>
          <p:cNvPr id="8" name="Text 6"/>
          <p:cNvSpPr txBox="1"/>
          <p:nvPr/>
        </p:nvSpPr>
        <p:spPr>
          <a:xfrm>
            <a:off x="1325880" y="2231136"/>
            <a:ext cx="4434840" cy="384048"/>
          </a:xfrm>
          <a:prstGeom prst="rect">
            <a:avLst/>
          </a:prstGeom>
          <a:noFill/>
          <a:ln/>
        </p:spPr>
        <p:txBody>
          <a:bodyPr wrap="square" lIns="0" tIns="0" rIns="0" bIns="0" rtlCol="0" anchor="ctr"/>
          <a:lstStyle/>
          <a:p>
            <a:pPr indent="0" marL="0">
              <a:buNone/>
            </a:pPr>
            <a:r>
              <a:rPr lang="en-US" sz="1500" b="1" dirty="0">
                <a:solidFill>
                  <a:srgbClr val="0A1B3D"/>
                </a:solidFill>
              </a:rPr>
              <a:t>An answer is not a resolution</a:t>
            </a:r>
            <a:endParaRPr lang="en-US" sz="1500" dirty="0"/>
          </a:p>
        </p:txBody>
      </p:sp>
      <p:sp>
        <p:nvSpPr>
          <p:cNvPr id="9" name="Text 7"/>
          <p:cNvSpPr txBox="1"/>
          <p:nvPr/>
        </p:nvSpPr>
        <p:spPr>
          <a:xfrm>
            <a:off x="850392" y="2679192"/>
            <a:ext cx="4882896" cy="813816"/>
          </a:xfrm>
          <a:prstGeom prst="rect">
            <a:avLst/>
          </a:prstGeom>
          <a:noFill/>
          <a:ln/>
        </p:spPr>
        <p:txBody>
          <a:bodyPr wrap="square" lIns="0" tIns="0" rIns="0" bIns="0" rtlCol="0" anchor="t"/>
          <a:lstStyle/>
          <a:p>
            <a:pPr indent="0" marL="0">
              <a:lnSpc>
                <a:spcPct val="108000"/>
              </a:lnSpc>
              <a:buNone/>
            </a:pPr>
            <a:r>
              <a:rPr lang="en-US" sz="1350" dirty="0">
                <a:solidFill>
                  <a:srgbClr val="435270"/>
                </a:solidFill>
              </a:rPr>
              <a:t>A merchant learns their settlement is stuck. Fixing it still means a call, a ticket, a queue — and a day of lost business.</a:t>
            </a:r>
            <a:endParaRPr lang="en-US" sz="1350" dirty="0"/>
          </a:p>
        </p:txBody>
      </p:sp>
      <p:sp>
        <p:nvSpPr>
          <p:cNvPr id="10" name="Humans are the bottlenec"/>
          <p:cNvSpPr/>
          <p:nvPr/>
        </p:nvSpPr>
        <p:spPr>
          <a:xfrm>
            <a:off x="6199632" y="2057400"/>
            <a:ext cx="5394960" cy="1600200"/>
          </a:xfrm>
          <a:prstGeom prst="roundRect">
            <a:avLst>
              <a:gd name="adj" fmla="val 4571"/>
            </a:avLst>
          </a:prstGeom>
          <a:solidFill>
            <a:srgbClr val="F1F5FB"/>
          </a:solidFill>
          <a:ln w="12700">
            <a:solidFill>
              <a:srgbClr val="F1F5FB"/>
            </a:solidFill>
            <a:prstDash val="solid"/>
          </a:ln>
        </p:spPr>
      </p:sp>
      <p:sp>
        <p:nvSpPr>
          <p:cNvPr id="11" name="Shape 9"/>
          <p:cNvSpPr/>
          <p:nvPr/>
        </p:nvSpPr>
        <p:spPr>
          <a:xfrm>
            <a:off x="6428232" y="2258568"/>
            <a:ext cx="384048" cy="384048"/>
          </a:xfrm>
          <a:prstGeom prst="ellipse">
            <a:avLst/>
          </a:prstGeom>
          <a:solidFill>
            <a:srgbClr val="00BAF2"/>
          </a:solidFill>
          <a:ln w="12700">
            <a:solidFill>
              <a:srgbClr val="00BAF2"/>
            </a:solidFill>
            <a:prstDash val="solid"/>
          </a:ln>
        </p:spPr>
      </p:sp>
      <p:sp>
        <p:nvSpPr>
          <p:cNvPr id="12" name="Text 10"/>
          <p:cNvSpPr txBox="1"/>
          <p:nvPr/>
        </p:nvSpPr>
        <p:spPr>
          <a:xfrm>
            <a:off x="6428232" y="2258568"/>
            <a:ext cx="384048" cy="384048"/>
          </a:xfrm>
          <a:prstGeom prst="rect">
            <a:avLst/>
          </a:prstGeom>
          <a:noFill/>
          <a:ln/>
        </p:spPr>
        <p:txBody>
          <a:bodyPr wrap="square" lIns="0" tIns="0" rIns="0" bIns="0" rtlCol="0" anchor="ctr"/>
          <a:lstStyle/>
          <a:p>
            <a:pPr algn="ctr" indent="0" marL="0">
              <a:buNone/>
            </a:pPr>
            <a:r>
              <a:rPr lang="en-US" sz="1300" b="1" dirty="0">
                <a:solidFill>
                  <a:srgbClr val="0A1B3D"/>
                </a:solidFill>
              </a:rPr>
              <a:t>02</a:t>
            </a:r>
            <a:endParaRPr lang="en-US" sz="1300" dirty="0"/>
          </a:p>
        </p:txBody>
      </p:sp>
      <p:sp>
        <p:nvSpPr>
          <p:cNvPr id="13" name="Text 11"/>
          <p:cNvSpPr txBox="1"/>
          <p:nvPr/>
        </p:nvSpPr>
        <p:spPr>
          <a:xfrm>
            <a:off x="6931152" y="2231136"/>
            <a:ext cx="4434840" cy="384048"/>
          </a:xfrm>
          <a:prstGeom prst="rect">
            <a:avLst/>
          </a:prstGeom>
          <a:noFill/>
          <a:ln/>
        </p:spPr>
        <p:txBody>
          <a:bodyPr wrap="square" lIns="0" tIns="0" rIns="0" bIns="0" rtlCol="0" anchor="ctr"/>
          <a:lstStyle/>
          <a:p>
            <a:pPr indent="0" marL="0">
              <a:buNone/>
            </a:pPr>
            <a:r>
              <a:rPr lang="en-US" sz="1500" b="1" dirty="0">
                <a:solidFill>
                  <a:srgbClr val="0A1B3D"/>
                </a:solidFill>
              </a:rPr>
              <a:t>Humans are the bottleneck on money</a:t>
            </a:r>
            <a:endParaRPr lang="en-US" sz="1500" dirty="0"/>
          </a:p>
        </p:txBody>
      </p:sp>
      <p:sp>
        <p:nvSpPr>
          <p:cNvPr id="14" name="Text 12"/>
          <p:cNvSpPr txBox="1"/>
          <p:nvPr/>
        </p:nvSpPr>
        <p:spPr>
          <a:xfrm>
            <a:off x="6455664" y="2679192"/>
            <a:ext cx="4882896" cy="813816"/>
          </a:xfrm>
          <a:prstGeom prst="rect">
            <a:avLst/>
          </a:prstGeom>
          <a:noFill/>
          <a:ln/>
        </p:spPr>
        <p:txBody>
          <a:bodyPr wrap="square" lIns="0" tIns="0" rIns="0" bIns="0" rtlCol="0" anchor="t"/>
          <a:lstStyle/>
          <a:p>
            <a:pPr indent="0" marL="0">
              <a:lnSpc>
                <a:spcPct val="108000"/>
              </a:lnSpc>
              <a:buNone/>
            </a:pPr>
            <a:r>
              <a:rPr lang="en-US" sz="1350" dirty="0">
                <a:solidFill>
                  <a:srgbClr val="435270"/>
                </a:solidFill>
              </a:rPr>
              <a:t>Every settlement fix, refund and dispute is verified by hand across CRM, ledger and ticketing. Volume scales; headcount can't.</a:t>
            </a:r>
            <a:endParaRPr lang="en-US" sz="1350" dirty="0"/>
          </a:p>
        </p:txBody>
      </p:sp>
      <p:sp>
        <p:nvSpPr>
          <p:cNvPr id="15" name="Revenue signals die in t"/>
          <p:cNvSpPr/>
          <p:nvPr/>
        </p:nvSpPr>
        <p:spPr>
          <a:xfrm>
            <a:off x="594360" y="3794760"/>
            <a:ext cx="5394960" cy="1600200"/>
          </a:xfrm>
          <a:prstGeom prst="roundRect">
            <a:avLst>
              <a:gd name="adj" fmla="val 4571"/>
            </a:avLst>
          </a:prstGeom>
          <a:solidFill>
            <a:srgbClr val="F1F5FB"/>
          </a:solidFill>
          <a:ln w="12700">
            <a:solidFill>
              <a:srgbClr val="F1F5FB"/>
            </a:solidFill>
            <a:prstDash val="solid"/>
          </a:ln>
        </p:spPr>
      </p:sp>
      <p:sp>
        <p:nvSpPr>
          <p:cNvPr id="16" name="Shape 14"/>
          <p:cNvSpPr/>
          <p:nvPr/>
        </p:nvSpPr>
        <p:spPr>
          <a:xfrm>
            <a:off x="822960" y="3995928"/>
            <a:ext cx="384048" cy="384048"/>
          </a:xfrm>
          <a:prstGeom prst="ellipse">
            <a:avLst/>
          </a:prstGeom>
          <a:solidFill>
            <a:srgbClr val="F5A623"/>
          </a:solidFill>
          <a:ln w="12700">
            <a:solidFill>
              <a:srgbClr val="F5A623"/>
            </a:solidFill>
            <a:prstDash val="solid"/>
          </a:ln>
        </p:spPr>
      </p:sp>
      <p:sp>
        <p:nvSpPr>
          <p:cNvPr id="17" name="Text 15"/>
          <p:cNvSpPr txBox="1"/>
          <p:nvPr/>
        </p:nvSpPr>
        <p:spPr>
          <a:xfrm>
            <a:off x="822960" y="3995928"/>
            <a:ext cx="384048" cy="384048"/>
          </a:xfrm>
          <a:prstGeom prst="rect">
            <a:avLst/>
          </a:prstGeom>
          <a:noFill/>
          <a:ln/>
        </p:spPr>
        <p:txBody>
          <a:bodyPr wrap="square" lIns="0" tIns="0" rIns="0" bIns="0" rtlCol="0" anchor="ctr"/>
          <a:lstStyle/>
          <a:p>
            <a:pPr algn="ctr" indent="0" marL="0">
              <a:buNone/>
            </a:pPr>
            <a:r>
              <a:rPr lang="en-US" sz="1300" b="1" dirty="0">
                <a:solidFill>
                  <a:srgbClr val="0A1B3D"/>
                </a:solidFill>
              </a:rPr>
              <a:t>03</a:t>
            </a:r>
            <a:endParaRPr lang="en-US" sz="1300" dirty="0"/>
          </a:p>
        </p:txBody>
      </p:sp>
      <p:sp>
        <p:nvSpPr>
          <p:cNvPr id="18" name="Text 16"/>
          <p:cNvSpPr txBox="1"/>
          <p:nvPr/>
        </p:nvSpPr>
        <p:spPr>
          <a:xfrm>
            <a:off x="1325880" y="3968496"/>
            <a:ext cx="4434840" cy="384048"/>
          </a:xfrm>
          <a:prstGeom prst="rect">
            <a:avLst/>
          </a:prstGeom>
          <a:noFill/>
          <a:ln/>
        </p:spPr>
        <p:txBody>
          <a:bodyPr wrap="square" lIns="0" tIns="0" rIns="0" bIns="0" rtlCol="0" anchor="ctr"/>
          <a:lstStyle/>
          <a:p>
            <a:pPr indent="0" marL="0">
              <a:buNone/>
            </a:pPr>
            <a:r>
              <a:rPr lang="en-US" sz="1500" b="1" dirty="0">
                <a:solidFill>
                  <a:srgbClr val="0A1B3D"/>
                </a:solidFill>
              </a:rPr>
              <a:t>Revenue signals die in the data</a:t>
            </a:r>
            <a:endParaRPr lang="en-US" sz="1500" dirty="0"/>
          </a:p>
        </p:txBody>
      </p:sp>
      <p:sp>
        <p:nvSpPr>
          <p:cNvPr id="19" name="Text 17"/>
          <p:cNvSpPr txBox="1"/>
          <p:nvPr/>
        </p:nvSpPr>
        <p:spPr>
          <a:xfrm>
            <a:off x="850392" y="4416552"/>
            <a:ext cx="4882896" cy="813816"/>
          </a:xfrm>
          <a:prstGeom prst="rect">
            <a:avLst/>
          </a:prstGeom>
          <a:noFill/>
          <a:ln/>
        </p:spPr>
        <p:txBody>
          <a:bodyPr wrap="square" lIns="0" tIns="0" rIns="0" bIns="0" rtlCol="0" anchor="t"/>
          <a:lstStyle/>
          <a:p>
            <a:pPr indent="0" marL="0">
              <a:lnSpc>
                <a:spcPct val="108000"/>
              </a:lnSpc>
              <a:buNone/>
            </a:pPr>
            <a:r>
              <a:rPr lang="en-US" sz="1350" dirty="0">
                <a:solidFill>
                  <a:srgbClr val="435270"/>
                </a:solidFill>
              </a:rPr>
              <a:t>Loan eligibility and upgrade triggers already exist. They surface as bulk campaigns, never inside the conversation where intent is live.</a:t>
            </a:r>
            <a:endParaRPr lang="en-US" sz="1350" dirty="0"/>
          </a:p>
        </p:txBody>
      </p:sp>
      <p:sp>
        <p:nvSpPr>
          <p:cNvPr id="20" name="No demo bot survives a r"/>
          <p:cNvSpPr/>
          <p:nvPr/>
        </p:nvSpPr>
        <p:spPr>
          <a:xfrm>
            <a:off x="6199632" y="3794760"/>
            <a:ext cx="5394960" cy="1600200"/>
          </a:xfrm>
          <a:prstGeom prst="roundRect">
            <a:avLst>
              <a:gd name="adj" fmla="val 4571"/>
            </a:avLst>
          </a:prstGeom>
          <a:solidFill>
            <a:srgbClr val="F1F5FB"/>
          </a:solidFill>
          <a:ln w="12700">
            <a:solidFill>
              <a:srgbClr val="F1F5FB"/>
            </a:solidFill>
            <a:prstDash val="solid"/>
          </a:ln>
        </p:spPr>
      </p:sp>
      <p:sp>
        <p:nvSpPr>
          <p:cNvPr id="21" name="Shape 19"/>
          <p:cNvSpPr/>
          <p:nvPr/>
        </p:nvSpPr>
        <p:spPr>
          <a:xfrm>
            <a:off x="6428232" y="3995928"/>
            <a:ext cx="384048" cy="384048"/>
          </a:xfrm>
          <a:prstGeom prst="ellipse">
            <a:avLst/>
          </a:prstGeom>
          <a:solidFill>
            <a:srgbClr val="E8505B"/>
          </a:solidFill>
          <a:ln w="12700">
            <a:solidFill>
              <a:srgbClr val="E8505B"/>
            </a:solidFill>
            <a:prstDash val="solid"/>
          </a:ln>
        </p:spPr>
      </p:sp>
      <p:sp>
        <p:nvSpPr>
          <p:cNvPr id="22" name="Text 20"/>
          <p:cNvSpPr txBox="1"/>
          <p:nvPr/>
        </p:nvSpPr>
        <p:spPr>
          <a:xfrm>
            <a:off x="6428232" y="3995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04</a:t>
            </a:r>
            <a:endParaRPr lang="en-US" sz="1300" dirty="0"/>
          </a:p>
        </p:txBody>
      </p:sp>
      <p:sp>
        <p:nvSpPr>
          <p:cNvPr id="23" name="Text 21"/>
          <p:cNvSpPr txBox="1"/>
          <p:nvPr/>
        </p:nvSpPr>
        <p:spPr>
          <a:xfrm>
            <a:off x="6931152" y="3968496"/>
            <a:ext cx="4434840" cy="384048"/>
          </a:xfrm>
          <a:prstGeom prst="rect">
            <a:avLst/>
          </a:prstGeom>
          <a:noFill/>
          <a:ln/>
        </p:spPr>
        <p:txBody>
          <a:bodyPr wrap="square" lIns="0" tIns="0" rIns="0" bIns="0" rtlCol="0" anchor="ctr"/>
          <a:lstStyle/>
          <a:p>
            <a:pPr indent="0" marL="0">
              <a:buNone/>
            </a:pPr>
            <a:r>
              <a:rPr lang="en-US" sz="1500" b="1" dirty="0">
                <a:solidFill>
                  <a:srgbClr val="0A1B3D"/>
                </a:solidFill>
              </a:rPr>
              <a:t>No demo bot survives a risk review</a:t>
            </a:r>
            <a:endParaRPr lang="en-US" sz="1500" dirty="0"/>
          </a:p>
        </p:txBody>
      </p:sp>
      <p:sp>
        <p:nvSpPr>
          <p:cNvPr id="24" name="Text 22"/>
          <p:cNvSpPr txBox="1"/>
          <p:nvPr/>
        </p:nvSpPr>
        <p:spPr>
          <a:xfrm>
            <a:off x="6455664" y="4416552"/>
            <a:ext cx="4882896" cy="813816"/>
          </a:xfrm>
          <a:prstGeom prst="rect">
            <a:avLst/>
          </a:prstGeom>
          <a:noFill/>
          <a:ln/>
        </p:spPr>
        <p:txBody>
          <a:bodyPr wrap="square" lIns="0" tIns="0" rIns="0" bIns="0" rtlCol="0" anchor="t"/>
          <a:lstStyle/>
          <a:p>
            <a:pPr indent="0" marL="0">
              <a:lnSpc>
                <a:spcPct val="108000"/>
              </a:lnSpc>
              <a:buNone/>
            </a:pPr>
            <a:r>
              <a:rPr lang="en-US" sz="1350" dirty="0">
                <a:solidFill>
                  <a:srgbClr val="435270"/>
                </a:solidFill>
              </a:rPr>
              <a:t>A generic agent that can touch money is a liability: no limits, no audit trail, no rollback, no RBI-aligned accountability.</a:t>
            </a:r>
            <a:endParaRPr lang="en-US" sz="1350" dirty="0"/>
          </a:p>
        </p:txBody>
      </p:sp>
      <p:sp>
        <p:nvSpPr>
          <p:cNvPr id="25" name="Text 23"/>
          <p:cNvSpPr txBox="1"/>
          <p:nvPr/>
        </p:nvSpPr>
        <p:spPr>
          <a:xfrm>
            <a:off x="594360" y="5596128"/>
            <a:ext cx="11000232" cy="365760"/>
          </a:xfrm>
          <a:prstGeom prst="rect">
            <a:avLst/>
          </a:prstGeom>
          <a:noFill/>
          <a:ln/>
        </p:spPr>
        <p:txBody>
          <a:bodyPr wrap="square" lIns="0" tIns="0" rIns="0" bIns="0" rtlCol="0" anchor="ctr"/>
          <a:lstStyle/>
          <a:p>
            <a:pPr indent="0" marL="0">
              <a:buNone/>
            </a:pPr>
            <a:r>
              <a:rPr lang="en-US" sz="1500" b="1" i="1" dirty="0">
                <a:solidFill>
                  <a:srgbClr val="0A1B3D"/>
                </a:solidFill>
              </a:rPr>
              <a:t>The gap is not understanding. The gap is verified execution.</a:t>
            </a:r>
            <a:endParaRPr lang="en-US" sz="1500" dirty="0"/>
          </a:p>
        </p:txBody>
      </p:sp>
      <p:sp>
        <p:nvSpPr>
          <p:cNvPr id="27" name="Text 2"/>
          <p:cNvSpPr/>
          <p:nvPr>
            <p:ph idx="105" hasCustomPrompt="1"/>
          </p:nvPr>
        </p:nvSpPr>
        <p:spPr>
          <a:xfrm>
            <a:off x="11338560" y="6355080"/>
            <a:ext cx="457200" cy="292608"/>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94360" y="384048"/>
            <a:ext cx="10515600" cy="274320"/>
          </a:xfrm>
          <a:prstGeom prst="rect">
            <a:avLst/>
          </a:prstGeom>
          <a:noFill/>
          <a:ln/>
        </p:spPr>
        <p:txBody>
          <a:bodyPr wrap="square" lIns="0" tIns="0" rIns="0" bIns="0" rtlCol="0" anchor="ctr"/>
          <a:lstStyle/>
          <a:p>
            <a:pPr indent="0" marL="0">
              <a:buNone/>
            </a:pPr>
            <a:r>
              <a:rPr lang="en-US" sz="1100" b="1" spc="220" kern="0" dirty="0">
                <a:solidFill>
                  <a:srgbClr val="00BAF2"/>
                </a:solidFill>
              </a:rPr>
              <a:t>PROPOSED SOLUTION</a:t>
            </a:r>
            <a:endParaRPr lang="en-US" sz="1100" dirty="0"/>
          </a:p>
        </p:txBody>
      </p:sp>
      <p:sp>
        <p:nvSpPr>
          <p:cNvPr id="3" name="Text 1"/>
          <p:cNvSpPr/>
          <p:nvPr>
            <p:ph idx="102" type="title" hasCustomPrompt="1"/>
          </p:nvPr>
        </p:nvSpPr>
        <p:spPr>
          <a:xfrm>
            <a:off x="594360" y="676656"/>
            <a:ext cx="10972800" cy="621792"/>
          </a:xfrm>
          <a:prstGeom prst="rect">
            <a:avLst/>
          </a:prstGeom>
          <a:noFill/>
          <a:ln/>
        </p:spPr>
        <p:txBody>
          <a:bodyPr wrap="square" lIns="0" tIns="0" rIns="0" bIns="0" rtlCol="0" anchor="ctr"/>
          <a:lstStyle/>
          <a:p>
            <a:pPr algn="l" indent="0" marL="0">
              <a:buNone/>
            </a:pPr>
            <a:r>
              <a:rPr lang="en-US" sz="3200" b="1" dirty="0">
                <a:solidFill>
                  <a:srgbClr val="0A1B3D"/>
                </a:solidFill>
              </a:rPr>
              <a:t>Chaukas closes the loop</a:t>
            </a:r>
            <a:endParaRPr lang="en-US" sz="3200" dirty="0"/>
          </a:p>
        </p:txBody>
      </p:sp>
      <p:sp>
        <p:nvSpPr>
          <p:cNvPr id="4" name="Text 1"/>
          <p:cNvSpPr/>
          <p:nvPr>
            <p:ph idx="103" type="body" hasCustomPrompt="1"/>
          </p:nvPr>
        </p:nvSpPr>
        <p:spPr>
          <a:xfrm>
            <a:off x="594360" y="1316736"/>
            <a:ext cx="10607040" cy="566928"/>
          </a:xfrm>
          <a:prstGeom prst="rect">
            <a:avLst/>
          </a:prstGeom>
          <a:noFill/>
          <a:ln/>
        </p:spPr>
        <p:txBody>
          <a:bodyPr wrap="square" lIns="0" tIns="0" rIns="0" bIns="0" rtlCol="0" anchor="t"/>
          <a:lstStyle/>
          <a:p>
            <a:pPr indent="0" marL="0">
              <a:buNone/>
            </a:pPr>
            <a:r>
              <a:rPr lang="en-US" sz="1350" dirty="0">
                <a:solidFill>
                  <a:srgbClr val="6C7A93"/>
                </a:solidFill>
              </a:rPr>
              <a:t>Five stages, one conversation. Chaukas understands the merchant, decides what the fix actually is, executes it through real APIs, verifies it against policy, and escalates with full context only when it should.</a:t>
            </a:r>
            <a:endParaRPr lang="en-US" sz="1350" dirty="0"/>
          </a:p>
        </p:txBody>
      </p:sp>
      <p:sp>
        <p:nvSpPr>
          <p:cNvPr id="5" name="step01"/>
          <p:cNvSpPr/>
          <p:nvPr/>
        </p:nvSpPr>
        <p:spPr>
          <a:xfrm>
            <a:off x="594360" y="2148840"/>
            <a:ext cx="2066544" cy="1965960"/>
          </a:xfrm>
          <a:prstGeom prst="roundRect">
            <a:avLst>
              <a:gd name="adj" fmla="val 3721"/>
            </a:avLst>
          </a:prstGeom>
          <a:solidFill>
            <a:srgbClr val="F1F5FB"/>
          </a:solidFill>
          <a:ln w="12700">
            <a:solidFill>
              <a:srgbClr val="F1F5FB"/>
            </a:solidFill>
            <a:prstDash val="solid"/>
          </a:ln>
        </p:spPr>
      </p:sp>
      <p:sp>
        <p:nvSpPr>
          <p:cNvPr id="6" name="Shape 4"/>
          <p:cNvSpPr/>
          <p:nvPr/>
        </p:nvSpPr>
        <p:spPr>
          <a:xfrm>
            <a:off x="850392" y="2359152"/>
            <a:ext cx="402336" cy="402336"/>
          </a:xfrm>
          <a:prstGeom prst="ellipse">
            <a:avLst/>
          </a:prstGeom>
          <a:solidFill>
            <a:srgbClr val="00BAF2"/>
          </a:solidFill>
          <a:ln w="12700">
            <a:solidFill>
              <a:srgbClr val="00BAF2"/>
            </a:solidFill>
            <a:prstDash val="solid"/>
          </a:ln>
        </p:spPr>
      </p:sp>
      <p:sp>
        <p:nvSpPr>
          <p:cNvPr id="7" name="Text 5"/>
          <p:cNvSpPr txBox="1"/>
          <p:nvPr/>
        </p:nvSpPr>
        <p:spPr>
          <a:xfrm>
            <a:off x="850392" y="2359152"/>
            <a:ext cx="402336" cy="402336"/>
          </a:xfrm>
          <a:prstGeom prst="rect">
            <a:avLst/>
          </a:prstGeom>
          <a:noFill/>
          <a:ln/>
        </p:spPr>
        <p:txBody>
          <a:bodyPr wrap="square" lIns="0" tIns="0" rIns="0" bIns="0" rtlCol="0" anchor="ctr"/>
          <a:lstStyle/>
          <a:p>
            <a:pPr algn="ctr" indent="0" marL="0">
              <a:buNone/>
            </a:pPr>
            <a:r>
              <a:rPr lang="en-US" sz="1250" b="1" dirty="0">
                <a:solidFill>
                  <a:srgbClr val="0A1B3D"/>
                </a:solidFill>
              </a:rPr>
              <a:t>01</a:t>
            </a:r>
            <a:endParaRPr lang="en-US" sz="1250" dirty="0"/>
          </a:p>
        </p:txBody>
      </p:sp>
      <p:sp>
        <p:nvSpPr>
          <p:cNvPr id="8" name="Text 6"/>
          <p:cNvSpPr txBox="1"/>
          <p:nvPr/>
        </p:nvSpPr>
        <p:spPr>
          <a:xfrm>
            <a:off x="850392" y="2852928"/>
            <a:ext cx="1554480" cy="329184"/>
          </a:xfrm>
          <a:prstGeom prst="rect">
            <a:avLst/>
          </a:prstGeom>
          <a:noFill/>
          <a:ln/>
        </p:spPr>
        <p:txBody>
          <a:bodyPr wrap="square" lIns="0" tIns="0" rIns="0" bIns="0" rtlCol="0" anchor="ctr"/>
          <a:lstStyle/>
          <a:p>
            <a:pPr indent="0" marL="0">
              <a:buNone/>
            </a:pPr>
            <a:r>
              <a:rPr lang="en-US" sz="1600" b="1" dirty="0">
                <a:solidFill>
                  <a:srgbClr val="0A1B3D"/>
                </a:solidFill>
              </a:rPr>
              <a:t>Understand</a:t>
            </a:r>
            <a:endParaRPr lang="en-US" sz="1600" dirty="0"/>
          </a:p>
        </p:txBody>
      </p:sp>
      <p:sp>
        <p:nvSpPr>
          <p:cNvPr id="9" name="Text 7"/>
          <p:cNvSpPr txBox="1"/>
          <p:nvPr/>
        </p:nvSpPr>
        <p:spPr>
          <a:xfrm>
            <a:off x="850392" y="3200400"/>
            <a:ext cx="1554480" cy="777240"/>
          </a:xfrm>
          <a:prstGeom prst="rect">
            <a:avLst/>
          </a:prstGeom>
          <a:noFill/>
          <a:ln/>
        </p:spPr>
        <p:txBody>
          <a:bodyPr wrap="square" lIns="0" tIns="0" rIns="0" bIns="0" rtlCol="0" anchor="ctr"/>
          <a:lstStyle/>
          <a:p>
            <a:pPr indent="0" marL="0">
              <a:lnSpc>
                <a:spcPct val="105000"/>
              </a:lnSpc>
              <a:buNone/>
            </a:pPr>
            <a:r>
              <a:rPr lang="en-US" sz="1250" dirty="0">
                <a:solidFill>
                  <a:srgbClr val="435270"/>
                </a:solidFill>
              </a:rPr>
              <a:t>Full context and language, not just the last utterance.</a:t>
            </a:r>
            <a:endParaRPr lang="en-US" sz="1250" dirty="0"/>
          </a:p>
        </p:txBody>
      </p:sp>
      <p:sp>
        <p:nvSpPr>
          <p:cNvPr id="10" name="step02"/>
          <p:cNvSpPr/>
          <p:nvPr/>
        </p:nvSpPr>
        <p:spPr>
          <a:xfrm>
            <a:off x="2825496" y="2148840"/>
            <a:ext cx="2066544" cy="1965960"/>
          </a:xfrm>
          <a:prstGeom prst="roundRect">
            <a:avLst>
              <a:gd name="adj" fmla="val 3721"/>
            </a:avLst>
          </a:prstGeom>
          <a:solidFill>
            <a:srgbClr val="F1F5FB"/>
          </a:solidFill>
          <a:ln w="12700">
            <a:solidFill>
              <a:srgbClr val="F1F5FB"/>
            </a:solidFill>
            <a:prstDash val="solid"/>
          </a:ln>
        </p:spPr>
      </p:sp>
      <p:sp>
        <p:nvSpPr>
          <p:cNvPr id="11" name="Shape 9"/>
          <p:cNvSpPr/>
          <p:nvPr/>
        </p:nvSpPr>
        <p:spPr>
          <a:xfrm>
            <a:off x="3081528" y="2359152"/>
            <a:ext cx="402336" cy="402336"/>
          </a:xfrm>
          <a:prstGeom prst="ellipse">
            <a:avLst/>
          </a:prstGeom>
          <a:solidFill>
            <a:srgbClr val="00BAF2"/>
          </a:solidFill>
          <a:ln w="12700">
            <a:solidFill>
              <a:srgbClr val="00BAF2"/>
            </a:solidFill>
            <a:prstDash val="solid"/>
          </a:ln>
        </p:spPr>
      </p:sp>
      <p:sp>
        <p:nvSpPr>
          <p:cNvPr id="12" name="Text 10"/>
          <p:cNvSpPr txBox="1"/>
          <p:nvPr/>
        </p:nvSpPr>
        <p:spPr>
          <a:xfrm>
            <a:off x="3081528" y="2359152"/>
            <a:ext cx="402336" cy="402336"/>
          </a:xfrm>
          <a:prstGeom prst="rect">
            <a:avLst/>
          </a:prstGeom>
          <a:noFill/>
          <a:ln/>
        </p:spPr>
        <p:txBody>
          <a:bodyPr wrap="square" lIns="0" tIns="0" rIns="0" bIns="0" rtlCol="0" anchor="ctr"/>
          <a:lstStyle/>
          <a:p>
            <a:pPr algn="ctr" indent="0" marL="0">
              <a:buNone/>
            </a:pPr>
            <a:r>
              <a:rPr lang="en-US" sz="1250" b="1" dirty="0">
                <a:solidFill>
                  <a:srgbClr val="0A1B3D"/>
                </a:solidFill>
              </a:rPr>
              <a:t>02</a:t>
            </a:r>
            <a:endParaRPr lang="en-US" sz="1250" dirty="0"/>
          </a:p>
        </p:txBody>
      </p:sp>
      <p:sp>
        <p:nvSpPr>
          <p:cNvPr id="13" name="Text 11"/>
          <p:cNvSpPr txBox="1"/>
          <p:nvPr/>
        </p:nvSpPr>
        <p:spPr>
          <a:xfrm>
            <a:off x="3081528" y="2852928"/>
            <a:ext cx="1554480" cy="329184"/>
          </a:xfrm>
          <a:prstGeom prst="rect">
            <a:avLst/>
          </a:prstGeom>
          <a:noFill/>
          <a:ln/>
        </p:spPr>
        <p:txBody>
          <a:bodyPr wrap="square" lIns="0" tIns="0" rIns="0" bIns="0" rtlCol="0" anchor="ctr"/>
          <a:lstStyle/>
          <a:p>
            <a:pPr indent="0" marL="0">
              <a:buNone/>
            </a:pPr>
            <a:r>
              <a:rPr lang="en-US" sz="1600" b="1" dirty="0">
                <a:solidFill>
                  <a:srgbClr val="0A1B3D"/>
                </a:solidFill>
              </a:rPr>
              <a:t>Decide</a:t>
            </a:r>
            <a:endParaRPr lang="en-US" sz="1600" dirty="0"/>
          </a:p>
        </p:txBody>
      </p:sp>
      <p:sp>
        <p:nvSpPr>
          <p:cNvPr id="14" name="Text 12"/>
          <p:cNvSpPr txBox="1"/>
          <p:nvPr/>
        </p:nvSpPr>
        <p:spPr>
          <a:xfrm>
            <a:off x="3081528" y="3200400"/>
            <a:ext cx="1554480" cy="777240"/>
          </a:xfrm>
          <a:prstGeom prst="rect">
            <a:avLst/>
          </a:prstGeom>
          <a:noFill/>
          <a:ln/>
        </p:spPr>
        <p:txBody>
          <a:bodyPr wrap="square" lIns="0" tIns="0" rIns="0" bIns="0" rtlCol="0" anchor="ctr"/>
          <a:lstStyle/>
          <a:p>
            <a:pPr indent="0" marL="0">
              <a:lnSpc>
                <a:spcPct val="105000"/>
              </a:lnSpc>
              <a:buNone/>
            </a:pPr>
            <a:r>
              <a:rPr lang="en-US" sz="1250" dirty="0">
                <a:solidFill>
                  <a:srgbClr val="435270"/>
                </a:solidFill>
              </a:rPr>
              <a:t>Plans a sequence of concrete actions, not a canned reply.</a:t>
            </a:r>
            <a:endParaRPr lang="en-US" sz="1250" dirty="0"/>
          </a:p>
        </p:txBody>
      </p:sp>
      <p:sp>
        <p:nvSpPr>
          <p:cNvPr id="15" name="step03"/>
          <p:cNvSpPr/>
          <p:nvPr/>
        </p:nvSpPr>
        <p:spPr>
          <a:xfrm>
            <a:off x="5056632" y="2148840"/>
            <a:ext cx="2066544" cy="1965960"/>
          </a:xfrm>
          <a:prstGeom prst="roundRect">
            <a:avLst>
              <a:gd name="adj" fmla="val 3721"/>
            </a:avLst>
          </a:prstGeom>
          <a:solidFill>
            <a:srgbClr val="F1F5FB"/>
          </a:solidFill>
          <a:ln w="12700">
            <a:solidFill>
              <a:srgbClr val="F1F5FB"/>
            </a:solidFill>
            <a:prstDash val="solid"/>
          </a:ln>
        </p:spPr>
      </p:sp>
      <p:sp>
        <p:nvSpPr>
          <p:cNvPr id="16" name="Shape 14"/>
          <p:cNvSpPr/>
          <p:nvPr/>
        </p:nvSpPr>
        <p:spPr>
          <a:xfrm>
            <a:off x="5312664" y="2359152"/>
            <a:ext cx="402336" cy="402336"/>
          </a:xfrm>
          <a:prstGeom prst="ellipse">
            <a:avLst/>
          </a:prstGeom>
          <a:solidFill>
            <a:srgbClr val="F5A623"/>
          </a:solidFill>
          <a:ln w="12700">
            <a:solidFill>
              <a:srgbClr val="F5A623"/>
            </a:solidFill>
            <a:prstDash val="solid"/>
          </a:ln>
        </p:spPr>
      </p:sp>
      <p:sp>
        <p:nvSpPr>
          <p:cNvPr id="17" name="Text 15"/>
          <p:cNvSpPr txBox="1"/>
          <p:nvPr/>
        </p:nvSpPr>
        <p:spPr>
          <a:xfrm>
            <a:off x="5312664" y="2359152"/>
            <a:ext cx="402336" cy="402336"/>
          </a:xfrm>
          <a:prstGeom prst="rect">
            <a:avLst/>
          </a:prstGeom>
          <a:noFill/>
          <a:ln/>
        </p:spPr>
        <p:txBody>
          <a:bodyPr wrap="square" lIns="0" tIns="0" rIns="0" bIns="0" rtlCol="0" anchor="ctr"/>
          <a:lstStyle/>
          <a:p>
            <a:pPr algn="ctr" indent="0" marL="0">
              <a:buNone/>
            </a:pPr>
            <a:r>
              <a:rPr lang="en-US" sz="1250" b="1" dirty="0">
                <a:solidFill>
                  <a:srgbClr val="0A1B3D"/>
                </a:solidFill>
              </a:rPr>
              <a:t>03</a:t>
            </a:r>
            <a:endParaRPr lang="en-US" sz="1250" dirty="0"/>
          </a:p>
        </p:txBody>
      </p:sp>
      <p:sp>
        <p:nvSpPr>
          <p:cNvPr id="18" name="Text 16"/>
          <p:cNvSpPr txBox="1"/>
          <p:nvPr/>
        </p:nvSpPr>
        <p:spPr>
          <a:xfrm>
            <a:off x="5312664" y="2852928"/>
            <a:ext cx="1554480" cy="329184"/>
          </a:xfrm>
          <a:prstGeom prst="rect">
            <a:avLst/>
          </a:prstGeom>
          <a:noFill/>
          <a:ln/>
        </p:spPr>
        <p:txBody>
          <a:bodyPr wrap="square" lIns="0" tIns="0" rIns="0" bIns="0" rtlCol="0" anchor="ctr"/>
          <a:lstStyle/>
          <a:p>
            <a:pPr indent="0" marL="0">
              <a:buNone/>
            </a:pPr>
            <a:r>
              <a:rPr lang="en-US" sz="1600" b="1" dirty="0">
                <a:solidFill>
                  <a:srgbClr val="0A1B3D"/>
                </a:solidFill>
              </a:rPr>
              <a:t>Act</a:t>
            </a:r>
            <a:endParaRPr lang="en-US" sz="1600" dirty="0"/>
          </a:p>
        </p:txBody>
      </p:sp>
      <p:sp>
        <p:nvSpPr>
          <p:cNvPr id="19" name="Text 17"/>
          <p:cNvSpPr txBox="1"/>
          <p:nvPr/>
        </p:nvSpPr>
        <p:spPr>
          <a:xfrm>
            <a:off x="5312664" y="3200400"/>
            <a:ext cx="1554480" cy="777240"/>
          </a:xfrm>
          <a:prstGeom prst="rect">
            <a:avLst/>
          </a:prstGeom>
          <a:noFill/>
          <a:ln/>
        </p:spPr>
        <p:txBody>
          <a:bodyPr wrap="square" lIns="0" tIns="0" rIns="0" bIns="0" rtlCol="0" anchor="ctr"/>
          <a:lstStyle/>
          <a:p>
            <a:pPr indent="0" marL="0">
              <a:lnSpc>
                <a:spcPct val="105000"/>
              </a:lnSpc>
              <a:buNone/>
            </a:pPr>
            <a:r>
              <a:rPr lang="en-US" sz="1250" dirty="0">
                <a:solidFill>
                  <a:srgbClr val="435270"/>
                </a:solidFill>
              </a:rPr>
              <a:t>Calls real APIs: settlement, refund, ticket, loan offer.</a:t>
            </a:r>
            <a:endParaRPr lang="en-US" sz="1250" dirty="0"/>
          </a:p>
        </p:txBody>
      </p:sp>
      <p:sp>
        <p:nvSpPr>
          <p:cNvPr id="20" name="step04"/>
          <p:cNvSpPr/>
          <p:nvPr/>
        </p:nvSpPr>
        <p:spPr>
          <a:xfrm>
            <a:off x="7287768" y="2148840"/>
            <a:ext cx="2066544" cy="1965960"/>
          </a:xfrm>
          <a:prstGeom prst="roundRect">
            <a:avLst>
              <a:gd name="adj" fmla="val 3721"/>
            </a:avLst>
          </a:prstGeom>
          <a:solidFill>
            <a:srgbClr val="F1F5FB"/>
          </a:solidFill>
          <a:ln w="12700">
            <a:solidFill>
              <a:srgbClr val="F1F5FB"/>
            </a:solidFill>
            <a:prstDash val="solid"/>
          </a:ln>
        </p:spPr>
      </p:sp>
      <p:sp>
        <p:nvSpPr>
          <p:cNvPr id="21" name="Shape 19"/>
          <p:cNvSpPr/>
          <p:nvPr/>
        </p:nvSpPr>
        <p:spPr>
          <a:xfrm>
            <a:off x="7543800" y="2359152"/>
            <a:ext cx="402336" cy="402336"/>
          </a:xfrm>
          <a:prstGeom prst="ellipse">
            <a:avLst/>
          </a:prstGeom>
          <a:solidFill>
            <a:srgbClr val="2BB673"/>
          </a:solidFill>
          <a:ln w="12700">
            <a:solidFill>
              <a:srgbClr val="2BB673"/>
            </a:solidFill>
            <a:prstDash val="solid"/>
          </a:ln>
        </p:spPr>
      </p:sp>
      <p:sp>
        <p:nvSpPr>
          <p:cNvPr id="22" name="Text 20"/>
          <p:cNvSpPr txBox="1"/>
          <p:nvPr/>
        </p:nvSpPr>
        <p:spPr>
          <a:xfrm>
            <a:off x="7543800" y="2359152"/>
            <a:ext cx="402336" cy="402336"/>
          </a:xfrm>
          <a:prstGeom prst="rect">
            <a:avLst/>
          </a:prstGeom>
          <a:noFill/>
          <a:ln/>
        </p:spPr>
        <p:txBody>
          <a:bodyPr wrap="square" lIns="0" tIns="0" rIns="0" bIns="0" rtlCol="0" anchor="ctr"/>
          <a:lstStyle/>
          <a:p>
            <a:pPr algn="ctr" indent="0" marL="0">
              <a:buNone/>
            </a:pPr>
            <a:r>
              <a:rPr lang="en-US" sz="1250" b="1" dirty="0">
                <a:solidFill>
                  <a:srgbClr val="0A1B3D"/>
                </a:solidFill>
              </a:rPr>
              <a:t>04</a:t>
            </a:r>
            <a:endParaRPr lang="en-US" sz="1250" dirty="0"/>
          </a:p>
        </p:txBody>
      </p:sp>
      <p:sp>
        <p:nvSpPr>
          <p:cNvPr id="23" name="Text 21"/>
          <p:cNvSpPr txBox="1"/>
          <p:nvPr/>
        </p:nvSpPr>
        <p:spPr>
          <a:xfrm>
            <a:off x="7543800" y="2852928"/>
            <a:ext cx="1554480" cy="329184"/>
          </a:xfrm>
          <a:prstGeom prst="rect">
            <a:avLst/>
          </a:prstGeom>
          <a:noFill/>
          <a:ln/>
        </p:spPr>
        <p:txBody>
          <a:bodyPr wrap="square" lIns="0" tIns="0" rIns="0" bIns="0" rtlCol="0" anchor="ctr"/>
          <a:lstStyle/>
          <a:p>
            <a:pPr indent="0" marL="0">
              <a:buNone/>
            </a:pPr>
            <a:r>
              <a:rPr lang="en-US" sz="1600" b="1" dirty="0">
                <a:solidFill>
                  <a:srgbClr val="0A1B3D"/>
                </a:solidFill>
              </a:rPr>
              <a:t>Verify</a:t>
            </a:r>
            <a:endParaRPr lang="en-US" sz="1600" dirty="0"/>
          </a:p>
        </p:txBody>
      </p:sp>
      <p:sp>
        <p:nvSpPr>
          <p:cNvPr id="24" name="Text 22"/>
          <p:cNvSpPr txBox="1"/>
          <p:nvPr/>
        </p:nvSpPr>
        <p:spPr>
          <a:xfrm>
            <a:off x="7543800" y="3200400"/>
            <a:ext cx="1554480" cy="777240"/>
          </a:xfrm>
          <a:prstGeom prst="rect">
            <a:avLst/>
          </a:prstGeom>
          <a:noFill/>
          <a:ln/>
        </p:spPr>
        <p:txBody>
          <a:bodyPr wrap="square" lIns="0" tIns="0" rIns="0" bIns="0" rtlCol="0" anchor="ctr"/>
          <a:lstStyle/>
          <a:p>
            <a:pPr indent="0" marL="0">
              <a:lnSpc>
                <a:spcPct val="105000"/>
              </a:lnSpc>
              <a:buNone/>
            </a:pPr>
            <a:r>
              <a:rPr lang="en-US" sz="1250" dirty="0">
                <a:solidFill>
                  <a:srgbClr val="435270"/>
                </a:solidFill>
              </a:rPr>
              <a:t>Guardrail checks limits, consent and reversibility first.</a:t>
            </a:r>
            <a:endParaRPr lang="en-US" sz="1250" dirty="0"/>
          </a:p>
        </p:txBody>
      </p:sp>
      <p:sp>
        <p:nvSpPr>
          <p:cNvPr id="25" name="step05"/>
          <p:cNvSpPr/>
          <p:nvPr/>
        </p:nvSpPr>
        <p:spPr>
          <a:xfrm>
            <a:off x="9518904" y="2148840"/>
            <a:ext cx="2066544" cy="1965960"/>
          </a:xfrm>
          <a:prstGeom prst="roundRect">
            <a:avLst>
              <a:gd name="adj" fmla="val 3721"/>
            </a:avLst>
          </a:prstGeom>
          <a:solidFill>
            <a:srgbClr val="F1F5FB"/>
          </a:solidFill>
          <a:ln w="12700">
            <a:solidFill>
              <a:srgbClr val="F1F5FB"/>
            </a:solidFill>
            <a:prstDash val="solid"/>
          </a:ln>
        </p:spPr>
      </p:sp>
      <p:sp>
        <p:nvSpPr>
          <p:cNvPr id="26" name="Shape 24"/>
          <p:cNvSpPr/>
          <p:nvPr/>
        </p:nvSpPr>
        <p:spPr>
          <a:xfrm>
            <a:off x="9774936" y="2359152"/>
            <a:ext cx="402336" cy="402336"/>
          </a:xfrm>
          <a:prstGeom prst="ellipse">
            <a:avLst/>
          </a:prstGeom>
          <a:solidFill>
            <a:srgbClr val="6C7A93"/>
          </a:solidFill>
          <a:ln w="12700">
            <a:solidFill>
              <a:srgbClr val="6C7A93"/>
            </a:solidFill>
            <a:prstDash val="solid"/>
          </a:ln>
        </p:spPr>
      </p:sp>
      <p:sp>
        <p:nvSpPr>
          <p:cNvPr id="27" name="Text 25"/>
          <p:cNvSpPr txBox="1"/>
          <p:nvPr/>
        </p:nvSpPr>
        <p:spPr>
          <a:xfrm>
            <a:off x="9774936" y="2359152"/>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rPr>
              <a:t>05</a:t>
            </a:r>
            <a:endParaRPr lang="en-US" sz="1250" dirty="0"/>
          </a:p>
        </p:txBody>
      </p:sp>
      <p:sp>
        <p:nvSpPr>
          <p:cNvPr id="28" name="Text 26"/>
          <p:cNvSpPr txBox="1"/>
          <p:nvPr/>
        </p:nvSpPr>
        <p:spPr>
          <a:xfrm>
            <a:off x="9774936" y="2852928"/>
            <a:ext cx="1554480" cy="329184"/>
          </a:xfrm>
          <a:prstGeom prst="rect">
            <a:avLst/>
          </a:prstGeom>
          <a:noFill/>
          <a:ln/>
        </p:spPr>
        <p:txBody>
          <a:bodyPr wrap="square" lIns="0" tIns="0" rIns="0" bIns="0" rtlCol="0" anchor="ctr"/>
          <a:lstStyle/>
          <a:p>
            <a:pPr indent="0" marL="0">
              <a:buNone/>
            </a:pPr>
            <a:r>
              <a:rPr lang="en-US" sz="1600" b="1" dirty="0">
                <a:solidFill>
                  <a:srgbClr val="0A1B3D"/>
                </a:solidFill>
              </a:rPr>
              <a:t>Escalate</a:t>
            </a:r>
            <a:endParaRPr lang="en-US" sz="1600" dirty="0"/>
          </a:p>
        </p:txBody>
      </p:sp>
      <p:sp>
        <p:nvSpPr>
          <p:cNvPr id="29" name="Text 27"/>
          <p:cNvSpPr txBox="1"/>
          <p:nvPr/>
        </p:nvSpPr>
        <p:spPr>
          <a:xfrm>
            <a:off x="9774936" y="3200400"/>
            <a:ext cx="1554480" cy="777240"/>
          </a:xfrm>
          <a:prstGeom prst="rect">
            <a:avLst/>
          </a:prstGeom>
          <a:noFill/>
          <a:ln/>
        </p:spPr>
        <p:txBody>
          <a:bodyPr wrap="square" lIns="0" tIns="0" rIns="0" bIns="0" rtlCol="0" anchor="ctr"/>
          <a:lstStyle/>
          <a:p>
            <a:pPr indent="0" marL="0">
              <a:lnSpc>
                <a:spcPct val="105000"/>
              </a:lnSpc>
              <a:buNone/>
            </a:pPr>
            <a:r>
              <a:rPr lang="en-US" sz="1250" dirty="0">
                <a:solidFill>
                  <a:srgbClr val="435270"/>
                </a:solidFill>
              </a:rPr>
              <a:t>Hands a human teammate a brief, not a transcript.</a:t>
            </a:r>
            <a:endParaRPr lang="en-US" sz="1250" dirty="0"/>
          </a:p>
        </p:txBody>
      </p:sp>
      <p:sp>
        <p:nvSpPr>
          <p:cNvPr id="30" name="example"/>
          <p:cNvSpPr/>
          <p:nvPr/>
        </p:nvSpPr>
        <p:spPr>
          <a:xfrm>
            <a:off x="594360" y="4370832"/>
            <a:ext cx="11000232" cy="1371600"/>
          </a:xfrm>
          <a:prstGeom prst="roundRect">
            <a:avLst>
              <a:gd name="adj" fmla="val 4000"/>
            </a:avLst>
          </a:prstGeom>
          <a:solidFill>
            <a:srgbClr val="0A1B3D"/>
          </a:solidFill>
          <a:ln w="12700">
            <a:solidFill>
              <a:srgbClr val="0A1B3D"/>
            </a:solidFill>
            <a:prstDash val="solid"/>
          </a:ln>
        </p:spPr>
      </p:sp>
      <p:sp>
        <p:nvSpPr>
          <p:cNvPr id="31" name="Text 29"/>
          <p:cNvSpPr txBox="1"/>
          <p:nvPr/>
        </p:nvSpPr>
        <p:spPr>
          <a:xfrm>
            <a:off x="914400" y="4553712"/>
            <a:ext cx="2743200" cy="237744"/>
          </a:xfrm>
          <a:prstGeom prst="rect">
            <a:avLst/>
          </a:prstGeom>
          <a:noFill/>
          <a:ln/>
        </p:spPr>
        <p:txBody>
          <a:bodyPr wrap="square" lIns="0" tIns="0" rIns="0" bIns="0" rtlCol="0" anchor="ctr"/>
          <a:lstStyle/>
          <a:p>
            <a:pPr indent="0" marL="0">
              <a:buNone/>
            </a:pPr>
            <a:r>
              <a:rPr lang="en-US" sz="1000" b="1" spc="200" kern="0" dirty="0">
                <a:solidFill>
                  <a:srgbClr val="00BAF2"/>
                </a:solidFill>
              </a:rPr>
              <a:t>IN ACTION</a:t>
            </a:r>
            <a:endParaRPr lang="en-US" sz="1000" dirty="0"/>
          </a:p>
        </p:txBody>
      </p:sp>
      <p:sp>
        <p:nvSpPr>
          <p:cNvPr id="32" name="Text 30"/>
          <p:cNvSpPr txBox="1"/>
          <p:nvPr/>
        </p:nvSpPr>
        <p:spPr>
          <a:xfrm>
            <a:off x="914400" y="4809744"/>
            <a:ext cx="10332720" cy="310896"/>
          </a:xfrm>
          <a:prstGeom prst="rect">
            <a:avLst/>
          </a:prstGeom>
          <a:noFill/>
          <a:ln/>
        </p:spPr>
        <p:txBody>
          <a:bodyPr wrap="square" lIns="0" tIns="0" rIns="0" bIns="0" rtlCol="0" anchor="ctr"/>
          <a:lstStyle/>
          <a:p>
            <a:pPr indent="0" marL="0">
              <a:buNone/>
            </a:pPr>
            <a:r>
              <a:rPr lang="en-US" sz="1450" b="1" dirty="0">
                <a:solidFill>
                  <a:srgbClr val="FFFFFF"/>
                </a:solidFill>
              </a:rPr>
              <a:t>Merchant (voice, Hindi):  "पिछले हफ्ते का पैसा अभी तक नहीं आया।"</a:t>
            </a:r>
            <a:endParaRPr lang="en-US" sz="1450" dirty="0"/>
          </a:p>
        </p:txBody>
      </p:sp>
      <p:sp>
        <p:nvSpPr>
          <p:cNvPr id="33" name="Text 31"/>
          <p:cNvSpPr txBox="1"/>
          <p:nvPr/>
        </p:nvSpPr>
        <p:spPr>
          <a:xfrm>
            <a:off x="914400" y="5138928"/>
            <a:ext cx="10332720" cy="502920"/>
          </a:xfrm>
          <a:prstGeom prst="rect">
            <a:avLst/>
          </a:prstGeom>
          <a:noFill/>
          <a:ln/>
        </p:spPr>
        <p:txBody>
          <a:bodyPr wrap="square" lIns="0" tIns="0" rIns="0" bIns="0" rtlCol="0" anchor="ctr"/>
          <a:lstStyle/>
          <a:p>
            <a:pPr indent="0" marL="0">
              <a:lnSpc>
                <a:spcPct val="105000"/>
              </a:lnSpc>
              <a:buNone/>
            </a:pPr>
            <a:r>
              <a:rPr lang="en-US" sz="1250" dirty="0">
                <a:solidFill>
                  <a:srgbClr val="BCCCE4"/>
                </a:solidFill>
              </a:rPr>
              <a:t>Chaukas verifies the failed settlement, re-triggers it inside the ₹25,000 auto-limit, raises a tracked ticket, replies in Hindi — and then asks for consent to extend a ₹50,000 merchant loan the data already qualifies them for.</a:t>
            </a:r>
            <a:endParaRPr lang="en-US" sz="1250" dirty="0"/>
          </a:p>
        </p:txBody>
      </p:sp>
      <p:sp>
        <p:nvSpPr>
          <p:cNvPr id="35" name="Text 2"/>
          <p:cNvSpPr/>
          <p:nvPr>
            <p:ph idx="105" hasCustomPrompt="1"/>
          </p:nvPr>
        </p:nvSpPr>
        <p:spPr>
          <a:xfrm>
            <a:off x="11338560" y="6355080"/>
            <a:ext cx="457200" cy="292608"/>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94360" y="384048"/>
            <a:ext cx="10515600" cy="274320"/>
          </a:xfrm>
          <a:prstGeom prst="rect">
            <a:avLst/>
          </a:prstGeom>
          <a:noFill/>
          <a:ln/>
        </p:spPr>
        <p:txBody>
          <a:bodyPr wrap="square" lIns="0" tIns="0" rIns="0" bIns="0" rtlCol="0" anchor="ctr"/>
          <a:lstStyle/>
          <a:p>
            <a:pPr indent="0" marL="0">
              <a:buNone/>
            </a:pPr>
            <a:r>
              <a:rPr lang="en-US" sz="1100" b="1" spc="220" kern="0" dirty="0">
                <a:solidFill>
                  <a:srgbClr val="00BAF2"/>
                </a:solidFill>
              </a:rPr>
              <a:t>SCOPE &amp; EXECUTION TRACE</a:t>
            </a:r>
            <a:endParaRPr lang="en-US" sz="1100" dirty="0"/>
          </a:p>
        </p:txBody>
      </p:sp>
      <p:sp>
        <p:nvSpPr>
          <p:cNvPr id="3" name="Text 1"/>
          <p:cNvSpPr/>
          <p:nvPr>
            <p:ph idx="102" type="title" hasCustomPrompt="1"/>
          </p:nvPr>
        </p:nvSpPr>
        <p:spPr>
          <a:xfrm>
            <a:off x="594360" y="676656"/>
            <a:ext cx="10972800" cy="621792"/>
          </a:xfrm>
          <a:prstGeom prst="rect">
            <a:avLst/>
          </a:prstGeom>
          <a:noFill/>
          <a:ln/>
        </p:spPr>
        <p:txBody>
          <a:bodyPr wrap="square" lIns="0" tIns="0" rIns="0" bIns="0" rtlCol="0" anchor="ctr"/>
          <a:lstStyle/>
          <a:p>
            <a:pPr algn="l" indent="0" marL="0">
              <a:buNone/>
            </a:pPr>
            <a:r>
              <a:rPr lang="en-US" sz="3200" b="1" dirty="0">
                <a:solidFill>
                  <a:srgbClr val="0A1B3D"/>
                </a:solidFill>
              </a:rPr>
              <a:t>One workflow, end to end</a:t>
            </a:r>
            <a:endParaRPr lang="en-US" sz="3200" dirty="0"/>
          </a:p>
        </p:txBody>
      </p:sp>
      <p:sp>
        <p:nvSpPr>
          <p:cNvPr id="4" name="Text 1"/>
          <p:cNvSpPr/>
          <p:nvPr>
            <p:ph idx="103" type="body" hasCustomPrompt="1"/>
          </p:nvPr>
        </p:nvSpPr>
        <p:spPr>
          <a:xfrm>
            <a:off x="594360" y="1316736"/>
            <a:ext cx="10607040" cy="566928"/>
          </a:xfrm>
          <a:prstGeom prst="rect">
            <a:avLst/>
          </a:prstGeom>
          <a:noFill/>
          <a:ln/>
        </p:spPr>
        <p:txBody>
          <a:bodyPr wrap="square" lIns="0" tIns="0" rIns="0" bIns="0" rtlCol="0" anchor="t"/>
          <a:lstStyle/>
          <a:p>
            <a:pPr indent="0" marL="0">
              <a:buNone/>
            </a:pPr>
            <a:r>
              <a:rPr lang="en-US" sz="1350" dirty="0">
                <a:solidFill>
                  <a:srgbClr val="6C7A93"/>
                </a:solidFill>
              </a:rPr>
              <a:t>We go deep, not wide. Day-one scope is settlement and refund disputes — the highest-volume action ticket — with a consented lending offer attached. This is a real trace from our prototype run.</a:t>
            </a:r>
            <a:endParaRPr lang="en-US" sz="1350" dirty="0"/>
          </a:p>
        </p:txBody>
      </p:sp>
      <p:sp>
        <p:nvSpPr>
          <p:cNvPr id="5" name="trace0.0s"/>
          <p:cNvSpPr/>
          <p:nvPr/>
        </p:nvSpPr>
        <p:spPr>
          <a:xfrm>
            <a:off x="594360" y="2103120"/>
            <a:ext cx="11000232" cy="493776"/>
          </a:xfrm>
          <a:prstGeom prst="roundRect">
            <a:avLst>
              <a:gd name="adj" fmla="val 9259"/>
            </a:avLst>
          </a:prstGeom>
          <a:solidFill>
            <a:srgbClr val="F1F5FB"/>
          </a:solidFill>
          <a:ln w="12700">
            <a:solidFill>
              <a:srgbClr val="F1F5FB"/>
            </a:solidFill>
            <a:prstDash val="solid"/>
          </a:ln>
        </p:spPr>
      </p:sp>
      <p:sp>
        <p:nvSpPr>
          <p:cNvPr id="6" name="Text 4"/>
          <p:cNvSpPr txBox="1"/>
          <p:nvPr/>
        </p:nvSpPr>
        <p:spPr>
          <a:xfrm>
            <a:off x="777240" y="2103120"/>
            <a:ext cx="685800" cy="493776"/>
          </a:xfrm>
          <a:prstGeom prst="rect">
            <a:avLst/>
          </a:prstGeom>
          <a:noFill/>
          <a:ln/>
        </p:spPr>
        <p:txBody>
          <a:bodyPr wrap="square" lIns="0" tIns="0" rIns="0" bIns="0" rtlCol="0" anchor="ctr"/>
          <a:lstStyle/>
          <a:p>
            <a:pPr indent="0" marL="0">
              <a:buNone/>
            </a:pPr>
            <a:r>
              <a:rPr lang="en-US" sz="1250" b="1" dirty="0">
                <a:solidFill>
                  <a:srgbClr val="6C7A93"/>
                </a:solidFill>
                <a:latin typeface="Courier New" pitchFamily="34" charset="0"/>
                <a:ea typeface="Courier New" pitchFamily="34" charset="-122"/>
                <a:cs typeface="Courier New" pitchFamily="34" charset="-120"/>
              </a:rPr>
              <a:t>0.0s</a:t>
            </a:r>
            <a:endParaRPr lang="en-US" sz="1250" dirty="0"/>
          </a:p>
        </p:txBody>
      </p:sp>
      <p:sp>
        <p:nvSpPr>
          <p:cNvPr id="7" name="Shape 5"/>
          <p:cNvSpPr/>
          <p:nvPr/>
        </p:nvSpPr>
        <p:spPr>
          <a:xfrm>
            <a:off x="1508760" y="2221992"/>
            <a:ext cx="1298448" cy="256032"/>
          </a:xfrm>
          <a:prstGeom prst="roundRect">
            <a:avLst>
              <a:gd name="adj" fmla="val 17857"/>
            </a:avLst>
          </a:prstGeom>
          <a:solidFill>
            <a:srgbClr val="00BAF2"/>
          </a:solidFill>
          <a:ln w="12700">
            <a:solidFill>
              <a:srgbClr val="00BAF2"/>
            </a:solidFill>
            <a:prstDash val="solid"/>
          </a:ln>
        </p:spPr>
      </p:sp>
      <p:sp>
        <p:nvSpPr>
          <p:cNvPr id="8" name="Text 6"/>
          <p:cNvSpPr txBox="1"/>
          <p:nvPr/>
        </p:nvSpPr>
        <p:spPr>
          <a:xfrm>
            <a:off x="1508760" y="2221992"/>
            <a:ext cx="1298448" cy="256032"/>
          </a:xfrm>
          <a:prstGeom prst="rect">
            <a:avLst/>
          </a:prstGeom>
          <a:noFill/>
          <a:ln/>
        </p:spPr>
        <p:txBody>
          <a:bodyPr wrap="square" lIns="0" tIns="0" rIns="0" bIns="0" rtlCol="0" anchor="ctr"/>
          <a:lstStyle/>
          <a:p>
            <a:pPr algn="ctr" indent="0" marL="0">
              <a:buNone/>
            </a:pPr>
            <a:r>
              <a:rPr lang="en-US" sz="950" b="1" dirty="0">
                <a:solidFill>
                  <a:srgbClr val="0A1B3D"/>
                </a:solidFill>
              </a:rPr>
              <a:t>VOICE IN</a:t>
            </a:r>
            <a:endParaRPr lang="en-US" sz="950" dirty="0"/>
          </a:p>
        </p:txBody>
      </p:sp>
      <p:sp>
        <p:nvSpPr>
          <p:cNvPr id="9" name="Text 7"/>
          <p:cNvSpPr txBox="1"/>
          <p:nvPr/>
        </p:nvSpPr>
        <p:spPr>
          <a:xfrm>
            <a:off x="2971800" y="2103120"/>
            <a:ext cx="8458200" cy="493776"/>
          </a:xfrm>
          <a:prstGeom prst="rect">
            <a:avLst/>
          </a:prstGeom>
          <a:noFill/>
          <a:ln/>
        </p:spPr>
        <p:txBody>
          <a:bodyPr wrap="square" lIns="0" tIns="0" rIns="0" bIns="0" rtlCol="0" anchor="ctr"/>
          <a:lstStyle/>
          <a:p>
            <a:pPr indent="0" marL="0">
              <a:buNone/>
            </a:pPr>
            <a:r>
              <a:rPr lang="en-US" sz="1250" dirty="0">
                <a:solidFill>
                  <a:srgbClr val="2B3A55"/>
                </a:solidFill>
              </a:rPr>
              <a:t>Merchant presses the Paytm Button: "पिछले हफ्ते का पैसा अभी तक नहीं आया"</a:t>
            </a:r>
            <a:endParaRPr lang="en-US" sz="1250" dirty="0"/>
          </a:p>
        </p:txBody>
      </p:sp>
      <p:sp>
        <p:nvSpPr>
          <p:cNvPr id="10" name="trace0.4s"/>
          <p:cNvSpPr/>
          <p:nvPr/>
        </p:nvSpPr>
        <p:spPr>
          <a:xfrm>
            <a:off x="594360" y="2656332"/>
            <a:ext cx="11000232" cy="493776"/>
          </a:xfrm>
          <a:prstGeom prst="roundRect">
            <a:avLst>
              <a:gd name="adj" fmla="val 9259"/>
            </a:avLst>
          </a:prstGeom>
          <a:solidFill>
            <a:srgbClr val="F1F5FB"/>
          </a:solidFill>
          <a:ln w="12700">
            <a:solidFill>
              <a:srgbClr val="F1F5FB"/>
            </a:solidFill>
            <a:prstDash val="solid"/>
          </a:ln>
        </p:spPr>
      </p:sp>
      <p:sp>
        <p:nvSpPr>
          <p:cNvPr id="11" name="Text 9"/>
          <p:cNvSpPr txBox="1"/>
          <p:nvPr/>
        </p:nvSpPr>
        <p:spPr>
          <a:xfrm>
            <a:off x="777240" y="2656332"/>
            <a:ext cx="685800" cy="493776"/>
          </a:xfrm>
          <a:prstGeom prst="rect">
            <a:avLst/>
          </a:prstGeom>
          <a:noFill/>
          <a:ln/>
        </p:spPr>
        <p:txBody>
          <a:bodyPr wrap="square" lIns="0" tIns="0" rIns="0" bIns="0" rtlCol="0" anchor="ctr"/>
          <a:lstStyle/>
          <a:p>
            <a:pPr indent="0" marL="0">
              <a:buNone/>
            </a:pPr>
            <a:r>
              <a:rPr lang="en-US" sz="1250" b="1" dirty="0">
                <a:solidFill>
                  <a:srgbClr val="6C7A93"/>
                </a:solidFill>
                <a:latin typeface="Courier New" pitchFamily="34" charset="0"/>
                <a:ea typeface="Courier New" pitchFamily="34" charset="-122"/>
                <a:cs typeface="Courier New" pitchFamily="34" charset="-120"/>
              </a:rPr>
              <a:t>0.4s</a:t>
            </a:r>
            <a:endParaRPr lang="en-US" sz="1250" dirty="0"/>
          </a:p>
        </p:txBody>
      </p:sp>
      <p:sp>
        <p:nvSpPr>
          <p:cNvPr id="12" name="Shape 10"/>
          <p:cNvSpPr/>
          <p:nvPr/>
        </p:nvSpPr>
        <p:spPr>
          <a:xfrm>
            <a:off x="1508760" y="2775204"/>
            <a:ext cx="1298448" cy="256032"/>
          </a:xfrm>
          <a:prstGeom prst="roundRect">
            <a:avLst>
              <a:gd name="adj" fmla="val 17857"/>
            </a:avLst>
          </a:prstGeom>
          <a:solidFill>
            <a:srgbClr val="00BAF2"/>
          </a:solidFill>
          <a:ln w="12700">
            <a:solidFill>
              <a:srgbClr val="00BAF2"/>
            </a:solidFill>
            <a:prstDash val="solid"/>
          </a:ln>
        </p:spPr>
      </p:sp>
      <p:sp>
        <p:nvSpPr>
          <p:cNvPr id="13" name="Text 11"/>
          <p:cNvSpPr txBox="1"/>
          <p:nvPr/>
        </p:nvSpPr>
        <p:spPr>
          <a:xfrm>
            <a:off x="1508760" y="2775204"/>
            <a:ext cx="1298448" cy="256032"/>
          </a:xfrm>
          <a:prstGeom prst="rect">
            <a:avLst/>
          </a:prstGeom>
          <a:noFill/>
          <a:ln/>
        </p:spPr>
        <p:txBody>
          <a:bodyPr wrap="square" lIns="0" tIns="0" rIns="0" bIns="0" rtlCol="0" anchor="ctr"/>
          <a:lstStyle/>
          <a:p>
            <a:pPr algn="ctr" indent="0" marL="0">
              <a:buNone/>
            </a:pPr>
            <a:r>
              <a:rPr lang="en-US" sz="950" b="1" dirty="0">
                <a:solidFill>
                  <a:srgbClr val="0A1B3D"/>
                </a:solidFill>
              </a:rPr>
              <a:t>INTENT</a:t>
            </a:r>
            <a:endParaRPr lang="en-US" sz="950" dirty="0"/>
          </a:p>
        </p:txBody>
      </p:sp>
      <p:sp>
        <p:nvSpPr>
          <p:cNvPr id="14" name="Text 12"/>
          <p:cNvSpPr txBox="1"/>
          <p:nvPr/>
        </p:nvSpPr>
        <p:spPr>
          <a:xfrm>
            <a:off x="2971800" y="2656332"/>
            <a:ext cx="8458200" cy="493776"/>
          </a:xfrm>
          <a:prstGeom prst="rect">
            <a:avLst/>
          </a:prstGeom>
          <a:noFill/>
          <a:ln/>
        </p:spPr>
        <p:txBody>
          <a:bodyPr wrap="square" lIns="0" tIns="0" rIns="0" bIns="0" rtlCol="0" anchor="ctr"/>
          <a:lstStyle/>
          <a:p>
            <a:pPr indent="0" marL="0">
              <a:buNone/>
            </a:pPr>
            <a:r>
              <a:rPr lang="en-US" sz="1250" dirty="0">
                <a:solidFill>
                  <a:srgbClr val="2B3A55"/>
                </a:solidFill>
              </a:rPr>
              <a:t>intent=settlement_delay · lang=hi · urgency=high · routed to Context Agent</a:t>
            </a:r>
            <a:endParaRPr lang="en-US" sz="1250" dirty="0"/>
          </a:p>
        </p:txBody>
      </p:sp>
      <p:sp>
        <p:nvSpPr>
          <p:cNvPr id="15" name="trace1.1s"/>
          <p:cNvSpPr/>
          <p:nvPr/>
        </p:nvSpPr>
        <p:spPr>
          <a:xfrm>
            <a:off x="594360" y="3209544"/>
            <a:ext cx="11000232" cy="493776"/>
          </a:xfrm>
          <a:prstGeom prst="roundRect">
            <a:avLst>
              <a:gd name="adj" fmla="val 9259"/>
            </a:avLst>
          </a:prstGeom>
          <a:solidFill>
            <a:srgbClr val="F1F5FB"/>
          </a:solidFill>
          <a:ln w="12700">
            <a:solidFill>
              <a:srgbClr val="F1F5FB"/>
            </a:solidFill>
            <a:prstDash val="solid"/>
          </a:ln>
        </p:spPr>
      </p:sp>
      <p:sp>
        <p:nvSpPr>
          <p:cNvPr id="16" name="Text 14"/>
          <p:cNvSpPr txBox="1"/>
          <p:nvPr/>
        </p:nvSpPr>
        <p:spPr>
          <a:xfrm>
            <a:off x="777240" y="3209544"/>
            <a:ext cx="685800" cy="493776"/>
          </a:xfrm>
          <a:prstGeom prst="rect">
            <a:avLst/>
          </a:prstGeom>
          <a:noFill/>
          <a:ln/>
        </p:spPr>
        <p:txBody>
          <a:bodyPr wrap="square" lIns="0" tIns="0" rIns="0" bIns="0" rtlCol="0" anchor="ctr"/>
          <a:lstStyle/>
          <a:p>
            <a:pPr indent="0" marL="0">
              <a:buNone/>
            </a:pPr>
            <a:r>
              <a:rPr lang="en-US" sz="1250" b="1" dirty="0">
                <a:solidFill>
                  <a:srgbClr val="6C7A93"/>
                </a:solidFill>
                <a:latin typeface="Courier New" pitchFamily="34" charset="0"/>
                <a:ea typeface="Courier New" pitchFamily="34" charset="-122"/>
                <a:cs typeface="Courier New" pitchFamily="34" charset="-120"/>
              </a:rPr>
              <a:t>1.1s</a:t>
            </a:r>
            <a:endParaRPr lang="en-US" sz="1250" dirty="0"/>
          </a:p>
        </p:txBody>
      </p:sp>
      <p:sp>
        <p:nvSpPr>
          <p:cNvPr id="17" name="Shape 15"/>
          <p:cNvSpPr/>
          <p:nvPr/>
        </p:nvSpPr>
        <p:spPr>
          <a:xfrm>
            <a:off x="1508760" y="3328416"/>
            <a:ext cx="1298448" cy="256032"/>
          </a:xfrm>
          <a:prstGeom prst="roundRect">
            <a:avLst>
              <a:gd name="adj" fmla="val 17857"/>
            </a:avLst>
          </a:prstGeom>
          <a:solidFill>
            <a:srgbClr val="00BAF2"/>
          </a:solidFill>
          <a:ln w="12700">
            <a:solidFill>
              <a:srgbClr val="00BAF2"/>
            </a:solidFill>
            <a:prstDash val="solid"/>
          </a:ln>
        </p:spPr>
      </p:sp>
      <p:sp>
        <p:nvSpPr>
          <p:cNvPr id="18" name="Text 16"/>
          <p:cNvSpPr txBox="1"/>
          <p:nvPr/>
        </p:nvSpPr>
        <p:spPr>
          <a:xfrm>
            <a:off x="1508760" y="3328416"/>
            <a:ext cx="1298448" cy="256032"/>
          </a:xfrm>
          <a:prstGeom prst="rect">
            <a:avLst/>
          </a:prstGeom>
          <a:noFill/>
          <a:ln/>
        </p:spPr>
        <p:txBody>
          <a:bodyPr wrap="square" lIns="0" tIns="0" rIns="0" bIns="0" rtlCol="0" anchor="ctr"/>
          <a:lstStyle/>
          <a:p>
            <a:pPr algn="ctr" indent="0" marL="0">
              <a:buNone/>
            </a:pPr>
            <a:r>
              <a:rPr lang="en-US" sz="950" b="1" dirty="0">
                <a:solidFill>
                  <a:srgbClr val="0A1B3D"/>
                </a:solidFill>
              </a:rPr>
              <a:t>CONTEXT</a:t>
            </a:r>
            <a:endParaRPr lang="en-US" sz="950" dirty="0"/>
          </a:p>
        </p:txBody>
      </p:sp>
      <p:sp>
        <p:nvSpPr>
          <p:cNvPr id="19" name="Text 17"/>
          <p:cNvSpPr txBox="1"/>
          <p:nvPr/>
        </p:nvSpPr>
        <p:spPr>
          <a:xfrm>
            <a:off x="2971800" y="3209544"/>
            <a:ext cx="8458200" cy="493776"/>
          </a:xfrm>
          <a:prstGeom prst="rect">
            <a:avLst/>
          </a:prstGeom>
          <a:noFill/>
          <a:ln/>
        </p:spPr>
        <p:txBody>
          <a:bodyPr wrap="square" lIns="0" tIns="0" rIns="0" bIns="0" rtlCol="0" anchor="ctr"/>
          <a:lstStyle/>
          <a:p>
            <a:pPr indent="0" marL="0">
              <a:buNone/>
            </a:pPr>
            <a:r>
              <a:rPr lang="en-US" sz="1250" dirty="0">
                <a:solidFill>
                  <a:srgbClr val="2B3A55"/>
                </a:solidFill>
              </a:rPr>
              <a:t>₹2.1L GMV (30d) · settlement SET-99213 failed · cause: IFSC mismatch on file</a:t>
            </a:r>
            <a:endParaRPr lang="en-US" sz="1250" dirty="0"/>
          </a:p>
        </p:txBody>
      </p:sp>
      <p:sp>
        <p:nvSpPr>
          <p:cNvPr id="20" name="trace1.8s"/>
          <p:cNvSpPr/>
          <p:nvPr/>
        </p:nvSpPr>
        <p:spPr>
          <a:xfrm>
            <a:off x="594360" y="3762756"/>
            <a:ext cx="11000232" cy="493776"/>
          </a:xfrm>
          <a:prstGeom prst="roundRect">
            <a:avLst>
              <a:gd name="adj" fmla="val 9259"/>
            </a:avLst>
          </a:prstGeom>
          <a:solidFill>
            <a:srgbClr val="F1F5FB"/>
          </a:solidFill>
          <a:ln w="12700">
            <a:solidFill>
              <a:srgbClr val="F1F5FB"/>
            </a:solidFill>
            <a:prstDash val="solid"/>
          </a:ln>
        </p:spPr>
      </p:sp>
      <p:sp>
        <p:nvSpPr>
          <p:cNvPr id="21" name="Text 19"/>
          <p:cNvSpPr txBox="1"/>
          <p:nvPr/>
        </p:nvSpPr>
        <p:spPr>
          <a:xfrm>
            <a:off x="777240" y="3762756"/>
            <a:ext cx="685800" cy="493776"/>
          </a:xfrm>
          <a:prstGeom prst="rect">
            <a:avLst/>
          </a:prstGeom>
          <a:noFill/>
          <a:ln/>
        </p:spPr>
        <p:txBody>
          <a:bodyPr wrap="square" lIns="0" tIns="0" rIns="0" bIns="0" rtlCol="0" anchor="ctr"/>
          <a:lstStyle/>
          <a:p>
            <a:pPr indent="0" marL="0">
              <a:buNone/>
            </a:pPr>
            <a:r>
              <a:rPr lang="en-US" sz="1250" b="1" dirty="0">
                <a:solidFill>
                  <a:srgbClr val="6C7A93"/>
                </a:solidFill>
                <a:latin typeface="Courier New" pitchFamily="34" charset="0"/>
                <a:ea typeface="Courier New" pitchFamily="34" charset="-122"/>
                <a:cs typeface="Courier New" pitchFamily="34" charset="-120"/>
              </a:rPr>
              <a:t>1.8s</a:t>
            </a:r>
            <a:endParaRPr lang="en-US" sz="1250" dirty="0"/>
          </a:p>
        </p:txBody>
      </p:sp>
      <p:sp>
        <p:nvSpPr>
          <p:cNvPr id="22" name="Shape 20"/>
          <p:cNvSpPr/>
          <p:nvPr/>
        </p:nvSpPr>
        <p:spPr>
          <a:xfrm>
            <a:off x="1508760" y="3881628"/>
            <a:ext cx="1298448" cy="256032"/>
          </a:xfrm>
          <a:prstGeom prst="roundRect">
            <a:avLst>
              <a:gd name="adj" fmla="val 17857"/>
            </a:avLst>
          </a:prstGeom>
          <a:solidFill>
            <a:srgbClr val="F5A623"/>
          </a:solidFill>
          <a:ln w="12700">
            <a:solidFill>
              <a:srgbClr val="F5A623"/>
            </a:solidFill>
            <a:prstDash val="solid"/>
          </a:ln>
        </p:spPr>
      </p:sp>
      <p:sp>
        <p:nvSpPr>
          <p:cNvPr id="23" name="Text 21"/>
          <p:cNvSpPr txBox="1"/>
          <p:nvPr/>
        </p:nvSpPr>
        <p:spPr>
          <a:xfrm>
            <a:off x="1508760" y="3881628"/>
            <a:ext cx="1298448" cy="256032"/>
          </a:xfrm>
          <a:prstGeom prst="rect">
            <a:avLst/>
          </a:prstGeom>
          <a:noFill/>
          <a:ln/>
        </p:spPr>
        <p:txBody>
          <a:bodyPr wrap="square" lIns="0" tIns="0" rIns="0" bIns="0" rtlCol="0" anchor="ctr"/>
          <a:lstStyle/>
          <a:p>
            <a:pPr algn="ctr" indent="0" marL="0">
              <a:buNone/>
            </a:pPr>
            <a:r>
              <a:rPr lang="en-US" sz="950" b="1" dirty="0">
                <a:solidFill>
                  <a:srgbClr val="0A1B3D"/>
                </a:solidFill>
              </a:rPr>
              <a:t>PLAN</a:t>
            </a:r>
            <a:endParaRPr lang="en-US" sz="950" dirty="0"/>
          </a:p>
        </p:txBody>
      </p:sp>
      <p:sp>
        <p:nvSpPr>
          <p:cNvPr id="24" name="Text 22"/>
          <p:cNvSpPr txBox="1"/>
          <p:nvPr/>
        </p:nvSpPr>
        <p:spPr>
          <a:xfrm>
            <a:off x="2971800" y="3762756"/>
            <a:ext cx="8458200" cy="493776"/>
          </a:xfrm>
          <a:prstGeom prst="rect">
            <a:avLst/>
          </a:prstGeom>
          <a:noFill/>
          <a:ln/>
        </p:spPr>
        <p:txBody>
          <a:bodyPr wrap="square" lIns="0" tIns="0" rIns="0" bIns="0" rtlCol="0" anchor="ctr"/>
          <a:lstStyle/>
          <a:p>
            <a:pPr indent="0" marL="0">
              <a:buNone/>
            </a:pPr>
            <a:r>
              <a:rPr lang="en-US" sz="1250" dirty="0">
                <a:solidFill>
                  <a:srgbClr val="2B3A55"/>
                </a:solidFill>
              </a:rPr>
              <a:t>verify ledger → re-trigger payout → raise ticket → evaluate loan eligibility</a:t>
            </a:r>
            <a:endParaRPr lang="en-US" sz="1250" dirty="0"/>
          </a:p>
        </p:txBody>
      </p:sp>
      <p:sp>
        <p:nvSpPr>
          <p:cNvPr id="25" name="trace2.5s"/>
          <p:cNvSpPr/>
          <p:nvPr/>
        </p:nvSpPr>
        <p:spPr>
          <a:xfrm>
            <a:off x="594360" y="4315968"/>
            <a:ext cx="11000232" cy="493776"/>
          </a:xfrm>
          <a:prstGeom prst="roundRect">
            <a:avLst>
              <a:gd name="adj" fmla="val 9259"/>
            </a:avLst>
          </a:prstGeom>
          <a:solidFill>
            <a:srgbClr val="F1F5FB"/>
          </a:solidFill>
          <a:ln w="12700">
            <a:solidFill>
              <a:srgbClr val="F1F5FB"/>
            </a:solidFill>
            <a:prstDash val="solid"/>
          </a:ln>
        </p:spPr>
      </p:sp>
      <p:sp>
        <p:nvSpPr>
          <p:cNvPr id="26" name="Text 24"/>
          <p:cNvSpPr txBox="1"/>
          <p:nvPr/>
        </p:nvSpPr>
        <p:spPr>
          <a:xfrm>
            <a:off x="777240" y="4315968"/>
            <a:ext cx="685800" cy="493776"/>
          </a:xfrm>
          <a:prstGeom prst="rect">
            <a:avLst/>
          </a:prstGeom>
          <a:noFill/>
          <a:ln/>
        </p:spPr>
        <p:txBody>
          <a:bodyPr wrap="square" lIns="0" tIns="0" rIns="0" bIns="0" rtlCol="0" anchor="ctr"/>
          <a:lstStyle/>
          <a:p>
            <a:pPr indent="0" marL="0">
              <a:buNone/>
            </a:pPr>
            <a:r>
              <a:rPr lang="en-US" sz="1250" b="1" dirty="0">
                <a:solidFill>
                  <a:srgbClr val="6C7A93"/>
                </a:solidFill>
                <a:latin typeface="Courier New" pitchFamily="34" charset="0"/>
                <a:ea typeface="Courier New" pitchFamily="34" charset="-122"/>
                <a:cs typeface="Courier New" pitchFamily="34" charset="-120"/>
              </a:rPr>
              <a:t>2.5s</a:t>
            </a:r>
            <a:endParaRPr lang="en-US" sz="1250" dirty="0"/>
          </a:p>
        </p:txBody>
      </p:sp>
      <p:sp>
        <p:nvSpPr>
          <p:cNvPr id="27" name="Shape 25"/>
          <p:cNvSpPr/>
          <p:nvPr/>
        </p:nvSpPr>
        <p:spPr>
          <a:xfrm>
            <a:off x="1508760" y="4434840"/>
            <a:ext cx="1298448" cy="256032"/>
          </a:xfrm>
          <a:prstGeom prst="roundRect">
            <a:avLst>
              <a:gd name="adj" fmla="val 17857"/>
            </a:avLst>
          </a:prstGeom>
          <a:solidFill>
            <a:srgbClr val="2BB673"/>
          </a:solidFill>
          <a:ln w="12700">
            <a:solidFill>
              <a:srgbClr val="2BB673"/>
            </a:solidFill>
            <a:prstDash val="solid"/>
          </a:ln>
        </p:spPr>
      </p:sp>
      <p:sp>
        <p:nvSpPr>
          <p:cNvPr id="28" name="Text 26"/>
          <p:cNvSpPr txBox="1"/>
          <p:nvPr/>
        </p:nvSpPr>
        <p:spPr>
          <a:xfrm>
            <a:off x="1508760" y="4434840"/>
            <a:ext cx="1298448" cy="256032"/>
          </a:xfrm>
          <a:prstGeom prst="rect">
            <a:avLst/>
          </a:prstGeom>
          <a:noFill/>
          <a:ln/>
        </p:spPr>
        <p:txBody>
          <a:bodyPr wrap="square" lIns="0" tIns="0" rIns="0" bIns="0" rtlCol="0" anchor="ctr"/>
          <a:lstStyle/>
          <a:p>
            <a:pPr algn="ctr" indent="0" marL="0">
              <a:buNone/>
            </a:pPr>
            <a:r>
              <a:rPr lang="en-US" sz="950" b="1" dirty="0">
                <a:solidFill>
                  <a:srgbClr val="0A1B3D"/>
                </a:solidFill>
              </a:rPr>
              <a:t>GUARDRAIL</a:t>
            </a:r>
            <a:endParaRPr lang="en-US" sz="950" dirty="0"/>
          </a:p>
        </p:txBody>
      </p:sp>
      <p:sp>
        <p:nvSpPr>
          <p:cNvPr id="29" name="Text 27"/>
          <p:cNvSpPr txBox="1"/>
          <p:nvPr/>
        </p:nvSpPr>
        <p:spPr>
          <a:xfrm>
            <a:off x="2971800" y="4315968"/>
            <a:ext cx="8458200" cy="493776"/>
          </a:xfrm>
          <a:prstGeom prst="rect">
            <a:avLst/>
          </a:prstGeom>
          <a:noFill/>
          <a:ln/>
        </p:spPr>
        <p:txBody>
          <a:bodyPr wrap="square" lIns="0" tIns="0" rIns="0" bIns="0" rtlCol="0" anchor="ctr"/>
          <a:lstStyle/>
          <a:p>
            <a:pPr indent="0" marL="0">
              <a:buNone/>
            </a:pPr>
            <a:r>
              <a:rPr lang="en-US" sz="1250" dirty="0">
                <a:solidFill>
                  <a:srgbClr val="2B3A55"/>
                </a:solidFill>
              </a:rPr>
              <a:t>₹18,400 &lt; ₹25,000 auto-limit · PII masked · rollback token issued · ALLOW</a:t>
            </a:r>
            <a:endParaRPr lang="en-US" sz="1250" dirty="0"/>
          </a:p>
        </p:txBody>
      </p:sp>
      <p:sp>
        <p:nvSpPr>
          <p:cNvPr id="30" name="trace3.0s"/>
          <p:cNvSpPr/>
          <p:nvPr/>
        </p:nvSpPr>
        <p:spPr>
          <a:xfrm>
            <a:off x="594360" y="4869180"/>
            <a:ext cx="11000232" cy="493776"/>
          </a:xfrm>
          <a:prstGeom prst="roundRect">
            <a:avLst>
              <a:gd name="adj" fmla="val 9259"/>
            </a:avLst>
          </a:prstGeom>
          <a:solidFill>
            <a:srgbClr val="F1F5FB"/>
          </a:solidFill>
          <a:ln w="12700">
            <a:solidFill>
              <a:srgbClr val="F1F5FB"/>
            </a:solidFill>
            <a:prstDash val="solid"/>
          </a:ln>
        </p:spPr>
      </p:sp>
      <p:sp>
        <p:nvSpPr>
          <p:cNvPr id="31" name="Text 29"/>
          <p:cNvSpPr txBox="1"/>
          <p:nvPr/>
        </p:nvSpPr>
        <p:spPr>
          <a:xfrm>
            <a:off x="777240" y="4869180"/>
            <a:ext cx="685800" cy="493776"/>
          </a:xfrm>
          <a:prstGeom prst="rect">
            <a:avLst/>
          </a:prstGeom>
          <a:noFill/>
          <a:ln/>
        </p:spPr>
        <p:txBody>
          <a:bodyPr wrap="square" lIns="0" tIns="0" rIns="0" bIns="0" rtlCol="0" anchor="ctr"/>
          <a:lstStyle/>
          <a:p>
            <a:pPr indent="0" marL="0">
              <a:buNone/>
            </a:pPr>
            <a:r>
              <a:rPr lang="en-US" sz="1250" b="1" dirty="0">
                <a:solidFill>
                  <a:srgbClr val="6C7A93"/>
                </a:solidFill>
                <a:latin typeface="Courier New" pitchFamily="34" charset="0"/>
                <a:ea typeface="Courier New" pitchFamily="34" charset="-122"/>
                <a:cs typeface="Courier New" pitchFamily="34" charset="-120"/>
              </a:rPr>
              <a:t>3.0s</a:t>
            </a:r>
            <a:endParaRPr lang="en-US" sz="1250" dirty="0"/>
          </a:p>
        </p:txBody>
      </p:sp>
      <p:sp>
        <p:nvSpPr>
          <p:cNvPr id="32" name="Shape 30"/>
          <p:cNvSpPr/>
          <p:nvPr/>
        </p:nvSpPr>
        <p:spPr>
          <a:xfrm>
            <a:off x="1508760" y="4988052"/>
            <a:ext cx="1298448" cy="256032"/>
          </a:xfrm>
          <a:prstGeom prst="roundRect">
            <a:avLst>
              <a:gd name="adj" fmla="val 17857"/>
            </a:avLst>
          </a:prstGeom>
          <a:solidFill>
            <a:srgbClr val="F5A623"/>
          </a:solidFill>
          <a:ln w="12700">
            <a:solidFill>
              <a:srgbClr val="F5A623"/>
            </a:solidFill>
            <a:prstDash val="solid"/>
          </a:ln>
        </p:spPr>
      </p:sp>
      <p:sp>
        <p:nvSpPr>
          <p:cNvPr id="33" name="Text 31"/>
          <p:cNvSpPr txBox="1"/>
          <p:nvPr/>
        </p:nvSpPr>
        <p:spPr>
          <a:xfrm>
            <a:off x="1508760" y="4988052"/>
            <a:ext cx="1298448" cy="256032"/>
          </a:xfrm>
          <a:prstGeom prst="rect">
            <a:avLst/>
          </a:prstGeom>
          <a:noFill/>
          <a:ln/>
        </p:spPr>
        <p:txBody>
          <a:bodyPr wrap="square" lIns="0" tIns="0" rIns="0" bIns="0" rtlCol="0" anchor="ctr"/>
          <a:lstStyle/>
          <a:p>
            <a:pPr algn="ctr" indent="0" marL="0">
              <a:buNone/>
            </a:pPr>
            <a:r>
              <a:rPr lang="en-US" sz="950" b="1" dirty="0">
                <a:solidFill>
                  <a:srgbClr val="0A1B3D"/>
                </a:solidFill>
              </a:rPr>
              <a:t>ACTION</a:t>
            </a:r>
            <a:endParaRPr lang="en-US" sz="950" dirty="0"/>
          </a:p>
        </p:txBody>
      </p:sp>
      <p:sp>
        <p:nvSpPr>
          <p:cNvPr id="34" name="Text 32"/>
          <p:cNvSpPr txBox="1"/>
          <p:nvPr/>
        </p:nvSpPr>
        <p:spPr>
          <a:xfrm>
            <a:off x="2971800" y="4869180"/>
            <a:ext cx="8458200" cy="493776"/>
          </a:xfrm>
          <a:prstGeom prst="rect">
            <a:avLst/>
          </a:prstGeom>
          <a:noFill/>
          <a:ln/>
        </p:spPr>
        <p:txBody>
          <a:bodyPr wrap="square" lIns="0" tIns="0" rIns="0" bIns="0" rtlCol="0" anchor="ctr"/>
          <a:lstStyle/>
          <a:p>
            <a:pPr indent="0" marL="0">
              <a:buNone/>
            </a:pPr>
            <a:r>
              <a:rPr lang="en-US" sz="1250" dirty="0">
                <a:solidFill>
                  <a:srgbClr val="2B3A55"/>
                </a:solidFill>
              </a:rPr>
              <a:t>Payout re-triggered · ticket TKT-44871 opened and linked to the conversation</a:t>
            </a:r>
            <a:endParaRPr lang="en-US" sz="1250" dirty="0"/>
          </a:p>
        </p:txBody>
      </p:sp>
      <p:sp>
        <p:nvSpPr>
          <p:cNvPr id="35" name="trace3.5s"/>
          <p:cNvSpPr/>
          <p:nvPr/>
        </p:nvSpPr>
        <p:spPr>
          <a:xfrm>
            <a:off x="594360" y="5422392"/>
            <a:ext cx="11000232" cy="493776"/>
          </a:xfrm>
          <a:prstGeom prst="roundRect">
            <a:avLst>
              <a:gd name="adj" fmla="val 9259"/>
            </a:avLst>
          </a:prstGeom>
          <a:solidFill>
            <a:srgbClr val="F1F5FB"/>
          </a:solidFill>
          <a:ln w="12700">
            <a:solidFill>
              <a:srgbClr val="F1F5FB"/>
            </a:solidFill>
            <a:prstDash val="solid"/>
          </a:ln>
        </p:spPr>
      </p:sp>
      <p:sp>
        <p:nvSpPr>
          <p:cNvPr id="36" name="Text 34"/>
          <p:cNvSpPr txBox="1"/>
          <p:nvPr/>
        </p:nvSpPr>
        <p:spPr>
          <a:xfrm>
            <a:off x="777240" y="5422392"/>
            <a:ext cx="685800" cy="493776"/>
          </a:xfrm>
          <a:prstGeom prst="rect">
            <a:avLst/>
          </a:prstGeom>
          <a:noFill/>
          <a:ln/>
        </p:spPr>
        <p:txBody>
          <a:bodyPr wrap="square" lIns="0" tIns="0" rIns="0" bIns="0" rtlCol="0" anchor="ctr"/>
          <a:lstStyle/>
          <a:p>
            <a:pPr indent="0" marL="0">
              <a:buNone/>
            </a:pPr>
            <a:r>
              <a:rPr lang="en-US" sz="1250" b="1" dirty="0">
                <a:solidFill>
                  <a:srgbClr val="6C7A93"/>
                </a:solidFill>
                <a:latin typeface="Courier New" pitchFamily="34" charset="0"/>
                <a:ea typeface="Courier New" pitchFamily="34" charset="-122"/>
                <a:cs typeface="Courier New" pitchFamily="34" charset="-120"/>
              </a:rPr>
              <a:t>3.5s</a:t>
            </a:r>
            <a:endParaRPr lang="en-US" sz="1250" dirty="0"/>
          </a:p>
        </p:txBody>
      </p:sp>
      <p:sp>
        <p:nvSpPr>
          <p:cNvPr id="37" name="Shape 35"/>
          <p:cNvSpPr/>
          <p:nvPr/>
        </p:nvSpPr>
        <p:spPr>
          <a:xfrm>
            <a:off x="1508760" y="5541264"/>
            <a:ext cx="1298448" cy="256032"/>
          </a:xfrm>
          <a:prstGeom prst="roundRect">
            <a:avLst>
              <a:gd name="adj" fmla="val 17857"/>
            </a:avLst>
          </a:prstGeom>
          <a:solidFill>
            <a:srgbClr val="00BAF2"/>
          </a:solidFill>
          <a:ln w="12700">
            <a:solidFill>
              <a:srgbClr val="00BAF2"/>
            </a:solidFill>
            <a:prstDash val="solid"/>
          </a:ln>
        </p:spPr>
      </p:sp>
      <p:sp>
        <p:nvSpPr>
          <p:cNvPr id="38" name="Text 36"/>
          <p:cNvSpPr txBox="1"/>
          <p:nvPr/>
        </p:nvSpPr>
        <p:spPr>
          <a:xfrm>
            <a:off x="1508760" y="5541264"/>
            <a:ext cx="1298448" cy="256032"/>
          </a:xfrm>
          <a:prstGeom prst="rect">
            <a:avLst/>
          </a:prstGeom>
          <a:noFill/>
          <a:ln/>
        </p:spPr>
        <p:txBody>
          <a:bodyPr wrap="square" lIns="0" tIns="0" rIns="0" bIns="0" rtlCol="0" anchor="ctr"/>
          <a:lstStyle/>
          <a:p>
            <a:pPr algn="ctr" indent="0" marL="0">
              <a:buNone/>
            </a:pPr>
            <a:r>
              <a:rPr lang="en-US" sz="950" b="1" dirty="0">
                <a:solidFill>
                  <a:srgbClr val="0A1B3D"/>
                </a:solidFill>
              </a:rPr>
              <a:t>REPLY + SELL</a:t>
            </a:r>
            <a:endParaRPr lang="en-US" sz="950" dirty="0"/>
          </a:p>
        </p:txBody>
      </p:sp>
      <p:sp>
        <p:nvSpPr>
          <p:cNvPr id="39" name="Text 37"/>
          <p:cNvSpPr txBox="1"/>
          <p:nvPr/>
        </p:nvSpPr>
        <p:spPr>
          <a:xfrm>
            <a:off x="2971800" y="5422392"/>
            <a:ext cx="8458200" cy="493776"/>
          </a:xfrm>
          <a:prstGeom prst="rect">
            <a:avLst/>
          </a:prstGeom>
          <a:noFill/>
          <a:ln/>
        </p:spPr>
        <p:txBody>
          <a:bodyPr wrap="square" lIns="0" tIns="0" rIns="0" bIns="0" rtlCol="0" anchor="ctr"/>
          <a:lstStyle/>
          <a:p>
            <a:pPr indent="0" marL="0">
              <a:buNone/>
            </a:pPr>
            <a:r>
              <a:rPr lang="en-US" sz="1250" dirty="0">
                <a:solidFill>
                  <a:srgbClr val="2B3A55"/>
                </a:solidFill>
              </a:rPr>
              <a:t>Hindi voice reply, Soundbox confirm, then: "₹50,000 ka loan eligible hai — bhejun?"</a:t>
            </a:r>
            <a:endParaRPr lang="en-US" sz="1250" dirty="0"/>
          </a:p>
        </p:txBody>
      </p:sp>
      <p:sp>
        <p:nvSpPr>
          <p:cNvPr id="40" name="Text 38"/>
          <p:cNvSpPr txBox="1"/>
          <p:nvPr/>
        </p:nvSpPr>
        <p:spPr>
          <a:xfrm>
            <a:off x="594360" y="5961888"/>
            <a:ext cx="11000232" cy="310896"/>
          </a:xfrm>
          <a:prstGeom prst="rect">
            <a:avLst/>
          </a:prstGeom>
          <a:noFill/>
          <a:ln/>
        </p:spPr>
        <p:txBody>
          <a:bodyPr wrap="square" lIns="0" tIns="0" rIns="0" bIns="0" rtlCol="0" anchor="ctr"/>
          <a:lstStyle/>
          <a:p>
            <a:pPr indent="0" marL="0">
              <a:buNone/>
            </a:pPr>
            <a:r>
              <a:rPr lang="en-US" sz="1300" b="1" i="1" dirty="0">
                <a:solidFill>
                  <a:srgbClr val="0A1B3D"/>
                </a:solidFill>
              </a:rPr>
              <a:t>Total: 3.5 seconds, zero human touches, one auditable action log — and one qualified lending lead.</a:t>
            </a:r>
            <a:endParaRPr lang="en-US" sz="1300" dirty="0"/>
          </a:p>
        </p:txBody>
      </p:sp>
      <p:sp>
        <p:nvSpPr>
          <p:cNvPr id="42" name="Text 2"/>
          <p:cNvSpPr/>
          <p:nvPr>
            <p:ph idx="105" hasCustomPrompt="1"/>
          </p:nvPr>
        </p:nvSpPr>
        <p:spPr>
          <a:xfrm>
            <a:off x="11338560" y="6355080"/>
            <a:ext cx="457200" cy="292608"/>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94360" y="384048"/>
            <a:ext cx="10515600" cy="274320"/>
          </a:xfrm>
          <a:prstGeom prst="rect">
            <a:avLst/>
          </a:prstGeom>
          <a:noFill/>
          <a:ln/>
        </p:spPr>
        <p:txBody>
          <a:bodyPr wrap="square" lIns="0" tIns="0" rIns="0" bIns="0" rtlCol="0" anchor="ctr"/>
          <a:lstStyle/>
          <a:p>
            <a:pPr indent="0" marL="0">
              <a:buNone/>
            </a:pPr>
            <a:r>
              <a:rPr lang="en-US" sz="1100" b="1" spc="220" kern="0" dirty="0">
                <a:solidFill>
                  <a:srgbClr val="00BAF2"/>
                </a:solidFill>
              </a:rPr>
              <a:t>HOW IT WORKS</a:t>
            </a:r>
            <a:endParaRPr lang="en-US" sz="1100" dirty="0"/>
          </a:p>
        </p:txBody>
      </p:sp>
      <p:sp>
        <p:nvSpPr>
          <p:cNvPr id="3" name="Text 1"/>
          <p:cNvSpPr/>
          <p:nvPr>
            <p:ph idx="102" type="title" hasCustomPrompt="1"/>
          </p:nvPr>
        </p:nvSpPr>
        <p:spPr>
          <a:xfrm>
            <a:off x="594360" y="676656"/>
            <a:ext cx="10972800" cy="621792"/>
          </a:xfrm>
          <a:prstGeom prst="rect">
            <a:avLst/>
          </a:prstGeom>
          <a:noFill/>
          <a:ln/>
        </p:spPr>
        <p:txBody>
          <a:bodyPr wrap="square" lIns="0" tIns="0" rIns="0" bIns="0" rtlCol="0" anchor="ctr"/>
          <a:lstStyle/>
          <a:p>
            <a:pPr algn="l" indent="0" marL="0">
              <a:buNone/>
            </a:pPr>
            <a:r>
              <a:rPr lang="en-US" sz="3200" b="1" dirty="0">
                <a:solidFill>
                  <a:srgbClr val="0A1B3D"/>
                </a:solidFill>
              </a:rPr>
              <a:t>One orchestrator, five agents</a:t>
            </a:r>
            <a:endParaRPr lang="en-US" sz="3200" dirty="0"/>
          </a:p>
        </p:txBody>
      </p:sp>
      <p:sp>
        <p:nvSpPr>
          <p:cNvPr id="4" name="Text 1"/>
          <p:cNvSpPr/>
          <p:nvPr>
            <p:ph idx="103" type="body" hasCustomPrompt="1"/>
          </p:nvPr>
        </p:nvSpPr>
        <p:spPr>
          <a:xfrm>
            <a:off x="594360" y="1316736"/>
            <a:ext cx="10607040" cy="566928"/>
          </a:xfrm>
          <a:prstGeom prst="rect">
            <a:avLst/>
          </a:prstGeom>
          <a:noFill/>
          <a:ln/>
        </p:spPr>
        <p:txBody>
          <a:bodyPr wrap="square" lIns="0" tIns="0" rIns="0" bIns="0" rtlCol="0" anchor="t"/>
          <a:lstStyle/>
          <a:p>
            <a:pPr indent="0" marL="0">
              <a:buNone/>
            </a:pPr>
            <a:r>
              <a:rPr lang="en-US" sz="1350" dirty="0">
                <a:solidFill>
                  <a:srgbClr val="6C7A93"/>
                </a:solidFill>
              </a:rPr>
              <a:t>Deliberately small. Every agent has a typed contract, a single responsibility and its own test suite — so each one can be evaluated, swapped and audited independently.</a:t>
            </a:r>
            <a:endParaRPr lang="en-US" sz="1350" dirty="0"/>
          </a:p>
        </p:txBody>
      </p:sp>
      <p:sp>
        <p:nvSpPr>
          <p:cNvPr id="5" name="Text 3"/>
          <p:cNvSpPr txBox="1"/>
          <p:nvPr/>
        </p:nvSpPr>
        <p:spPr>
          <a:xfrm>
            <a:off x="594360" y="1975104"/>
            <a:ext cx="3566160" cy="274320"/>
          </a:xfrm>
          <a:prstGeom prst="rect">
            <a:avLst/>
          </a:prstGeom>
          <a:noFill/>
          <a:ln/>
        </p:spPr>
        <p:txBody>
          <a:bodyPr wrap="square" lIns="0" tIns="0" rIns="0" bIns="0" rtlCol="0" anchor="ctr"/>
          <a:lstStyle/>
          <a:p>
            <a:pPr indent="0" marL="0">
              <a:buNone/>
            </a:pPr>
            <a:r>
              <a:rPr lang="en-US" sz="1050" b="1" spc="180" kern="0" dirty="0">
                <a:solidFill>
                  <a:srgbClr val="00BAF2"/>
                </a:solidFill>
              </a:rPr>
              <a:t>UNDERSTAND &amp; ROUTE</a:t>
            </a:r>
            <a:endParaRPr lang="en-US" sz="1050" dirty="0"/>
          </a:p>
        </p:txBody>
      </p:sp>
      <p:sp>
        <p:nvSpPr>
          <p:cNvPr id="6" name="Text 4"/>
          <p:cNvSpPr txBox="1"/>
          <p:nvPr/>
        </p:nvSpPr>
        <p:spPr>
          <a:xfrm>
            <a:off x="4526280" y="1975104"/>
            <a:ext cx="3136392" cy="274320"/>
          </a:xfrm>
          <a:prstGeom prst="rect">
            <a:avLst/>
          </a:prstGeom>
          <a:noFill/>
          <a:ln/>
        </p:spPr>
        <p:txBody>
          <a:bodyPr wrap="square" lIns="0" tIns="0" rIns="0" bIns="0" rtlCol="0" anchor="ctr"/>
          <a:lstStyle/>
          <a:p>
            <a:pPr indent="0" marL="0">
              <a:buNone/>
            </a:pPr>
            <a:r>
              <a:rPr lang="en-US" sz="1050" b="1" spc="180" kern="0" dirty="0">
                <a:solidFill>
                  <a:srgbClr val="6C7A93"/>
                </a:solidFill>
              </a:rPr>
              <a:t>DECIDE</a:t>
            </a:r>
            <a:endParaRPr lang="en-US" sz="1050" dirty="0"/>
          </a:p>
        </p:txBody>
      </p:sp>
      <p:sp>
        <p:nvSpPr>
          <p:cNvPr id="7" name="Text 5"/>
          <p:cNvSpPr txBox="1"/>
          <p:nvPr/>
        </p:nvSpPr>
        <p:spPr>
          <a:xfrm>
            <a:off x="8028432" y="1975104"/>
            <a:ext cx="3566160" cy="274320"/>
          </a:xfrm>
          <a:prstGeom prst="rect">
            <a:avLst/>
          </a:prstGeom>
          <a:noFill/>
          <a:ln/>
        </p:spPr>
        <p:txBody>
          <a:bodyPr wrap="square" lIns="0" tIns="0" rIns="0" bIns="0" rtlCol="0" anchor="ctr"/>
          <a:lstStyle/>
          <a:p>
            <a:pPr indent="0" marL="0">
              <a:buNone/>
            </a:pPr>
            <a:r>
              <a:rPr lang="en-US" sz="1050" b="1" spc="180" kern="0" dirty="0">
                <a:solidFill>
                  <a:srgbClr val="F5A623"/>
                </a:solidFill>
              </a:rPr>
              <a:t>ACT &amp; PROTECT</a:t>
            </a:r>
            <a:endParaRPr lang="en-US" sz="1050" dirty="0"/>
          </a:p>
        </p:txBody>
      </p:sp>
      <p:sp>
        <p:nvSpPr>
          <p:cNvPr id="8" name="Intent &amp; Language Agent"/>
          <p:cNvSpPr/>
          <p:nvPr/>
        </p:nvSpPr>
        <p:spPr>
          <a:xfrm>
            <a:off x="594360" y="2304288"/>
            <a:ext cx="3566160" cy="1691640"/>
          </a:xfrm>
          <a:prstGeom prst="roundRect">
            <a:avLst>
              <a:gd name="adj" fmla="val 4324"/>
            </a:avLst>
          </a:prstGeom>
          <a:solidFill>
            <a:srgbClr val="F1F5FB"/>
          </a:solidFill>
          <a:ln w="12700">
            <a:solidFill>
              <a:srgbClr val="F1F5FB"/>
            </a:solidFill>
            <a:prstDash val="solid"/>
          </a:ln>
        </p:spPr>
      </p:sp>
      <p:sp>
        <p:nvSpPr>
          <p:cNvPr id="9" name="Text 7"/>
          <p:cNvSpPr txBox="1"/>
          <p:nvPr/>
        </p:nvSpPr>
        <p:spPr>
          <a:xfrm>
            <a:off x="850392" y="2478024"/>
            <a:ext cx="3054096" cy="384048"/>
          </a:xfrm>
          <a:prstGeom prst="rect">
            <a:avLst/>
          </a:prstGeom>
          <a:noFill/>
          <a:ln/>
        </p:spPr>
        <p:txBody>
          <a:bodyPr wrap="square" lIns="0" tIns="0" rIns="0" bIns="0" rtlCol="0" anchor="ctr"/>
          <a:lstStyle/>
          <a:p>
            <a:pPr indent="0" marL="0">
              <a:buNone/>
            </a:pPr>
            <a:r>
              <a:rPr lang="en-US" sz="1400" b="1" dirty="0">
                <a:solidFill>
                  <a:srgbClr val="0A1B3D"/>
                </a:solidFill>
              </a:rPr>
              <a:t>Intent &amp; Language Agent</a:t>
            </a:r>
            <a:endParaRPr lang="en-US" sz="1400" dirty="0"/>
          </a:p>
        </p:txBody>
      </p:sp>
      <p:sp>
        <p:nvSpPr>
          <p:cNvPr id="10" name="Text 8"/>
          <p:cNvSpPr txBox="1"/>
          <p:nvPr/>
        </p:nvSpPr>
        <p:spPr>
          <a:xfrm>
            <a:off x="850392" y="2926080"/>
            <a:ext cx="3054096" cy="905256"/>
          </a:xfrm>
          <a:prstGeom prst="rect">
            <a:avLst/>
          </a:prstGeom>
          <a:noFill/>
          <a:ln/>
        </p:spPr>
        <p:txBody>
          <a:bodyPr wrap="square" lIns="0" tIns="0" rIns="0" bIns="0" rtlCol="0" anchor="t"/>
          <a:lstStyle/>
          <a:p>
            <a:pPr indent="0" marL="0">
              <a:lnSpc>
                <a:spcPct val="108000"/>
              </a:lnSpc>
              <a:buNone/>
            </a:pPr>
            <a:r>
              <a:rPr lang="en-US" sz="1350" dirty="0">
                <a:solidFill>
                  <a:srgbClr val="435270"/>
                </a:solidFill>
              </a:rPr>
              <a:t>Classifies support vs sales, detects language and urgency, handles code-mixed Hinglish.</a:t>
            </a:r>
            <a:endParaRPr lang="en-US" sz="1350" dirty="0"/>
          </a:p>
        </p:txBody>
      </p:sp>
      <p:sp>
        <p:nvSpPr>
          <p:cNvPr id="11" name="Context Agent (360°)"/>
          <p:cNvSpPr/>
          <p:nvPr/>
        </p:nvSpPr>
        <p:spPr>
          <a:xfrm>
            <a:off x="594360" y="4206240"/>
            <a:ext cx="3566160" cy="1691640"/>
          </a:xfrm>
          <a:prstGeom prst="roundRect">
            <a:avLst>
              <a:gd name="adj" fmla="val 4324"/>
            </a:avLst>
          </a:prstGeom>
          <a:solidFill>
            <a:srgbClr val="F1F5FB"/>
          </a:solidFill>
          <a:ln w="12700">
            <a:solidFill>
              <a:srgbClr val="F1F5FB"/>
            </a:solidFill>
            <a:prstDash val="solid"/>
          </a:ln>
        </p:spPr>
      </p:sp>
      <p:sp>
        <p:nvSpPr>
          <p:cNvPr id="12" name="Text 10"/>
          <p:cNvSpPr txBox="1"/>
          <p:nvPr/>
        </p:nvSpPr>
        <p:spPr>
          <a:xfrm>
            <a:off x="850392" y="4379976"/>
            <a:ext cx="3054096" cy="384048"/>
          </a:xfrm>
          <a:prstGeom prst="rect">
            <a:avLst/>
          </a:prstGeom>
          <a:noFill/>
          <a:ln/>
        </p:spPr>
        <p:txBody>
          <a:bodyPr wrap="square" lIns="0" tIns="0" rIns="0" bIns="0" rtlCol="0" anchor="ctr"/>
          <a:lstStyle/>
          <a:p>
            <a:pPr indent="0" marL="0">
              <a:buNone/>
            </a:pPr>
            <a:r>
              <a:rPr lang="en-US" sz="1400" b="1" dirty="0">
                <a:solidFill>
                  <a:srgbClr val="0A1B3D"/>
                </a:solidFill>
              </a:rPr>
              <a:t>Context Agent (360°)</a:t>
            </a:r>
            <a:endParaRPr lang="en-US" sz="1400" dirty="0"/>
          </a:p>
        </p:txBody>
      </p:sp>
      <p:sp>
        <p:nvSpPr>
          <p:cNvPr id="13" name="Text 11"/>
          <p:cNvSpPr txBox="1"/>
          <p:nvPr/>
        </p:nvSpPr>
        <p:spPr>
          <a:xfrm>
            <a:off x="850392" y="4828032"/>
            <a:ext cx="3054096" cy="905256"/>
          </a:xfrm>
          <a:prstGeom prst="rect">
            <a:avLst/>
          </a:prstGeom>
          <a:noFill/>
          <a:ln/>
        </p:spPr>
        <p:txBody>
          <a:bodyPr wrap="square" lIns="0" tIns="0" rIns="0" bIns="0" rtlCol="0" anchor="t"/>
          <a:lstStyle/>
          <a:p>
            <a:pPr indent="0" marL="0">
              <a:lnSpc>
                <a:spcPct val="108000"/>
              </a:lnSpc>
              <a:buNone/>
            </a:pPr>
            <a:r>
              <a:rPr lang="en-US" sz="1350" dirty="0">
                <a:solidFill>
                  <a:srgbClr val="435270"/>
                </a:solidFill>
              </a:rPr>
              <a:t>Assembles the merchant graph: transactions, settlements, tickets, device and loan state.</a:t>
            </a:r>
            <a:endParaRPr lang="en-US" sz="1350" dirty="0"/>
          </a:p>
        </p:txBody>
      </p:sp>
      <p:sp>
        <p:nvSpPr>
          <p:cNvPr id="14" name="orchestrator"/>
          <p:cNvSpPr/>
          <p:nvPr/>
        </p:nvSpPr>
        <p:spPr>
          <a:xfrm>
            <a:off x="4526280" y="2971800"/>
            <a:ext cx="3136392" cy="2194560"/>
          </a:xfrm>
          <a:prstGeom prst="roundRect">
            <a:avLst>
              <a:gd name="adj" fmla="val 3333"/>
            </a:avLst>
          </a:prstGeom>
          <a:solidFill>
            <a:srgbClr val="0A1B3D"/>
          </a:solidFill>
          <a:ln w="12700">
            <a:solidFill>
              <a:srgbClr val="0A1B3D"/>
            </a:solidFill>
            <a:prstDash val="solid"/>
          </a:ln>
        </p:spPr>
      </p:sp>
      <p:sp>
        <p:nvSpPr>
          <p:cNvPr id="15" name="Text 13"/>
          <p:cNvSpPr txBox="1"/>
          <p:nvPr/>
        </p:nvSpPr>
        <p:spPr>
          <a:xfrm>
            <a:off x="4754880" y="3200400"/>
            <a:ext cx="2679192" cy="384048"/>
          </a:xfrm>
          <a:prstGeom prst="rect">
            <a:avLst/>
          </a:prstGeom>
          <a:noFill/>
          <a:ln/>
        </p:spPr>
        <p:txBody>
          <a:bodyPr wrap="square" lIns="0" tIns="0" rIns="0" bIns="0" rtlCol="0" anchor="ctr"/>
          <a:lstStyle/>
          <a:p>
            <a:pPr algn="ctr" indent="0" marL="0">
              <a:buNone/>
            </a:pPr>
            <a:r>
              <a:rPr lang="en-US" sz="1800" b="1" dirty="0">
                <a:solidFill>
                  <a:srgbClr val="FFFFFF"/>
                </a:solidFill>
              </a:rPr>
              <a:t>Orchestrator</a:t>
            </a:r>
            <a:endParaRPr lang="en-US" sz="1800" dirty="0"/>
          </a:p>
        </p:txBody>
      </p:sp>
      <p:sp>
        <p:nvSpPr>
          <p:cNvPr id="16" name="Text 14"/>
          <p:cNvSpPr txBox="1"/>
          <p:nvPr/>
        </p:nvSpPr>
        <p:spPr>
          <a:xfrm>
            <a:off x="4754880" y="3639312"/>
            <a:ext cx="2679192" cy="1280160"/>
          </a:xfrm>
          <a:prstGeom prst="rect">
            <a:avLst/>
          </a:prstGeom>
          <a:noFill/>
          <a:ln/>
        </p:spPr>
        <p:txBody>
          <a:bodyPr wrap="square" lIns="0" tIns="0" rIns="0" bIns="0" rtlCol="0" anchor="ctr"/>
          <a:lstStyle/>
          <a:p>
            <a:pPr algn="ctr" indent="0" marL="0">
              <a:lnSpc>
                <a:spcPct val="105000"/>
              </a:lnSpc>
              <a:buNone/>
            </a:pPr>
            <a:r>
              <a:rPr lang="en-US" sz="1250" dirty="0">
                <a:solidFill>
                  <a:srgbClr val="BCCCE4"/>
                </a:solidFill>
              </a:rPr>
              <a:t>A typed state machine, not a prompt chain. Plans the action sequence, enforces order, retries deterministically, and records every step.</a:t>
            </a:r>
            <a:endParaRPr lang="en-US" sz="1250" dirty="0"/>
          </a:p>
        </p:txBody>
      </p:sp>
      <p:sp>
        <p:nvSpPr>
          <p:cNvPr id="17" name="Action Agent"/>
          <p:cNvSpPr/>
          <p:nvPr/>
        </p:nvSpPr>
        <p:spPr>
          <a:xfrm>
            <a:off x="8028432" y="2304288"/>
            <a:ext cx="3566160" cy="1097280"/>
          </a:xfrm>
          <a:prstGeom prst="roundRect">
            <a:avLst>
              <a:gd name="adj" fmla="val 6667"/>
            </a:avLst>
          </a:prstGeom>
          <a:solidFill>
            <a:srgbClr val="F1F5FB"/>
          </a:solidFill>
          <a:ln w="12700">
            <a:solidFill>
              <a:srgbClr val="F1F5FB"/>
            </a:solidFill>
            <a:prstDash val="solid"/>
          </a:ln>
        </p:spPr>
      </p:sp>
      <p:sp>
        <p:nvSpPr>
          <p:cNvPr id="18" name="Text 16"/>
          <p:cNvSpPr txBox="1"/>
          <p:nvPr/>
        </p:nvSpPr>
        <p:spPr>
          <a:xfrm>
            <a:off x="8284464" y="2478024"/>
            <a:ext cx="3054096" cy="384048"/>
          </a:xfrm>
          <a:prstGeom prst="rect">
            <a:avLst/>
          </a:prstGeom>
          <a:noFill/>
          <a:ln/>
        </p:spPr>
        <p:txBody>
          <a:bodyPr wrap="square" lIns="0" tIns="0" rIns="0" bIns="0" rtlCol="0" anchor="ctr"/>
          <a:lstStyle/>
          <a:p>
            <a:pPr indent="0" marL="0">
              <a:buNone/>
            </a:pPr>
            <a:r>
              <a:rPr lang="en-US" sz="1400" b="1" dirty="0">
                <a:solidFill>
                  <a:srgbClr val="0A1B3D"/>
                </a:solidFill>
              </a:rPr>
              <a:t>Action Agent</a:t>
            </a:r>
            <a:endParaRPr lang="en-US" sz="1400" dirty="0"/>
          </a:p>
        </p:txBody>
      </p:sp>
      <p:sp>
        <p:nvSpPr>
          <p:cNvPr id="19" name="Text 17"/>
          <p:cNvSpPr txBox="1"/>
          <p:nvPr/>
        </p:nvSpPr>
        <p:spPr>
          <a:xfrm>
            <a:off x="8284464" y="2926080"/>
            <a:ext cx="3054096" cy="310896"/>
          </a:xfrm>
          <a:prstGeom prst="rect">
            <a:avLst/>
          </a:prstGeom>
          <a:noFill/>
          <a:ln/>
        </p:spPr>
        <p:txBody>
          <a:bodyPr wrap="square" lIns="0" tIns="0" rIns="0" bIns="0" rtlCol="0" anchor="t"/>
          <a:lstStyle/>
          <a:p>
            <a:pPr indent="0" marL="0">
              <a:lnSpc>
                <a:spcPct val="108000"/>
              </a:lnSpc>
              <a:buNone/>
            </a:pPr>
            <a:r>
              <a:rPr lang="en-US" sz="1250" dirty="0">
                <a:solidFill>
                  <a:srgbClr val="435270"/>
                </a:solidFill>
              </a:rPr>
              <a:t>Idempotent, signed calls into payments, CRM and ticketing.</a:t>
            </a:r>
            <a:endParaRPr lang="en-US" sz="1250" dirty="0"/>
          </a:p>
        </p:txBody>
      </p:sp>
      <p:sp>
        <p:nvSpPr>
          <p:cNvPr id="20" name="Guardrail Agent"/>
          <p:cNvSpPr/>
          <p:nvPr/>
        </p:nvSpPr>
        <p:spPr>
          <a:xfrm>
            <a:off x="8028432" y="3520440"/>
            <a:ext cx="3566160" cy="1097280"/>
          </a:xfrm>
          <a:prstGeom prst="roundRect">
            <a:avLst>
              <a:gd name="adj" fmla="val 6667"/>
            </a:avLst>
          </a:prstGeom>
          <a:solidFill>
            <a:srgbClr val="F1F5FB"/>
          </a:solidFill>
          <a:ln w="12700">
            <a:solidFill>
              <a:srgbClr val="F1F5FB"/>
            </a:solidFill>
            <a:prstDash val="solid"/>
          </a:ln>
        </p:spPr>
      </p:sp>
      <p:sp>
        <p:nvSpPr>
          <p:cNvPr id="21" name="Text 19"/>
          <p:cNvSpPr txBox="1"/>
          <p:nvPr/>
        </p:nvSpPr>
        <p:spPr>
          <a:xfrm>
            <a:off x="8284464" y="3694176"/>
            <a:ext cx="3054096" cy="384048"/>
          </a:xfrm>
          <a:prstGeom prst="rect">
            <a:avLst/>
          </a:prstGeom>
          <a:noFill/>
          <a:ln/>
        </p:spPr>
        <p:txBody>
          <a:bodyPr wrap="square" lIns="0" tIns="0" rIns="0" bIns="0" rtlCol="0" anchor="ctr"/>
          <a:lstStyle/>
          <a:p>
            <a:pPr indent="0" marL="0">
              <a:buNone/>
            </a:pPr>
            <a:r>
              <a:rPr lang="en-US" sz="1400" b="1" dirty="0">
                <a:solidFill>
                  <a:srgbClr val="0A1B3D"/>
                </a:solidFill>
              </a:rPr>
              <a:t>Guardrail Agent</a:t>
            </a:r>
            <a:endParaRPr lang="en-US" sz="1400" dirty="0"/>
          </a:p>
        </p:txBody>
      </p:sp>
      <p:sp>
        <p:nvSpPr>
          <p:cNvPr id="22" name="Text 20"/>
          <p:cNvSpPr txBox="1"/>
          <p:nvPr/>
        </p:nvSpPr>
        <p:spPr>
          <a:xfrm>
            <a:off x="8284464" y="4142232"/>
            <a:ext cx="3054096" cy="310896"/>
          </a:xfrm>
          <a:prstGeom prst="rect">
            <a:avLst/>
          </a:prstGeom>
          <a:noFill/>
          <a:ln/>
        </p:spPr>
        <p:txBody>
          <a:bodyPr wrap="square" lIns="0" tIns="0" rIns="0" bIns="0" rtlCol="0" anchor="t"/>
          <a:lstStyle/>
          <a:p>
            <a:pPr indent="0" marL="0">
              <a:lnSpc>
                <a:spcPct val="108000"/>
              </a:lnSpc>
              <a:buNone/>
            </a:pPr>
            <a:r>
              <a:rPr lang="en-US" sz="1250" dirty="0">
                <a:solidFill>
                  <a:srgbClr val="435270"/>
                </a:solidFill>
              </a:rPr>
              <a:t>Value limits, consent, PII masking, rollback token — before execution.</a:t>
            </a:r>
            <a:endParaRPr lang="en-US" sz="1250" dirty="0"/>
          </a:p>
        </p:txBody>
      </p:sp>
      <p:sp>
        <p:nvSpPr>
          <p:cNvPr id="23" name="Handoff Agent"/>
          <p:cNvSpPr/>
          <p:nvPr/>
        </p:nvSpPr>
        <p:spPr>
          <a:xfrm>
            <a:off x="8028432" y="4736592"/>
            <a:ext cx="3566160" cy="1161288"/>
          </a:xfrm>
          <a:prstGeom prst="roundRect">
            <a:avLst>
              <a:gd name="adj" fmla="val 6299"/>
            </a:avLst>
          </a:prstGeom>
          <a:solidFill>
            <a:srgbClr val="F1F5FB"/>
          </a:solidFill>
          <a:ln w="12700">
            <a:solidFill>
              <a:srgbClr val="F1F5FB"/>
            </a:solidFill>
            <a:prstDash val="solid"/>
          </a:ln>
        </p:spPr>
      </p:sp>
      <p:sp>
        <p:nvSpPr>
          <p:cNvPr id="24" name="Text 22"/>
          <p:cNvSpPr txBox="1"/>
          <p:nvPr/>
        </p:nvSpPr>
        <p:spPr>
          <a:xfrm>
            <a:off x="8284464" y="4910328"/>
            <a:ext cx="3054096" cy="384048"/>
          </a:xfrm>
          <a:prstGeom prst="rect">
            <a:avLst/>
          </a:prstGeom>
          <a:noFill/>
          <a:ln/>
        </p:spPr>
        <p:txBody>
          <a:bodyPr wrap="square" lIns="0" tIns="0" rIns="0" bIns="0" rtlCol="0" anchor="ctr"/>
          <a:lstStyle/>
          <a:p>
            <a:pPr indent="0" marL="0">
              <a:buNone/>
            </a:pPr>
            <a:r>
              <a:rPr lang="en-US" sz="1400" b="1" dirty="0">
                <a:solidFill>
                  <a:srgbClr val="0A1B3D"/>
                </a:solidFill>
              </a:rPr>
              <a:t>Handoff Agent</a:t>
            </a:r>
            <a:endParaRPr lang="en-US" sz="1400" dirty="0"/>
          </a:p>
        </p:txBody>
      </p:sp>
      <p:sp>
        <p:nvSpPr>
          <p:cNvPr id="25" name="Text 23"/>
          <p:cNvSpPr txBox="1"/>
          <p:nvPr/>
        </p:nvSpPr>
        <p:spPr>
          <a:xfrm>
            <a:off x="8284464" y="5358384"/>
            <a:ext cx="3054096" cy="374904"/>
          </a:xfrm>
          <a:prstGeom prst="rect">
            <a:avLst/>
          </a:prstGeom>
          <a:noFill/>
          <a:ln/>
        </p:spPr>
        <p:txBody>
          <a:bodyPr wrap="square" lIns="0" tIns="0" rIns="0" bIns="0" rtlCol="0" anchor="t"/>
          <a:lstStyle/>
          <a:p>
            <a:pPr indent="0" marL="0">
              <a:lnSpc>
                <a:spcPct val="108000"/>
              </a:lnSpc>
              <a:buNone/>
            </a:pPr>
            <a:r>
              <a:rPr lang="en-US" sz="1250" dirty="0">
                <a:solidFill>
                  <a:srgbClr val="435270"/>
                </a:solidFill>
              </a:rPr>
              <a:t>Writes a human teammate a decision brief with the full action trail.</a:t>
            </a:r>
            <a:endParaRPr lang="en-US" sz="1250" dirty="0"/>
          </a:p>
        </p:txBody>
      </p:sp>
      <p:sp>
        <p:nvSpPr>
          <p:cNvPr id="26" name="Shape 24"/>
          <p:cNvSpPr/>
          <p:nvPr/>
        </p:nvSpPr>
        <p:spPr>
          <a:xfrm>
            <a:off x="4224528" y="3977640"/>
            <a:ext cx="237744" cy="182880"/>
          </a:xfrm>
          <a:prstGeom prst="rightArrow">
            <a:avLst/>
          </a:prstGeom>
          <a:solidFill>
            <a:srgbClr val="6C7A93"/>
          </a:solidFill>
          <a:ln w="12700">
            <a:solidFill>
              <a:srgbClr val="6C7A93"/>
            </a:solidFill>
            <a:prstDash val="solid"/>
          </a:ln>
        </p:spPr>
      </p:sp>
      <p:sp>
        <p:nvSpPr>
          <p:cNvPr id="27" name="Shape 25"/>
          <p:cNvSpPr/>
          <p:nvPr/>
        </p:nvSpPr>
        <p:spPr>
          <a:xfrm>
            <a:off x="7726680" y="3977640"/>
            <a:ext cx="237744" cy="182880"/>
          </a:xfrm>
          <a:prstGeom prst="rightArrow">
            <a:avLst/>
          </a:prstGeom>
          <a:solidFill>
            <a:srgbClr val="6C7A93"/>
          </a:solidFill>
          <a:ln w="12700">
            <a:solidFill>
              <a:srgbClr val="6C7A93"/>
            </a:solidFill>
            <a:prstDash val="solid"/>
          </a:ln>
        </p:spPr>
      </p:sp>
      <p:sp>
        <p:nvSpPr>
          <p:cNvPr id="28" name="Text 26"/>
          <p:cNvSpPr txBox="1"/>
          <p:nvPr/>
        </p:nvSpPr>
        <p:spPr>
          <a:xfrm>
            <a:off x="594360" y="6053328"/>
            <a:ext cx="11000232" cy="292608"/>
          </a:xfrm>
          <a:prstGeom prst="rect">
            <a:avLst/>
          </a:prstGeom>
          <a:noFill/>
          <a:ln/>
        </p:spPr>
        <p:txBody>
          <a:bodyPr wrap="square" lIns="0" tIns="0" rIns="0" bIns="0" rtlCol="0" anchor="ctr"/>
          <a:lstStyle/>
          <a:p>
            <a:pPr indent="0" marL="0">
              <a:buNone/>
            </a:pPr>
            <a:r>
              <a:rPr lang="en-US" sz="1250" i="1" dirty="0">
                <a:solidFill>
                  <a:srgbClr val="6C7A93"/>
                </a:solidFill>
              </a:rPr>
              <a:t>Nine agents is a red flag. Five with contracts is a system.</a:t>
            </a:r>
            <a:endParaRPr lang="en-US" sz="1250" dirty="0"/>
          </a:p>
        </p:txBody>
      </p:sp>
      <p:sp>
        <p:nvSpPr>
          <p:cNvPr id="30" name="Text 2"/>
          <p:cNvSpPr/>
          <p:nvPr>
            <p:ph idx="105" hasCustomPrompt="1"/>
          </p:nvPr>
        </p:nvSpPr>
        <p:spPr>
          <a:xfrm>
            <a:off x="11338560" y="6355080"/>
            <a:ext cx="457200" cy="292608"/>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94360" y="384048"/>
            <a:ext cx="10515600" cy="274320"/>
          </a:xfrm>
          <a:prstGeom prst="rect">
            <a:avLst/>
          </a:prstGeom>
          <a:noFill/>
          <a:ln/>
        </p:spPr>
        <p:txBody>
          <a:bodyPr wrap="square" lIns="0" tIns="0" rIns="0" bIns="0" rtlCol="0" anchor="ctr"/>
          <a:lstStyle/>
          <a:p>
            <a:pPr indent="0" marL="0">
              <a:buNone/>
            </a:pPr>
            <a:r>
              <a:rPr lang="en-US" sz="1100" b="1" spc="220" kern="0" dirty="0">
                <a:solidFill>
                  <a:srgbClr val="00BAF2"/>
                </a:solidFill>
              </a:rPr>
              <a:t>TECHNOLOGY / TECH STACK</a:t>
            </a:r>
            <a:endParaRPr lang="en-US" sz="1100" dirty="0"/>
          </a:p>
        </p:txBody>
      </p:sp>
      <p:sp>
        <p:nvSpPr>
          <p:cNvPr id="3" name="Text 1"/>
          <p:cNvSpPr/>
          <p:nvPr>
            <p:ph idx="102" type="title" hasCustomPrompt="1"/>
          </p:nvPr>
        </p:nvSpPr>
        <p:spPr>
          <a:xfrm>
            <a:off x="594360" y="676656"/>
            <a:ext cx="10972800" cy="621792"/>
          </a:xfrm>
          <a:prstGeom prst="rect">
            <a:avLst/>
          </a:prstGeom>
          <a:noFill/>
          <a:ln/>
        </p:spPr>
        <p:txBody>
          <a:bodyPr wrap="square" lIns="0" tIns="0" rIns="0" bIns="0" rtlCol="0" anchor="ctr"/>
          <a:lstStyle/>
          <a:p>
            <a:pPr algn="l" indent="0" marL="0">
              <a:buNone/>
            </a:pPr>
            <a:r>
              <a:rPr lang="en-US" sz="3200" b="1" dirty="0">
                <a:solidFill>
                  <a:srgbClr val="0A1B3D"/>
                </a:solidFill>
              </a:rPr>
              <a:t>An India-cost agentic stack</a:t>
            </a:r>
            <a:endParaRPr lang="en-US" sz="3200" dirty="0"/>
          </a:p>
        </p:txBody>
      </p:sp>
      <p:sp>
        <p:nvSpPr>
          <p:cNvPr id="4" name="Text 1"/>
          <p:cNvSpPr/>
          <p:nvPr>
            <p:ph idx="103" type="body" hasCustomPrompt="1"/>
          </p:nvPr>
        </p:nvSpPr>
        <p:spPr>
          <a:xfrm>
            <a:off x="594360" y="1316736"/>
            <a:ext cx="10607040" cy="566928"/>
          </a:xfrm>
          <a:prstGeom prst="rect">
            <a:avLst/>
          </a:prstGeom>
          <a:noFill/>
          <a:ln/>
        </p:spPr>
        <p:txBody>
          <a:bodyPr wrap="square" lIns="0" tIns="0" rIns="0" bIns="0" rtlCol="0" anchor="t"/>
          <a:lstStyle/>
          <a:p>
            <a:pPr indent="0" marL="0">
              <a:buNone/>
            </a:pPr>
            <a:r>
              <a:rPr lang="en-US" sz="1350" dirty="0">
                <a:solidFill>
                  <a:srgbClr val="6C7A93"/>
                </a:solidFill>
              </a:rPr>
              <a:t>Paytm's stated direction is applied AI on open-source foundations, with small language models tuned for the SMB context and Indian languages. We built to that reality, not around it.</a:t>
            </a:r>
            <a:endParaRPr lang="en-US" sz="1350" dirty="0"/>
          </a:p>
        </p:txBody>
      </p:sp>
      <p:sp>
        <p:nvSpPr>
          <p:cNvPr id="5" name="Model routing"/>
          <p:cNvSpPr/>
          <p:nvPr/>
        </p:nvSpPr>
        <p:spPr>
          <a:xfrm>
            <a:off x="594360" y="2057400"/>
            <a:ext cx="3502152" cy="1664208"/>
          </a:xfrm>
          <a:prstGeom prst="roundRect">
            <a:avLst>
              <a:gd name="adj" fmla="val 4396"/>
            </a:avLst>
          </a:prstGeom>
          <a:solidFill>
            <a:srgbClr val="F1F5FB"/>
          </a:solidFill>
          <a:ln w="12700">
            <a:solidFill>
              <a:srgbClr val="F1F5FB"/>
            </a:solidFill>
            <a:prstDash val="solid"/>
          </a:ln>
        </p:spPr>
      </p:sp>
      <p:sp>
        <p:nvSpPr>
          <p:cNvPr id="6" name="Text 4"/>
          <p:cNvSpPr txBox="1"/>
          <p:nvPr/>
        </p:nvSpPr>
        <p:spPr>
          <a:xfrm>
            <a:off x="850392" y="2231136"/>
            <a:ext cx="2990088" cy="384048"/>
          </a:xfrm>
          <a:prstGeom prst="rect">
            <a:avLst/>
          </a:prstGeom>
          <a:noFill/>
          <a:ln/>
        </p:spPr>
        <p:txBody>
          <a:bodyPr wrap="square" lIns="0" tIns="0" rIns="0" bIns="0" rtlCol="0" anchor="ctr"/>
          <a:lstStyle/>
          <a:p>
            <a:pPr indent="0" marL="0">
              <a:buNone/>
            </a:pPr>
            <a:r>
              <a:rPr lang="en-US" sz="1450" b="1" dirty="0">
                <a:solidFill>
                  <a:srgbClr val="0A1B3D"/>
                </a:solidFill>
              </a:rPr>
              <a:t>Model routing</a:t>
            </a:r>
            <a:endParaRPr lang="en-US" sz="1450" dirty="0"/>
          </a:p>
        </p:txBody>
      </p:sp>
      <p:sp>
        <p:nvSpPr>
          <p:cNvPr id="7" name="Text 5"/>
          <p:cNvSpPr txBox="1"/>
          <p:nvPr/>
        </p:nvSpPr>
        <p:spPr>
          <a:xfrm>
            <a:off x="850392" y="2679192"/>
            <a:ext cx="2990088" cy="877824"/>
          </a:xfrm>
          <a:prstGeom prst="rect">
            <a:avLst/>
          </a:prstGeom>
          <a:noFill/>
          <a:ln/>
        </p:spPr>
        <p:txBody>
          <a:bodyPr wrap="square" lIns="0" tIns="0" rIns="0" bIns="0" rtlCol="0" anchor="t"/>
          <a:lstStyle/>
          <a:p>
            <a:pPr indent="0" marL="0">
              <a:lnSpc>
                <a:spcPct val="108000"/>
              </a:lnSpc>
              <a:buNone/>
            </a:pPr>
            <a:r>
              <a:rPr lang="en-US" sz="1250" dirty="0">
                <a:solidFill>
                  <a:srgbClr val="435270"/>
                </a:solidFill>
              </a:rPr>
              <a:t>Fine-tuned open-source SLM handles ~80% of turns; a frontier model is called only for complex planning and ambiguity.</a:t>
            </a:r>
            <a:endParaRPr lang="en-US" sz="1250" dirty="0"/>
          </a:p>
        </p:txBody>
      </p:sp>
      <p:sp>
        <p:nvSpPr>
          <p:cNvPr id="8" name="Shape 6"/>
          <p:cNvSpPr/>
          <p:nvPr/>
        </p:nvSpPr>
        <p:spPr>
          <a:xfrm>
            <a:off x="3703320" y="2331720"/>
            <a:ext cx="182880" cy="182880"/>
          </a:xfrm>
          <a:prstGeom prst="ellipse">
            <a:avLst/>
          </a:prstGeom>
          <a:solidFill>
            <a:srgbClr val="F5A623"/>
          </a:solidFill>
          <a:ln w="12700">
            <a:solidFill>
              <a:srgbClr val="F5A623"/>
            </a:solidFill>
            <a:prstDash val="solid"/>
          </a:ln>
        </p:spPr>
      </p:sp>
      <p:sp>
        <p:nvSpPr>
          <p:cNvPr id="9" name="Orchestration"/>
          <p:cNvSpPr/>
          <p:nvPr/>
        </p:nvSpPr>
        <p:spPr>
          <a:xfrm>
            <a:off x="4315968" y="2057400"/>
            <a:ext cx="3502152" cy="1664208"/>
          </a:xfrm>
          <a:prstGeom prst="roundRect">
            <a:avLst>
              <a:gd name="adj" fmla="val 4396"/>
            </a:avLst>
          </a:prstGeom>
          <a:solidFill>
            <a:srgbClr val="F1F5FB"/>
          </a:solidFill>
          <a:ln w="12700">
            <a:solidFill>
              <a:srgbClr val="F1F5FB"/>
            </a:solidFill>
            <a:prstDash val="solid"/>
          </a:ln>
        </p:spPr>
      </p:sp>
      <p:sp>
        <p:nvSpPr>
          <p:cNvPr id="10" name="Text 8"/>
          <p:cNvSpPr txBox="1"/>
          <p:nvPr/>
        </p:nvSpPr>
        <p:spPr>
          <a:xfrm>
            <a:off x="4572000" y="2231136"/>
            <a:ext cx="2990088" cy="384048"/>
          </a:xfrm>
          <a:prstGeom prst="rect">
            <a:avLst/>
          </a:prstGeom>
          <a:noFill/>
          <a:ln/>
        </p:spPr>
        <p:txBody>
          <a:bodyPr wrap="square" lIns="0" tIns="0" rIns="0" bIns="0" rtlCol="0" anchor="ctr"/>
          <a:lstStyle/>
          <a:p>
            <a:pPr indent="0" marL="0">
              <a:buNone/>
            </a:pPr>
            <a:r>
              <a:rPr lang="en-US" sz="1450" b="1" dirty="0">
                <a:solidFill>
                  <a:srgbClr val="0A1B3D"/>
                </a:solidFill>
              </a:rPr>
              <a:t>Orchestration</a:t>
            </a:r>
            <a:endParaRPr lang="en-US" sz="1450" dirty="0"/>
          </a:p>
        </p:txBody>
      </p:sp>
      <p:sp>
        <p:nvSpPr>
          <p:cNvPr id="11" name="Text 9"/>
          <p:cNvSpPr txBox="1"/>
          <p:nvPr/>
        </p:nvSpPr>
        <p:spPr>
          <a:xfrm>
            <a:off x="4572000" y="2679192"/>
            <a:ext cx="2990088" cy="877824"/>
          </a:xfrm>
          <a:prstGeom prst="rect">
            <a:avLst/>
          </a:prstGeom>
          <a:noFill/>
          <a:ln/>
        </p:spPr>
        <p:txBody>
          <a:bodyPr wrap="square" lIns="0" tIns="0" rIns="0" bIns="0" rtlCol="0" anchor="t"/>
          <a:lstStyle/>
          <a:p>
            <a:pPr indent="0" marL="0">
              <a:lnSpc>
                <a:spcPct val="108000"/>
              </a:lnSpc>
              <a:buNone/>
            </a:pPr>
            <a:r>
              <a:rPr lang="en-US" sz="1250" dirty="0">
                <a:solidFill>
                  <a:srgbClr val="435270"/>
                </a:solidFill>
              </a:rPr>
              <a:t>LangGraph state machine with typed tool schemas, deterministic retries and full step-level tracing.</a:t>
            </a:r>
            <a:endParaRPr lang="en-US" sz="1250" dirty="0"/>
          </a:p>
        </p:txBody>
      </p:sp>
      <p:sp>
        <p:nvSpPr>
          <p:cNvPr id="12" name="Shape 10"/>
          <p:cNvSpPr/>
          <p:nvPr/>
        </p:nvSpPr>
        <p:spPr>
          <a:xfrm>
            <a:off x="7424928" y="2331720"/>
            <a:ext cx="182880" cy="182880"/>
          </a:xfrm>
          <a:prstGeom prst="ellipse">
            <a:avLst/>
          </a:prstGeom>
          <a:solidFill>
            <a:srgbClr val="00BAF2"/>
          </a:solidFill>
          <a:ln w="12700">
            <a:solidFill>
              <a:srgbClr val="00BAF2"/>
            </a:solidFill>
            <a:prstDash val="solid"/>
          </a:ln>
        </p:spPr>
      </p:sp>
      <p:sp>
        <p:nvSpPr>
          <p:cNvPr id="13" name="Voice &amp; vernacular"/>
          <p:cNvSpPr/>
          <p:nvPr/>
        </p:nvSpPr>
        <p:spPr>
          <a:xfrm>
            <a:off x="8037576" y="2057400"/>
            <a:ext cx="3502152" cy="1664208"/>
          </a:xfrm>
          <a:prstGeom prst="roundRect">
            <a:avLst>
              <a:gd name="adj" fmla="val 4396"/>
            </a:avLst>
          </a:prstGeom>
          <a:solidFill>
            <a:srgbClr val="F1F5FB"/>
          </a:solidFill>
          <a:ln w="12700">
            <a:solidFill>
              <a:srgbClr val="F1F5FB"/>
            </a:solidFill>
            <a:prstDash val="solid"/>
          </a:ln>
        </p:spPr>
      </p:sp>
      <p:sp>
        <p:nvSpPr>
          <p:cNvPr id="14" name="Text 12"/>
          <p:cNvSpPr txBox="1"/>
          <p:nvPr/>
        </p:nvSpPr>
        <p:spPr>
          <a:xfrm>
            <a:off x="8293608" y="2231136"/>
            <a:ext cx="2990088" cy="384048"/>
          </a:xfrm>
          <a:prstGeom prst="rect">
            <a:avLst/>
          </a:prstGeom>
          <a:noFill/>
          <a:ln/>
        </p:spPr>
        <p:txBody>
          <a:bodyPr wrap="square" lIns="0" tIns="0" rIns="0" bIns="0" rtlCol="0" anchor="ctr"/>
          <a:lstStyle/>
          <a:p>
            <a:pPr indent="0" marL="0">
              <a:buNone/>
            </a:pPr>
            <a:r>
              <a:rPr lang="en-US" sz="1450" b="1" dirty="0">
                <a:solidFill>
                  <a:srgbClr val="0A1B3D"/>
                </a:solidFill>
              </a:rPr>
              <a:t>Voice &amp; vernacular</a:t>
            </a:r>
            <a:endParaRPr lang="en-US" sz="1450" dirty="0"/>
          </a:p>
        </p:txBody>
      </p:sp>
      <p:sp>
        <p:nvSpPr>
          <p:cNvPr id="15" name="Text 13"/>
          <p:cNvSpPr txBox="1"/>
          <p:nvPr/>
        </p:nvSpPr>
        <p:spPr>
          <a:xfrm>
            <a:off x="8293608" y="2679192"/>
            <a:ext cx="2990088" cy="877824"/>
          </a:xfrm>
          <a:prstGeom prst="rect">
            <a:avLst/>
          </a:prstGeom>
          <a:noFill/>
          <a:ln/>
        </p:spPr>
        <p:txBody>
          <a:bodyPr wrap="square" lIns="0" tIns="0" rIns="0" bIns="0" rtlCol="0" anchor="t"/>
          <a:lstStyle/>
          <a:p>
            <a:pPr indent="0" marL="0">
              <a:lnSpc>
                <a:spcPct val="108000"/>
              </a:lnSpc>
              <a:buNone/>
            </a:pPr>
            <a:r>
              <a:rPr lang="en-US" sz="1250" dirty="0">
                <a:solidFill>
                  <a:srgbClr val="435270"/>
                </a:solidFill>
              </a:rPr>
              <a:t>Streaming ASR + TTS across 11 Indian languages, with code-mixed Hinglish and noisy-shopfront handling.</a:t>
            </a:r>
            <a:endParaRPr lang="en-US" sz="1250" dirty="0"/>
          </a:p>
        </p:txBody>
      </p:sp>
      <p:sp>
        <p:nvSpPr>
          <p:cNvPr id="16" name="Shape 14"/>
          <p:cNvSpPr/>
          <p:nvPr/>
        </p:nvSpPr>
        <p:spPr>
          <a:xfrm>
            <a:off x="11146536" y="2331720"/>
            <a:ext cx="182880" cy="182880"/>
          </a:xfrm>
          <a:prstGeom prst="ellipse">
            <a:avLst/>
          </a:prstGeom>
          <a:solidFill>
            <a:srgbClr val="00BAF2"/>
          </a:solidFill>
          <a:ln w="12700">
            <a:solidFill>
              <a:srgbClr val="00BAF2"/>
            </a:solidFill>
            <a:prstDash val="solid"/>
          </a:ln>
        </p:spPr>
      </p:sp>
      <p:sp>
        <p:nvSpPr>
          <p:cNvPr id="17" name="Merchant 360 data"/>
          <p:cNvSpPr/>
          <p:nvPr/>
        </p:nvSpPr>
        <p:spPr>
          <a:xfrm>
            <a:off x="594360" y="3886200"/>
            <a:ext cx="3502152" cy="1664208"/>
          </a:xfrm>
          <a:prstGeom prst="roundRect">
            <a:avLst>
              <a:gd name="adj" fmla="val 4396"/>
            </a:avLst>
          </a:prstGeom>
          <a:solidFill>
            <a:srgbClr val="F1F5FB"/>
          </a:solidFill>
          <a:ln w="12700">
            <a:solidFill>
              <a:srgbClr val="F1F5FB"/>
            </a:solidFill>
            <a:prstDash val="solid"/>
          </a:ln>
        </p:spPr>
      </p:sp>
      <p:sp>
        <p:nvSpPr>
          <p:cNvPr id="18" name="Text 16"/>
          <p:cNvSpPr txBox="1"/>
          <p:nvPr/>
        </p:nvSpPr>
        <p:spPr>
          <a:xfrm>
            <a:off x="850392" y="4059936"/>
            <a:ext cx="2990088" cy="384048"/>
          </a:xfrm>
          <a:prstGeom prst="rect">
            <a:avLst/>
          </a:prstGeom>
          <a:noFill/>
          <a:ln/>
        </p:spPr>
        <p:txBody>
          <a:bodyPr wrap="square" lIns="0" tIns="0" rIns="0" bIns="0" rtlCol="0" anchor="ctr"/>
          <a:lstStyle/>
          <a:p>
            <a:pPr indent="0" marL="0">
              <a:buNone/>
            </a:pPr>
            <a:r>
              <a:rPr lang="en-US" sz="1450" b="1" dirty="0">
                <a:solidFill>
                  <a:srgbClr val="0A1B3D"/>
                </a:solidFill>
              </a:rPr>
              <a:t>Merchant 360 data</a:t>
            </a:r>
            <a:endParaRPr lang="en-US" sz="1450" dirty="0"/>
          </a:p>
        </p:txBody>
      </p:sp>
      <p:sp>
        <p:nvSpPr>
          <p:cNvPr id="19" name="Text 17"/>
          <p:cNvSpPr txBox="1"/>
          <p:nvPr/>
        </p:nvSpPr>
        <p:spPr>
          <a:xfrm>
            <a:off x="850392" y="4507992"/>
            <a:ext cx="2990088" cy="877824"/>
          </a:xfrm>
          <a:prstGeom prst="rect">
            <a:avLst/>
          </a:prstGeom>
          <a:noFill/>
          <a:ln/>
        </p:spPr>
        <p:txBody>
          <a:bodyPr wrap="square" lIns="0" tIns="0" rIns="0" bIns="0" rtlCol="0" anchor="t"/>
          <a:lstStyle/>
          <a:p>
            <a:pPr indent="0" marL="0">
              <a:lnSpc>
                <a:spcPct val="108000"/>
              </a:lnSpc>
              <a:buNone/>
            </a:pPr>
            <a:r>
              <a:rPr lang="en-US" sz="1250" dirty="0">
                <a:solidFill>
                  <a:srgbClr val="435270"/>
                </a:solidFill>
              </a:rPr>
              <a:t>SQL + feature layer over transactions, settlements, tickets, device status and loan eligibility.</a:t>
            </a:r>
            <a:endParaRPr lang="en-US" sz="1250" dirty="0"/>
          </a:p>
        </p:txBody>
      </p:sp>
      <p:sp>
        <p:nvSpPr>
          <p:cNvPr id="20" name="Shape 18"/>
          <p:cNvSpPr/>
          <p:nvPr/>
        </p:nvSpPr>
        <p:spPr>
          <a:xfrm>
            <a:off x="3703320" y="4160520"/>
            <a:ext cx="182880" cy="182880"/>
          </a:xfrm>
          <a:prstGeom prst="ellipse">
            <a:avLst/>
          </a:prstGeom>
          <a:solidFill>
            <a:srgbClr val="00BAF2"/>
          </a:solidFill>
          <a:ln w="12700">
            <a:solidFill>
              <a:srgbClr val="00BAF2"/>
            </a:solidFill>
            <a:prstDash val="solid"/>
          </a:ln>
        </p:spPr>
      </p:sp>
      <p:sp>
        <p:nvSpPr>
          <p:cNvPr id="21" name="Action integrations"/>
          <p:cNvSpPr/>
          <p:nvPr/>
        </p:nvSpPr>
        <p:spPr>
          <a:xfrm>
            <a:off x="4315968" y="3886200"/>
            <a:ext cx="3502152" cy="1664208"/>
          </a:xfrm>
          <a:prstGeom prst="roundRect">
            <a:avLst>
              <a:gd name="adj" fmla="val 4396"/>
            </a:avLst>
          </a:prstGeom>
          <a:solidFill>
            <a:srgbClr val="F1F5FB"/>
          </a:solidFill>
          <a:ln w="12700">
            <a:solidFill>
              <a:srgbClr val="F1F5FB"/>
            </a:solidFill>
            <a:prstDash val="solid"/>
          </a:ln>
        </p:spPr>
      </p:sp>
      <p:sp>
        <p:nvSpPr>
          <p:cNvPr id="22" name="Text 20"/>
          <p:cNvSpPr txBox="1"/>
          <p:nvPr/>
        </p:nvSpPr>
        <p:spPr>
          <a:xfrm>
            <a:off x="4572000" y="4059936"/>
            <a:ext cx="2990088" cy="384048"/>
          </a:xfrm>
          <a:prstGeom prst="rect">
            <a:avLst/>
          </a:prstGeom>
          <a:noFill/>
          <a:ln/>
        </p:spPr>
        <p:txBody>
          <a:bodyPr wrap="square" lIns="0" tIns="0" rIns="0" bIns="0" rtlCol="0" anchor="ctr"/>
          <a:lstStyle/>
          <a:p>
            <a:pPr indent="0" marL="0">
              <a:buNone/>
            </a:pPr>
            <a:r>
              <a:rPr lang="en-US" sz="1450" b="1" dirty="0">
                <a:solidFill>
                  <a:srgbClr val="0A1B3D"/>
                </a:solidFill>
              </a:rPr>
              <a:t>Action integrations</a:t>
            </a:r>
            <a:endParaRPr lang="en-US" sz="1450" dirty="0"/>
          </a:p>
        </p:txBody>
      </p:sp>
      <p:sp>
        <p:nvSpPr>
          <p:cNvPr id="23" name="Text 21"/>
          <p:cNvSpPr txBox="1"/>
          <p:nvPr/>
        </p:nvSpPr>
        <p:spPr>
          <a:xfrm>
            <a:off x="4572000" y="4507992"/>
            <a:ext cx="2990088" cy="877824"/>
          </a:xfrm>
          <a:prstGeom prst="rect">
            <a:avLst/>
          </a:prstGeom>
          <a:noFill/>
          <a:ln/>
        </p:spPr>
        <p:txBody>
          <a:bodyPr wrap="square" lIns="0" tIns="0" rIns="0" bIns="0" rtlCol="0" anchor="t"/>
          <a:lstStyle/>
          <a:p>
            <a:pPr indent="0" marL="0">
              <a:lnSpc>
                <a:spcPct val="108000"/>
              </a:lnSpc>
              <a:buNone/>
            </a:pPr>
            <a:r>
              <a:rPr lang="en-US" sz="1250" dirty="0">
                <a:solidFill>
                  <a:srgbClr val="435270"/>
                </a:solidFill>
              </a:rPr>
              <a:t>Idempotent, signed API calls into payments, CRM and ticketing — every call carries a rollback token.</a:t>
            </a:r>
            <a:endParaRPr lang="en-US" sz="1250" dirty="0"/>
          </a:p>
        </p:txBody>
      </p:sp>
      <p:sp>
        <p:nvSpPr>
          <p:cNvPr id="24" name="Shape 22"/>
          <p:cNvSpPr/>
          <p:nvPr/>
        </p:nvSpPr>
        <p:spPr>
          <a:xfrm>
            <a:off x="7424928" y="4160520"/>
            <a:ext cx="182880" cy="182880"/>
          </a:xfrm>
          <a:prstGeom prst="ellipse">
            <a:avLst/>
          </a:prstGeom>
          <a:solidFill>
            <a:srgbClr val="F5A623"/>
          </a:solidFill>
          <a:ln w="12700">
            <a:solidFill>
              <a:srgbClr val="F5A623"/>
            </a:solidFill>
            <a:prstDash val="solid"/>
          </a:ln>
        </p:spPr>
      </p:sp>
      <p:sp>
        <p:nvSpPr>
          <p:cNvPr id="25" name="Safety layer"/>
          <p:cNvSpPr/>
          <p:nvPr/>
        </p:nvSpPr>
        <p:spPr>
          <a:xfrm>
            <a:off x="8037576" y="3886200"/>
            <a:ext cx="3502152" cy="1664208"/>
          </a:xfrm>
          <a:prstGeom prst="roundRect">
            <a:avLst>
              <a:gd name="adj" fmla="val 4396"/>
            </a:avLst>
          </a:prstGeom>
          <a:solidFill>
            <a:srgbClr val="F1F5FB"/>
          </a:solidFill>
          <a:ln w="12700">
            <a:solidFill>
              <a:srgbClr val="F1F5FB"/>
            </a:solidFill>
            <a:prstDash val="solid"/>
          </a:ln>
        </p:spPr>
      </p:sp>
      <p:sp>
        <p:nvSpPr>
          <p:cNvPr id="26" name="Text 24"/>
          <p:cNvSpPr txBox="1"/>
          <p:nvPr/>
        </p:nvSpPr>
        <p:spPr>
          <a:xfrm>
            <a:off x="8293608" y="4059936"/>
            <a:ext cx="2990088" cy="384048"/>
          </a:xfrm>
          <a:prstGeom prst="rect">
            <a:avLst/>
          </a:prstGeom>
          <a:noFill/>
          <a:ln/>
        </p:spPr>
        <p:txBody>
          <a:bodyPr wrap="square" lIns="0" tIns="0" rIns="0" bIns="0" rtlCol="0" anchor="ctr"/>
          <a:lstStyle/>
          <a:p>
            <a:pPr indent="0" marL="0">
              <a:buNone/>
            </a:pPr>
            <a:r>
              <a:rPr lang="en-US" sz="1450" b="1" dirty="0">
                <a:solidFill>
                  <a:srgbClr val="0A1B3D"/>
                </a:solidFill>
              </a:rPr>
              <a:t>Safety layer</a:t>
            </a:r>
            <a:endParaRPr lang="en-US" sz="1450" dirty="0"/>
          </a:p>
        </p:txBody>
      </p:sp>
      <p:sp>
        <p:nvSpPr>
          <p:cNvPr id="27" name="Text 25"/>
          <p:cNvSpPr txBox="1"/>
          <p:nvPr/>
        </p:nvSpPr>
        <p:spPr>
          <a:xfrm>
            <a:off x="8293608" y="4507992"/>
            <a:ext cx="2990088" cy="877824"/>
          </a:xfrm>
          <a:prstGeom prst="rect">
            <a:avLst/>
          </a:prstGeom>
          <a:noFill/>
          <a:ln/>
        </p:spPr>
        <p:txBody>
          <a:bodyPr wrap="square" lIns="0" tIns="0" rIns="0" bIns="0" rtlCol="0" anchor="t"/>
          <a:lstStyle/>
          <a:p>
            <a:pPr indent="0" marL="0">
              <a:lnSpc>
                <a:spcPct val="108000"/>
              </a:lnSpc>
              <a:buNone/>
            </a:pPr>
            <a:r>
              <a:rPr lang="en-US" sz="1250" dirty="0">
                <a:solidFill>
                  <a:srgbClr val="435270"/>
                </a:solidFill>
              </a:rPr>
              <a:t>Policy engine, value limits, PII redaction, prompt-injection filters and an immutable action audit log.</a:t>
            </a:r>
            <a:endParaRPr lang="en-US" sz="1250" dirty="0"/>
          </a:p>
        </p:txBody>
      </p:sp>
      <p:sp>
        <p:nvSpPr>
          <p:cNvPr id="28" name="Shape 26"/>
          <p:cNvSpPr/>
          <p:nvPr/>
        </p:nvSpPr>
        <p:spPr>
          <a:xfrm>
            <a:off x="11146536" y="4160520"/>
            <a:ext cx="182880" cy="182880"/>
          </a:xfrm>
          <a:prstGeom prst="ellipse">
            <a:avLst/>
          </a:prstGeom>
          <a:solidFill>
            <a:srgbClr val="2BB673"/>
          </a:solidFill>
          <a:ln w="12700">
            <a:solidFill>
              <a:srgbClr val="2BB673"/>
            </a:solidFill>
            <a:prstDash val="solid"/>
          </a:ln>
        </p:spPr>
      </p:sp>
      <p:sp>
        <p:nvSpPr>
          <p:cNvPr id="29" name="unitecon"/>
          <p:cNvSpPr/>
          <p:nvPr/>
        </p:nvSpPr>
        <p:spPr>
          <a:xfrm>
            <a:off x="594360" y="5687568"/>
            <a:ext cx="11000232" cy="566928"/>
          </a:xfrm>
          <a:prstGeom prst="roundRect">
            <a:avLst>
              <a:gd name="adj" fmla="val 8065"/>
            </a:avLst>
          </a:prstGeom>
          <a:solidFill>
            <a:srgbClr val="0A1B3D"/>
          </a:solidFill>
          <a:ln w="12700">
            <a:solidFill>
              <a:srgbClr val="0A1B3D"/>
            </a:solidFill>
            <a:prstDash val="solid"/>
          </a:ln>
        </p:spPr>
      </p:sp>
      <p:sp>
        <p:nvSpPr>
          <p:cNvPr id="30" name="Text 28"/>
          <p:cNvSpPr txBox="1"/>
          <p:nvPr/>
        </p:nvSpPr>
        <p:spPr>
          <a:xfrm>
            <a:off x="914400" y="5687568"/>
            <a:ext cx="10332720" cy="566928"/>
          </a:xfrm>
          <a:prstGeom prst="rect">
            <a:avLst/>
          </a:prstGeom>
          <a:noFill/>
          <a:ln/>
        </p:spPr>
        <p:txBody>
          <a:bodyPr wrap="square" lIns="0" tIns="0" rIns="0" bIns="0" rtlCol="0" anchor="ctr"/>
          <a:lstStyle/>
          <a:p>
            <a:pPr indent="0" marL="0">
              <a:buNone/>
            </a:pPr>
            <a:r>
              <a:rPr lang="en-US" sz="1300" b="1" dirty="0">
                <a:solidFill>
                  <a:srgbClr val="FFFFFF"/>
                </a:solidFill>
              </a:rPr>
              <a:t>Unit economics are the design constraint: at crore scale, cost per resolved conversation matters more than model benchmarks. Our target is under ₹3.</a:t>
            </a:r>
            <a:endParaRPr lang="en-US" sz="1300" dirty="0"/>
          </a:p>
        </p:txBody>
      </p:sp>
      <p:sp>
        <p:nvSpPr>
          <p:cNvPr id="32" name="Text 2"/>
          <p:cNvSpPr/>
          <p:nvPr>
            <p:ph idx="105" hasCustomPrompt="1"/>
          </p:nvPr>
        </p:nvSpPr>
        <p:spPr>
          <a:xfrm>
            <a:off x="11338560" y="6355080"/>
            <a:ext cx="457200" cy="292608"/>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94360" y="384048"/>
            <a:ext cx="10515600" cy="274320"/>
          </a:xfrm>
          <a:prstGeom prst="rect">
            <a:avLst/>
          </a:prstGeom>
          <a:noFill/>
          <a:ln/>
        </p:spPr>
        <p:txBody>
          <a:bodyPr wrap="square" lIns="0" tIns="0" rIns="0" bIns="0" rtlCol="0" anchor="ctr"/>
          <a:lstStyle/>
          <a:p>
            <a:pPr indent="0" marL="0">
              <a:buNone/>
            </a:pPr>
            <a:r>
              <a:rPr lang="en-US" sz="1100" b="1" spc="220" kern="0" dirty="0">
                <a:solidFill>
                  <a:srgbClr val="00BAF2"/>
                </a:solidFill>
              </a:rPr>
              <a:t>WORKING ALONGSIDE HUMANS</a:t>
            </a:r>
            <a:endParaRPr lang="en-US" sz="1100" dirty="0"/>
          </a:p>
        </p:txBody>
      </p:sp>
      <p:sp>
        <p:nvSpPr>
          <p:cNvPr id="3" name="Text 1"/>
          <p:cNvSpPr/>
          <p:nvPr>
            <p:ph idx="102" type="title" hasCustomPrompt="1"/>
          </p:nvPr>
        </p:nvSpPr>
        <p:spPr>
          <a:xfrm>
            <a:off x="594360" y="676656"/>
            <a:ext cx="10972800" cy="621792"/>
          </a:xfrm>
          <a:prstGeom prst="rect">
            <a:avLst/>
          </a:prstGeom>
          <a:noFill/>
          <a:ln/>
        </p:spPr>
        <p:txBody>
          <a:bodyPr wrap="square" lIns="0" tIns="0" rIns="0" bIns="0" rtlCol="0" anchor="ctr"/>
          <a:lstStyle/>
          <a:p>
            <a:pPr algn="l" indent="0" marL="0">
              <a:buNone/>
            </a:pPr>
            <a:r>
              <a:rPr lang="en-US" sz="3200" b="1" dirty="0">
                <a:solidFill>
                  <a:srgbClr val="FFFFFF"/>
                </a:solidFill>
              </a:rPr>
              <a:t>Built for human teams, not instead of them</a:t>
            </a:r>
            <a:endParaRPr lang="en-US" sz="3200" dirty="0"/>
          </a:p>
        </p:txBody>
      </p:sp>
      <p:sp>
        <p:nvSpPr>
          <p:cNvPr id="4" name="Text 1"/>
          <p:cNvSpPr/>
          <p:nvPr>
            <p:ph idx="103" type="body" hasCustomPrompt="1"/>
          </p:nvPr>
        </p:nvSpPr>
        <p:spPr>
          <a:xfrm>
            <a:off x="594360" y="1316736"/>
            <a:ext cx="10607040" cy="566928"/>
          </a:xfrm>
          <a:prstGeom prst="rect">
            <a:avLst/>
          </a:prstGeom>
          <a:noFill/>
          <a:ln/>
        </p:spPr>
        <p:txBody>
          <a:bodyPr wrap="square" lIns="0" tIns="0" rIns="0" bIns="0" rtlCol="0" anchor="t"/>
          <a:lstStyle/>
          <a:p>
            <a:pPr indent="0" marL="0">
              <a:buNone/>
            </a:pPr>
            <a:r>
              <a:rPr lang="en-US" sz="1350" dirty="0">
                <a:solidFill>
                  <a:srgbClr val="AFC2DC"/>
                </a:solidFill>
              </a:rPr>
              <a:t>The track asks for agents that work alongside human teams. Most submissions will build a merchant-facing bot and stop. Chaukas ships in two modes from day one.</a:t>
            </a:r>
            <a:endParaRPr lang="en-US" sz="1350" dirty="0"/>
          </a:p>
        </p:txBody>
      </p:sp>
      <p:sp>
        <p:nvSpPr>
          <p:cNvPr id="5" name="Mode 1 — Merchant-facing"/>
          <p:cNvSpPr/>
          <p:nvPr/>
        </p:nvSpPr>
        <p:spPr>
          <a:xfrm>
            <a:off x="594360" y="2103120"/>
            <a:ext cx="5394960" cy="2286000"/>
          </a:xfrm>
          <a:prstGeom prst="roundRect">
            <a:avLst>
              <a:gd name="adj" fmla="val 3200"/>
            </a:avLst>
          </a:prstGeom>
          <a:solidFill>
            <a:srgbClr val="1F3A68"/>
          </a:solidFill>
          <a:ln w="12700">
            <a:solidFill>
              <a:srgbClr val="1F3A68"/>
            </a:solidFill>
            <a:prstDash val="solid"/>
          </a:ln>
        </p:spPr>
      </p:sp>
      <p:sp>
        <p:nvSpPr>
          <p:cNvPr id="6" name="Text 4"/>
          <p:cNvSpPr txBox="1"/>
          <p:nvPr/>
        </p:nvSpPr>
        <p:spPr>
          <a:xfrm>
            <a:off x="850392" y="2276856"/>
            <a:ext cx="4882896" cy="384048"/>
          </a:xfrm>
          <a:prstGeom prst="rect">
            <a:avLst/>
          </a:prstGeom>
          <a:noFill/>
          <a:ln/>
        </p:spPr>
        <p:txBody>
          <a:bodyPr wrap="square" lIns="0" tIns="0" rIns="0" bIns="0" rtlCol="0" anchor="ctr"/>
          <a:lstStyle/>
          <a:p>
            <a:pPr indent="0" marL="0">
              <a:buNone/>
            </a:pPr>
            <a:r>
              <a:rPr lang="en-US" sz="1700" b="1" dirty="0">
                <a:solidFill>
                  <a:srgbClr val="FFFFFF"/>
                </a:solidFill>
              </a:rPr>
              <a:t>Mode 1 — Merchant-facing</a:t>
            </a:r>
            <a:endParaRPr lang="en-US" sz="1700" dirty="0"/>
          </a:p>
        </p:txBody>
      </p:sp>
      <p:sp>
        <p:nvSpPr>
          <p:cNvPr id="7" name="Text 5"/>
          <p:cNvSpPr txBox="1"/>
          <p:nvPr/>
        </p:nvSpPr>
        <p:spPr>
          <a:xfrm>
            <a:off x="850392" y="2724912"/>
            <a:ext cx="4882896" cy="1499616"/>
          </a:xfrm>
          <a:prstGeom prst="rect">
            <a:avLst/>
          </a:prstGeom>
          <a:noFill/>
          <a:ln/>
        </p:spPr>
        <p:txBody>
          <a:bodyPr wrap="square" lIns="0" tIns="0" rIns="0" bIns="0" rtlCol="0" anchor="t"/>
          <a:lstStyle/>
          <a:p>
            <a:pPr indent="0" marL="0">
              <a:lnSpc>
                <a:spcPct val="108000"/>
              </a:lnSpc>
              <a:buNone/>
            </a:pPr>
            <a:r>
              <a:rPr lang="en-US" sz="1350" dirty="0">
                <a:solidFill>
                  <a:srgbClr val="BCCCE4"/>
                </a:solidFill>
              </a:rPr>
              <a:t>Voice or chat, in the merchant's own language, on the Soundbox and the Paytm for Business app. Resolves the request autonomously inside policy limits, and asks for consent before anything irreversible.</a:t>
            </a:r>
            <a:endParaRPr lang="en-US" sz="1350" dirty="0"/>
          </a:p>
        </p:txBody>
      </p:sp>
      <p:sp>
        <p:nvSpPr>
          <p:cNvPr id="8" name="Mode 2 — Teammate copilo"/>
          <p:cNvSpPr/>
          <p:nvPr/>
        </p:nvSpPr>
        <p:spPr>
          <a:xfrm>
            <a:off x="6199632" y="2103120"/>
            <a:ext cx="5394960" cy="2286000"/>
          </a:xfrm>
          <a:prstGeom prst="roundRect">
            <a:avLst>
              <a:gd name="adj" fmla="val 3200"/>
            </a:avLst>
          </a:prstGeom>
          <a:solidFill>
            <a:srgbClr val="1F3A68"/>
          </a:solidFill>
          <a:ln w="12700">
            <a:solidFill>
              <a:srgbClr val="1F3A68"/>
            </a:solidFill>
            <a:prstDash val="solid"/>
          </a:ln>
        </p:spPr>
      </p:sp>
      <p:sp>
        <p:nvSpPr>
          <p:cNvPr id="9" name="Text 7"/>
          <p:cNvSpPr txBox="1"/>
          <p:nvPr/>
        </p:nvSpPr>
        <p:spPr>
          <a:xfrm>
            <a:off x="6455664" y="2276856"/>
            <a:ext cx="4882896" cy="384048"/>
          </a:xfrm>
          <a:prstGeom prst="rect">
            <a:avLst/>
          </a:prstGeom>
          <a:noFill/>
          <a:ln/>
        </p:spPr>
        <p:txBody>
          <a:bodyPr wrap="square" lIns="0" tIns="0" rIns="0" bIns="0" rtlCol="0" anchor="ctr"/>
          <a:lstStyle/>
          <a:p>
            <a:pPr indent="0" marL="0">
              <a:buNone/>
            </a:pPr>
            <a:r>
              <a:rPr lang="en-US" sz="1700" b="1" dirty="0">
                <a:solidFill>
                  <a:srgbClr val="FFFFFF"/>
                </a:solidFill>
              </a:rPr>
              <a:t>Mode 2 — Teammate copilot</a:t>
            </a:r>
            <a:endParaRPr lang="en-US" sz="1700" dirty="0"/>
          </a:p>
        </p:txBody>
      </p:sp>
      <p:sp>
        <p:nvSpPr>
          <p:cNvPr id="10" name="Text 8"/>
          <p:cNvSpPr txBox="1"/>
          <p:nvPr/>
        </p:nvSpPr>
        <p:spPr>
          <a:xfrm>
            <a:off x="6455664" y="2724912"/>
            <a:ext cx="4882896" cy="1499616"/>
          </a:xfrm>
          <a:prstGeom prst="rect">
            <a:avLst/>
          </a:prstGeom>
          <a:noFill/>
          <a:ln/>
        </p:spPr>
        <p:txBody>
          <a:bodyPr wrap="square" lIns="0" tIns="0" rIns="0" bIns="0" rtlCol="0" anchor="t"/>
          <a:lstStyle/>
          <a:p>
            <a:pPr indent="0" marL="0">
              <a:lnSpc>
                <a:spcPct val="108000"/>
              </a:lnSpc>
              <a:buNone/>
            </a:pPr>
            <a:r>
              <a:rPr lang="en-US" sz="1350" dirty="0">
                <a:solidFill>
                  <a:srgbClr val="BCCCE4"/>
                </a:solidFill>
              </a:rPr>
              <a:t>The same agent sits inside the support agent's desk and the field sales executive's app: pre-fetched context, a drafted resolution, a one-click execute, and the next-best lending action for that merchant.</a:t>
            </a:r>
            <a:endParaRPr lang="en-US" sz="1350" dirty="0"/>
          </a:p>
        </p:txBody>
      </p:sp>
      <p:sp>
        <p:nvSpPr>
          <p:cNvPr id="11" name="handoff"/>
          <p:cNvSpPr/>
          <p:nvPr/>
        </p:nvSpPr>
        <p:spPr>
          <a:xfrm>
            <a:off x="594360" y="4572000"/>
            <a:ext cx="11000232" cy="1371600"/>
          </a:xfrm>
          <a:prstGeom prst="roundRect">
            <a:avLst>
              <a:gd name="adj" fmla="val 4000"/>
            </a:avLst>
          </a:prstGeom>
          <a:solidFill>
            <a:srgbClr val="1F3A68"/>
          </a:solidFill>
          <a:ln w="15875">
            <a:solidFill>
              <a:srgbClr val="F5A623"/>
            </a:solidFill>
            <a:prstDash val="solid"/>
          </a:ln>
        </p:spPr>
      </p:sp>
      <p:sp>
        <p:nvSpPr>
          <p:cNvPr id="12" name="Text 10"/>
          <p:cNvSpPr txBox="1"/>
          <p:nvPr/>
        </p:nvSpPr>
        <p:spPr>
          <a:xfrm>
            <a:off x="914400" y="4754880"/>
            <a:ext cx="4572000" cy="237744"/>
          </a:xfrm>
          <a:prstGeom prst="rect">
            <a:avLst/>
          </a:prstGeom>
          <a:noFill/>
          <a:ln/>
        </p:spPr>
        <p:txBody>
          <a:bodyPr wrap="square" lIns="0" tIns="0" rIns="0" bIns="0" rtlCol="0" anchor="ctr"/>
          <a:lstStyle/>
          <a:p>
            <a:pPr indent="0" marL="0">
              <a:buNone/>
            </a:pPr>
            <a:r>
              <a:rPr lang="en-US" sz="1000" b="1" spc="200" kern="0" dirty="0">
                <a:solidFill>
                  <a:srgbClr val="F5A623"/>
                </a:solidFill>
              </a:rPr>
              <a:t>THE HANDOFF PROTOCOL</a:t>
            </a:r>
            <a:endParaRPr lang="en-US" sz="1000" dirty="0"/>
          </a:p>
        </p:txBody>
      </p:sp>
      <p:sp>
        <p:nvSpPr>
          <p:cNvPr id="13" name="Text 11"/>
          <p:cNvSpPr txBox="1"/>
          <p:nvPr/>
        </p:nvSpPr>
        <p:spPr>
          <a:xfrm>
            <a:off x="914400" y="5029200"/>
            <a:ext cx="10332720" cy="777240"/>
          </a:xfrm>
          <a:prstGeom prst="rect">
            <a:avLst/>
          </a:prstGeom>
          <a:noFill/>
          <a:ln/>
        </p:spPr>
        <p:txBody>
          <a:bodyPr wrap="square" lIns="0" tIns="0" rIns="0" bIns="0" rtlCol="0" anchor="ctr"/>
          <a:lstStyle/>
          <a:p>
            <a:pPr indent="0" marL="0">
              <a:lnSpc>
                <a:spcPct val="105000"/>
              </a:lnSpc>
              <a:buNone/>
            </a:pPr>
            <a:r>
              <a:rPr lang="en-US" sz="1300" dirty="0">
                <a:solidFill>
                  <a:srgbClr val="D4E0F2"/>
                </a:solidFill>
              </a:rPr>
              <a:t>Chaukas never dumps a transcript. It hands over a structured brief: what the merchant asked, what was verified, what it already did, what it refused to do and why, its confidence, and the one decision the human needs to make.</a:t>
            </a:r>
            <a:endParaRPr lang="en-US" sz="1300" dirty="0"/>
          </a:p>
        </p:txBody>
      </p:sp>
      <p:sp>
        <p:nvSpPr>
          <p:cNvPr id="15" name="Text 2"/>
          <p:cNvSpPr/>
          <p:nvPr>
            <p:ph idx="105" hasCustomPrompt="1"/>
          </p:nvPr>
        </p:nvSpPr>
        <p:spPr>
          <a:xfrm>
            <a:off x="11338560" y="6355080"/>
            <a:ext cx="457200" cy="292608"/>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94360" y="384048"/>
            <a:ext cx="10515600" cy="274320"/>
          </a:xfrm>
          <a:prstGeom prst="rect">
            <a:avLst/>
          </a:prstGeom>
          <a:noFill/>
          <a:ln/>
        </p:spPr>
        <p:txBody>
          <a:bodyPr wrap="square" lIns="0" tIns="0" rIns="0" bIns="0" rtlCol="0" anchor="ctr"/>
          <a:lstStyle/>
          <a:p>
            <a:pPr indent="0" marL="0">
              <a:buNone/>
            </a:pPr>
            <a:r>
              <a:rPr lang="en-US" sz="1100" b="1" spc="220" kern="0" dirty="0">
                <a:solidFill>
                  <a:srgbClr val="00BAF2"/>
                </a:solidFill>
              </a:rPr>
              <a:t>UNIQUE SELLING PROPOSITION</a:t>
            </a:r>
            <a:endParaRPr lang="en-US" sz="1100" dirty="0"/>
          </a:p>
        </p:txBody>
      </p:sp>
      <p:sp>
        <p:nvSpPr>
          <p:cNvPr id="3" name="Text 1"/>
          <p:cNvSpPr/>
          <p:nvPr>
            <p:ph idx="102" type="title" hasCustomPrompt="1"/>
          </p:nvPr>
        </p:nvSpPr>
        <p:spPr>
          <a:xfrm>
            <a:off x="594360" y="676656"/>
            <a:ext cx="10972800" cy="621792"/>
          </a:xfrm>
          <a:prstGeom prst="rect">
            <a:avLst/>
          </a:prstGeom>
          <a:noFill/>
          <a:ln/>
        </p:spPr>
        <p:txBody>
          <a:bodyPr wrap="square" lIns="0" tIns="0" rIns="0" bIns="0" rtlCol="0" anchor="ctr"/>
          <a:lstStyle/>
          <a:p>
            <a:pPr algn="l" indent="0" marL="0">
              <a:buNone/>
            </a:pPr>
            <a:r>
              <a:rPr lang="en-US" sz="3200" b="1" dirty="0">
                <a:solidFill>
                  <a:srgbClr val="FFFFFF"/>
                </a:solidFill>
              </a:rPr>
              <a:t>Why Chaukas wins</a:t>
            </a:r>
            <a:endParaRPr lang="en-US" sz="3200" dirty="0"/>
          </a:p>
        </p:txBody>
      </p:sp>
      <p:sp>
        <p:nvSpPr>
          <p:cNvPr id="4" name="Text 1"/>
          <p:cNvSpPr/>
          <p:nvPr>
            <p:ph idx="103" type="body" hasCustomPrompt="1"/>
          </p:nvPr>
        </p:nvSpPr>
        <p:spPr>
          <a:xfrm>
            <a:off x="594360" y="1316736"/>
            <a:ext cx="10607040" cy="566928"/>
          </a:xfrm>
          <a:prstGeom prst="rect">
            <a:avLst/>
          </a:prstGeom>
          <a:noFill/>
          <a:ln/>
        </p:spPr>
        <p:txBody>
          <a:bodyPr wrap="square" lIns="0" tIns="0" rIns="0" bIns="0" rtlCol="0" anchor="t"/>
          <a:lstStyle/>
          <a:p>
            <a:pPr indent="0" marL="0">
              <a:buNone/>
            </a:pPr>
            <a:r>
              <a:rPr lang="en-US" sz="1350" dirty="0">
                <a:solidFill>
                  <a:srgbClr val="AFC2DC"/>
                </a:solidFill>
              </a:rPr>
              <a:t>Every team at this hackathon can build a multilingual support bot. These four are the things they cannot easily copy.</a:t>
            </a:r>
            <a:endParaRPr lang="en-US" sz="1350" dirty="0"/>
          </a:p>
        </p:txBody>
      </p:sp>
      <p:sp>
        <p:nvSpPr>
          <p:cNvPr id="5" name="The action layer, not an"/>
          <p:cNvSpPr/>
          <p:nvPr/>
        </p:nvSpPr>
        <p:spPr>
          <a:xfrm>
            <a:off x="594360" y="2103120"/>
            <a:ext cx="5394960" cy="1783080"/>
          </a:xfrm>
          <a:prstGeom prst="roundRect">
            <a:avLst>
              <a:gd name="adj" fmla="val 4103"/>
            </a:avLst>
          </a:prstGeom>
          <a:solidFill>
            <a:srgbClr val="1F3A68"/>
          </a:solidFill>
          <a:ln w="12700">
            <a:solidFill>
              <a:srgbClr val="1F3A68"/>
            </a:solidFill>
            <a:prstDash val="solid"/>
          </a:ln>
        </p:spPr>
      </p:sp>
      <p:sp>
        <p:nvSpPr>
          <p:cNvPr id="6" name="Shape 4"/>
          <p:cNvSpPr/>
          <p:nvPr/>
        </p:nvSpPr>
        <p:spPr>
          <a:xfrm>
            <a:off x="822960" y="2304288"/>
            <a:ext cx="384048" cy="384048"/>
          </a:xfrm>
          <a:prstGeom prst="ellipse">
            <a:avLst/>
          </a:prstGeom>
          <a:solidFill>
            <a:srgbClr val="F5A623"/>
          </a:solidFill>
          <a:ln w="12700">
            <a:solidFill>
              <a:srgbClr val="F5A623"/>
            </a:solidFill>
            <a:prstDash val="solid"/>
          </a:ln>
        </p:spPr>
      </p:sp>
      <p:sp>
        <p:nvSpPr>
          <p:cNvPr id="7" name="Text 5"/>
          <p:cNvSpPr txBox="1"/>
          <p:nvPr/>
        </p:nvSpPr>
        <p:spPr>
          <a:xfrm>
            <a:off x="822960" y="2304288"/>
            <a:ext cx="384048" cy="384048"/>
          </a:xfrm>
          <a:prstGeom prst="rect">
            <a:avLst/>
          </a:prstGeom>
          <a:noFill/>
          <a:ln/>
        </p:spPr>
        <p:txBody>
          <a:bodyPr wrap="square" lIns="0" tIns="0" rIns="0" bIns="0" rtlCol="0" anchor="ctr"/>
          <a:lstStyle/>
          <a:p>
            <a:pPr algn="ctr" indent="0" marL="0">
              <a:buNone/>
            </a:pPr>
            <a:r>
              <a:rPr lang="en-US" sz="1300" b="1" dirty="0">
                <a:solidFill>
                  <a:srgbClr val="0A1B3D"/>
                </a:solidFill>
              </a:rPr>
              <a:t>01</a:t>
            </a:r>
            <a:endParaRPr lang="en-US" sz="1300" dirty="0"/>
          </a:p>
        </p:txBody>
      </p:sp>
      <p:sp>
        <p:nvSpPr>
          <p:cNvPr id="8" name="Text 6"/>
          <p:cNvSpPr txBox="1"/>
          <p:nvPr/>
        </p:nvSpPr>
        <p:spPr>
          <a:xfrm>
            <a:off x="1325880" y="2276856"/>
            <a:ext cx="4434840" cy="384048"/>
          </a:xfrm>
          <a:prstGeom prst="rect">
            <a:avLst/>
          </a:prstGeom>
          <a:noFill/>
          <a:ln/>
        </p:spPr>
        <p:txBody>
          <a:bodyPr wrap="square" lIns="0" tIns="0" rIns="0" bIns="0" rtlCol="0" anchor="ctr"/>
          <a:lstStyle/>
          <a:p>
            <a:pPr indent="0" marL="0">
              <a:buNone/>
            </a:pPr>
            <a:r>
              <a:rPr lang="en-US" sz="1550" b="1" dirty="0">
                <a:solidFill>
                  <a:srgbClr val="FFFFFF"/>
                </a:solidFill>
              </a:rPr>
              <a:t>The action layer, not another voice layer</a:t>
            </a:r>
            <a:endParaRPr lang="en-US" sz="1550" dirty="0"/>
          </a:p>
        </p:txBody>
      </p:sp>
      <p:sp>
        <p:nvSpPr>
          <p:cNvPr id="9" name="Text 7"/>
          <p:cNvSpPr txBox="1"/>
          <p:nvPr/>
        </p:nvSpPr>
        <p:spPr>
          <a:xfrm>
            <a:off x="850392" y="2724912"/>
            <a:ext cx="4882896" cy="996696"/>
          </a:xfrm>
          <a:prstGeom prst="rect">
            <a:avLst/>
          </a:prstGeom>
          <a:noFill/>
          <a:ln/>
        </p:spPr>
        <p:txBody>
          <a:bodyPr wrap="square" lIns="0" tIns="0" rIns="0" bIns="0" rtlCol="0" anchor="t"/>
          <a:lstStyle/>
          <a:p>
            <a:pPr indent="0" marL="0">
              <a:lnSpc>
                <a:spcPct val="108000"/>
              </a:lnSpc>
              <a:buNone/>
            </a:pPr>
            <a:r>
              <a:rPr lang="en-US" sz="1350" dirty="0">
                <a:solidFill>
                  <a:srgbClr val="BCCCE4"/>
                </a:solidFill>
              </a:rPr>
              <a:t>Paytm already owns the conversation. We own what happens after it — verified execution across payments, CRM and ticketing.</a:t>
            </a:r>
            <a:endParaRPr lang="en-US" sz="1350" dirty="0"/>
          </a:p>
        </p:txBody>
      </p:sp>
      <p:sp>
        <p:nvSpPr>
          <p:cNvPr id="10" name="The Soundbox as the cons"/>
          <p:cNvSpPr/>
          <p:nvPr/>
        </p:nvSpPr>
        <p:spPr>
          <a:xfrm>
            <a:off x="6199632" y="2103120"/>
            <a:ext cx="5394960" cy="1783080"/>
          </a:xfrm>
          <a:prstGeom prst="roundRect">
            <a:avLst>
              <a:gd name="adj" fmla="val 4103"/>
            </a:avLst>
          </a:prstGeom>
          <a:solidFill>
            <a:srgbClr val="1F3A68"/>
          </a:solidFill>
          <a:ln w="12700">
            <a:solidFill>
              <a:srgbClr val="1F3A68"/>
            </a:solidFill>
            <a:prstDash val="solid"/>
          </a:ln>
        </p:spPr>
      </p:sp>
      <p:sp>
        <p:nvSpPr>
          <p:cNvPr id="11" name="Shape 9"/>
          <p:cNvSpPr/>
          <p:nvPr/>
        </p:nvSpPr>
        <p:spPr>
          <a:xfrm>
            <a:off x="6428232" y="2304288"/>
            <a:ext cx="384048" cy="384048"/>
          </a:xfrm>
          <a:prstGeom prst="ellipse">
            <a:avLst/>
          </a:prstGeom>
          <a:solidFill>
            <a:srgbClr val="00BAF2"/>
          </a:solidFill>
          <a:ln w="12700">
            <a:solidFill>
              <a:srgbClr val="00BAF2"/>
            </a:solidFill>
            <a:prstDash val="solid"/>
          </a:ln>
        </p:spPr>
      </p:sp>
      <p:sp>
        <p:nvSpPr>
          <p:cNvPr id="12" name="Text 10"/>
          <p:cNvSpPr txBox="1"/>
          <p:nvPr/>
        </p:nvSpPr>
        <p:spPr>
          <a:xfrm>
            <a:off x="6428232" y="2304288"/>
            <a:ext cx="384048" cy="384048"/>
          </a:xfrm>
          <a:prstGeom prst="rect">
            <a:avLst/>
          </a:prstGeom>
          <a:noFill/>
          <a:ln/>
        </p:spPr>
        <p:txBody>
          <a:bodyPr wrap="square" lIns="0" tIns="0" rIns="0" bIns="0" rtlCol="0" anchor="ctr"/>
          <a:lstStyle/>
          <a:p>
            <a:pPr algn="ctr" indent="0" marL="0">
              <a:buNone/>
            </a:pPr>
            <a:r>
              <a:rPr lang="en-US" sz="1300" b="1" dirty="0">
                <a:solidFill>
                  <a:srgbClr val="0A1B3D"/>
                </a:solidFill>
              </a:rPr>
              <a:t>02</a:t>
            </a:r>
            <a:endParaRPr lang="en-US" sz="1300" dirty="0"/>
          </a:p>
        </p:txBody>
      </p:sp>
      <p:sp>
        <p:nvSpPr>
          <p:cNvPr id="13" name="Text 11"/>
          <p:cNvSpPr txBox="1"/>
          <p:nvPr/>
        </p:nvSpPr>
        <p:spPr>
          <a:xfrm>
            <a:off x="6931152" y="2276856"/>
            <a:ext cx="4434840" cy="384048"/>
          </a:xfrm>
          <a:prstGeom prst="rect">
            <a:avLst/>
          </a:prstGeom>
          <a:noFill/>
          <a:ln/>
        </p:spPr>
        <p:txBody>
          <a:bodyPr wrap="square" lIns="0" tIns="0" rIns="0" bIns="0" rtlCol="0" anchor="ctr"/>
          <a:lstStyle/>
          <a:p>
            <a:pPr indent="0" marL="0">
              <a:buNone/>
            </a:pPr>
            <a:r>
              <a:rPr lang="en-US" sz="1550" b="1" dirty="0">
                <a:solidFill>
                  <a:srgbClr val="FFFFFF"/>
                </a:solidFill>
              </a:rPr>
              <a:t>The Soundbox as the consent surface</a:t>
            </a:r>
            <a:endParaRPr lang="en-US" sz="1550" dirty="0"/>
          </a:p>
        </p:txBody>
      </p:sp>
      <p:sp>
        <p:nvSpPr>
          <p:cNvPr id="14" name="Text 12"/>
          <p:cNvSpPr txBox="1"/>
          <p:nvPr/>
        </p:nvSpPr>
        <p:spPr>
          <a:xfrm>
            <a:off x="6455664" y="2724912"/>
            <a:ext cx="4882896" cy="996696"/>
          </a:xfrm>
          <a:prstGeom prst="rect">
            <a:avLst/>
          </a:prstGeom>
          <a:noFill/>
          <a:ln/>
        </p:spPr>
        <p:txBody>
          <a:bodyPr wrap="square" lIns="0" tIns="0" rIns="0" bIns="0" rtlCol="0" anchor="t"/>
          <a:lstStyle/>
          <a:p>
            <a:pPr indent="0" marL="0">
              <a:lnSpc>
                <a:spcPct val="108000"/>
              </a:lnSpc>
              <a:buNone/>
            </a:pPr>
            <a:r>
              <a:rPr lang="en-US" sz="1350" dirty="0">
                <a:solidFill>
                  <a:srgbClr val="BCCCE4"/>
                </a:solidFill>
              </a:rPr>
              <a:t>A physical confirm on a device 1.51 crore merchants already own. Hardware-anchored human-in-the-loop that only Paytm can ship.</a:t>
            </a:r>
            <a:endParaRPr lang="en-US" sz="1350" dirty="0"/>
          </a:p>
        </p:txBody>
      </p:sp>
      <p:sp>
        <p:nvSpPr>
          <p:cNvPr id="15" name="Eval-first, not demo-fir"/>
          <p:cNvSpPr/>
          <p:nvPr/>
        </p:nvSpPr>
        <p:spPr>
          <a:xfrm>
            <a:off x="594360" y="4023360"/>
            <a:ext cx="5394960" cy="1783080"/>
          </a:xfrm>
          <a:prstGeom prst="roundRect">
            <a:avLst>
              <a:gd name="adj" fmla="val 4103"/>
            </a:avLst>
          </a:prstGeom>
          <a:solidFill>
            <a:srgbClr val="1F3A68"/>
          </a:solidFill>
          <a:ln w="12700">
            <a:solidFill>
              <a:srgbClr val="1F3A68"/>
            </a:solidFill>
            <a:prstDash val="solid"/>
          </a:ln>
        </p:spPr>
      </p:sp>
      <p:sp>
        <p:nvSpPr>
          <p:cNvPr id="16" name="Shape 14"/>
          <p:cNvSpPr/>
          <p:nvPr/>
        </p:nvSpPr>
        <p:spPr>
          <a:xfrm>
            <a:off x="822960" y="4224528"/>
            <a:ext cx="384048" cy="384048"/>
          </a:xfrm>
          <a:prstGeom prst="ellipse">
            <a:avLst/>
          </a:prstGeom>
          <a:solidFill>
            <a:srgbClr val="2BB673"/>
          </a:solidFill>
          <a:ln w="12700">
            <a:solidFill>
              <a:srgbClr val="2BB673"/>
            </a:solidFill>
            <a:prstDash val="solid"/>
          </a:ln>
        </p:spPr>
      </p:sp>
      <p:sp>
        <p:nvSpPr>
          <p:cNvPr id="17" name="Text 15"/>
          <p:cNvSpPr txBox="1"/>
          <p:nvPr/>
        </p:nvSpPr>
        <p:spPr>
          <a:xfrm>
            <a:off x="822960" y="4224528"/>
            <a:ext cx="384048" cy="384048"/>
          </a:xfrm>
          <a:prstGeom prst="rect">
            <a:avLst/>
          </a:prstGeom>
          <a:noFill/>
          <a:ln/>
        </p:spPr>
        <p:txBody>
          <a:bodyPr wrap="square" lIns="0" tIns="0" rIns="0" bIns="0" rtlCol="0" anchor="ctr"/>
          <a:lstStyle/>
          <a:p>
            <a:pPr algn="ctr" indent="0" marL="0">
              <a:buNone/>
            </a:pPr>
            <a:r>
              <a:rPr lang="en-US" sz="1300" b="1" dirty="0">
                <a:solidFill>
                  <a:srgbClr val="0A1B3D"/>
                </a:solidFill>
              </a:rPr>
              <a:t>03</a:t>
            </a:r>
            <a:endParaRPr lang="en-US" sz="1300" dirty="0"/>
          </a:p>
        </p:txBody>
      </p:sp>
      <p:sp>
        <p:nvSpPr>
          <p:cNvPr id="18" name="Text 16"/>
          <p:cNvSpPr txBox="1"/>
          <p:nvPr/>
        </p:nvSpPr>
        <p:spPr>
          <a:xfrm>
            <a:off x="1325880" y="4197096"/>
            <a:ext cx="4434840" cy="384048"/>
          </a:xfrm>
          <a:prstGeom prst="rect">
            <a:avLst/>
          </a:prstGeom>
          <a:noFill/>
          <a:ln/>
        </p:spPr>
        <p:txBody>
          <a:bodyPr wrap="square" lIns="0" tIns="0" rIns="0" bIns="0" rtlCol="0" anchor="ctr"/>
          <a:lstStyle/>
          <a:p>
            <a:pPr indent="0" marL="0">
              <a:buNone/>
            </a:pPr>
            <a:r>
              <a:rPr lang="en-US" sz="1550" b="1" dirty="0">
                <a:solidFill>
                  <a:srgbClr val="FFFFFF"/>
                </a:solidFill>
              </a:rPr>
              <a:t>Eval-first, not demo-first</a:t>
            </a:r>
            <a:endParaRPr lang="en-US" sz="1550" dirty="0"/>
          </a:p>
        </p:txBody>
      </p:sp>
      <p:sp>
        <p:nvSpPr>
          <p:cNvPr id="19" name="Text 17"/>
          <p:cNvSpPr txBox="1"/>
          <p:nvPr/>
        </p:nvSpPr>
        <p:spPr>
          <a:xfrm>
            <a:off x="850392" y="4645152"/>
            <a:ext cx="4882896" cy="996696"/>
          </a:xfrm>
          <a:prstGeom prst="rect">
            <a:avLst/>
          </a:prstGeom>
          <a:noFill/>
          <a:ln/>
        </p:spPr>
        <p:txBody>
          <a:bodyPr wrap="square" lIns="0" tIns="0" rIns="0" bIns="0" rtlCol="0" anchor="t"/>
          <a:lstStyle/>
          <a:p>
            <a:pPr indent="0" marL="0">
              <a:lnSpc>
                <a:spcPct val="108000"/>
              </a:lnSpc>
              <a:buNone/>
            </a:pPr>
            <a:r>
              <a:rPr lang="en-US" sz="1350" dirty="0">
                <a:solidFill>
                  <a:srgbClr val="BCCCE4"/>
                </a:solidFill>
              </a:rPr>
              <a:t>Every number we claim comes from a golden test set and an adversarial red-team suite that runs on every commit. Shown on the next slide.</a:t>
            </a:r>
            <a:endParaRPr lang="en-US" sz="1350" dirty="0"/>
          </a:p>
        </p:txBody>
      </p:sp>
      <p:sp>
        <p:nvSpPr>
          <p:cNvPr id="20" name="Built to pass a risk rev"/>
          <p:cNvSpPr/>
          <p:nvPr/>
        </p:nvSpPr>
        <p:spPr>
          <a:xfrm>
            <a:off x="6199632" y="4023360"/>
            <a:ext cx="5394960" cy="1783080"/>
          </a:xfrm>
          <a:prstGeom prst="roundRect">
            <a:avLst>
              <a:gd name="adj" fmla="val 4103"/>
            </a:avLst>
          </a:prstGeom>
          <a:solidFill>
            <a:srgbClr val="1F3A68"/>
          </a:solidFill>
          <a:ln w="12700">
            <a:solidFill>
              <a:srgbClr val="1F3A68"/>
            </a:solidFill>
            <a:prstDash val="solid"/>
          </a:ln>
        </p:spPr>
      </p:sp>
      <p:sp>
        <p:nvSpPr>
          <p:cNvPr id="21" name="Shape 19"/>
          <p:cNvSpPr/>
          <p:nvPr/>
        </p:nvSpPr>
        <p:spPr>
          <a:xfrm>
            <a:off x="6428232" y="4224528"/>
            <a:ext cx="384048" cy="384048"/>
          </a:xfrm>
          <a:prstGeom prst="ellipse">
            <a:avLst/>
          </a:prstGeom>
          <a:solidFill>
            <a:srgbClr val="E8505B"/>
          </a:solidFill>
          <a:ln w="12700">
            <a:solidFill>
              <a:srgbClr val="E8505B"/>
            </a:solidFill>
            <a:prstDash val="solid"/>
          </a:ln>
        </p:spPr>
      </p:sp>
      <p:sp>
        <p:nvSpPr>
          <p:cNvPr id="22" name="Text 20"/>
          <p:cNvSpPr txBox="1"/>
          <p:nvPr/>
        </p:nvSpPr>
        <p:spPr>
          <a:xfrm>
            <a:off x="6428232" y="4224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04</a:t>
            </a:r>
            <a:endParaRPr lang="en-US" sz="1300" dirty="0"/>
          </a:p>
        </p:txBody>
      </p:sp>
      <p:sp>
        <p:nvSpPr>
          <p:cNvPr id="23" name="Text 21"/>
          <p:cNvSpPr txBox="1"/>
          <p:nvPr/>
        </p:nvSpPr>
        <p:spPr>
          <a:xfrm>
            <a:off x="6931152" y="4197096"/>
            <a:ext cx="4434840" cy="384048"/>
          </a:xfrm>
          <a:prstGeom prst="rect">
            <a:avLst/>
          </a:prstGeom>
          <a:noFill/>
          <a:ln/>
        </p:spPr>
        <p:txBody>
          <a:bodyPr wrap="square" lIns="0" tIns="0" rIns="0" bIns="0" rtlCol="0" anchor="ctr"/>
          <a:lstStyle/>
          <a:p>
            <a:pPr indent="0" marL="0">
              <a:buNone/>
            </a:pPr>
            <a:r>
              <a:rPr lang="en-US" sz="1550" b="1" dirty="0">
                <a:solidFill>
                  <a:srgbClr val="FFFFFF"/>
                </a:solidFill>
              </a:rPr>
              <a:t>Built to pass a risk review</a:t>
            </a:r>
            <a:endParaRPr lang="en-US" sz="1550" dirty="0"/>
          </a:p>
        </p:txBody>
      </p:sp>
      <p:sp>
        <p:nvSpPr>
          <p:cNvPr id="24" name="Text 22"/>
          <p:cNvSpPr txBox="1"/>
          <p:nvPr/>
        </p:nvSpPr>
        <p:spPr>
          <a:xfrm>
            <a:off x="6455664" y="4645152"/>
            <a:ext cx="4882896" cy="996696"/>
          </a:xfrm>
          <a:prstGeom prst="rect">
            <a:avLst/>
          </a:prstGeom>
          <a:noFill/>
          <a:ln/>
        </p:spPr>
        <p:txBody>
          <a:bodyPr wrap="square" lIns="0" tIns="0" rIns="0" bIns="0" rtlCol="0" anchor="t"/>
          <a:lstStyle/>
          <a:p>
            <a:pPr indent="0" marL="0">
              <a:lnSpc>
                <a:spcPct val="108000"/>
              </a:lnSpc>
              <a:buNone/>
            </a:pPr>
            <a:r>
              <a:rPr lang="en-US" sz="1350" dirty="0">
                <a:solidFill>
                  <a:srgbClr val="BCCCE4"/>
                </a:solidFill>
              </a:rPr>
              <a:t>Mapped to RBI's FREE-AI framework and the DPDP Act from day one — disclosure, explainability, auditability and rollback.</a:t>
            </a:r>
            <a:endParaRPr lang="en-US" sz="1350" dirty="0"/>
          </a:p>
        </p:txBody>
      </p:sp>
      <p:sp>
        <p:nvSpPr>
          <p:cNvPr id="26" name="Text 2"/>
          <p:cNvSpPr/>
          <p:nvPr>
            <p:ph idx="105" hasCustomPrompt="1"/>
          </p:nvPr>
        </p:nvSpPr>
        <p:spPr>
          <a:xfrm>
            <a:off x="11338560" y="6355080"/>
            <a:ext cx="457200" cy="292608"/>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94360" y="384048"/>
            <a:ext cx="10515600" cy="274320"/>
          </a:xfrm>
          <a:prstGeom prst="rect">
            <a:avLst/>
          </a:prstGeom>
          <a:noFill/>
          <a:ln/>
        </p:spPr>
        <p:txBody>
          <a:bodyPr wrap="square" lIns="0" tIns="0" rIns="0" bIns="0" rtlCol="0" anchor="ctr"/>
          <a:lstStyle/>
          <a:p>
            <a:pPr indent="0" marL="0">
              <a:buNone/>
            </a:pPr>
            <a:r>
              <a:rPr lang="en-US" sz="1100" b="1" spc="220" kern="0" dirty="0">
                <a:solidFill>
                  <a:srgbClr val="00BAF2"/>
                </a:solidFill>
              </a:rPr>
              <a:t>MEASURABLE OUTCOMES</a:t>
            </a:r>
            <a:endParaRPr lang="en-US" sz="1100" dirty="0"/>
          </a:p>
        </p:txBody>
      </p:sp>
      <p:sp>
        <p:nvSpPr>
          <p:cNvPr id="3" name="Text 1"/>
          <p:cNvSpPr/>
          <p:nvPr>
            <p:ph idx="102" type="title" hasCustomPrompt="1"/>
          </p:nvPr>
        </p:nvSpPr>
        <p:spPr>
          <a:xfrm>
            <a:off x="594360" y="676656"/>
            <a:ext cx="10972800" cy="621792"/>
          </a:xfrm>
          <a:prstGeom prst="rect">
            <a:avLst/>
          </a:prstGeom>
          <a:noFill/>
          <a:ln/>
        </p:spPr>
        <p:txBody>
          <a:bodyPr wrap="square" lIns="0" tIns="0" rIns="0" bIns="0" rtlCol="0" anchor="ctr"/>
          <a:lstStyle/>
          <a:p>
            <a:pPr algn="l" indent="0" marL="0">
              <a:buNone/>
            </a:pPr>
            <a:r>
              <a:rPr lang="en-US" sz="3200" b="1" dirty="0">
                <a:solidFill>
                  <a:srgbClr val="0A1B3D"/>
                </a:solidFill>
              </a:rPr>
              <a:t>We measure before we claim</a:t>
            </a:r>
            <a:endParaRPr lang="en-US" sz="3200" dirty="0"/>
          </a:p>
        </p:txBody>
      </p:sp>
      <p:sp>
        <p:nvSpPr>
          <p:cNvPr id="4" name="Text 1"/>
          <p:cNvSpPr/>
          <p:nvPr>
            <p:ph idx="103" type="body" hasCustomPrompt="1"/>
          </p:nvPr>
        </p:nvSpPr>
        <p:spPr>
          <a:xfrm>
            <a:off x="594360" y="1316736"/>
            <a:ext cx="10607040" cy="566928"/>
          </a:xfrm>
          <a:prstGeom prst="rect">
            <a:avLst/>
          </a:prstGeom>
          <a:noFill/>
          <a:ln/>
        </p:spPr>
        <p:txBody>
          <a:bodyPr wrap="square" lIns="0" tIns="0" rIns="0" bIns="0" rtlCol="0" anchor="t"/>
          <a:lstStyle/>
          <a:p>
            <a:pPr indent="0" marL="0">
              <a:buNone/>
            </a:pPr>
            <a:r>
              <a:rPr lang="en-US" sz="1350" dirty="0">
                <a:solidFill>
                  <a:srgbClr val="6C7A93"/>
                </a:solidFill>
              </a:rPr>
              <a:t>The track asks for measurable outcomes. These are our Stage 2 acceptance targets and exactly how each one is tested.</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 y="2103120"/>
          <a:ext cx="11000232" cy="914400"/>
        </p:xfrm>
        <a:graphic>
          <a:graphicData uri="http://schemas.openxmlformats.org/drawingml/2006/table">
            <a:tbl>
              <a:tblPr/>
              <a:tblGrid>
                <a:gridCol w="4480560"/>
                <a:gridCol w="1554480"/>
                <a:gridCol w="4965192"/>
              </a:tblGrid>
              <a:tr h="402336">
                <a:tc>
                  <a:txBody>
                    <a:bodyPr/>
                    <a:lstStyle/>
                    <a:p>
                      <a:pPr indent="0" marL="0">
                        <a:buNone/>
                      </a:pPr>
                      <a:r>
                        <a:rPr lang="en-US" sz="1250" b="1" dirty="0">
                          <a:solidFill>
                            <a:srgbClr val="FFFFFF"/>
                          </a:solidFill>
                        </a:rPr>
                        <a:t>Metric</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0A1B3D"/>
                    </a:solidFill>
                  </a:tcPr>
                </a:tc>
                <a:tc>
                  <a:txBody>
                    <a:bodyPr/>
                    <a:lstStyle/>
                    <a:p>
                      <a:pPr indent="0" marL="0">
                        <a:buNone/>
                      </a:pPr>
                      <a:r>
                        <a:rPr lang="en-US" sz="1250" b="1" dirty="0">
                          <a:solidFill>
                            <a:srgbClr val="FFFFFF"/>
                          </a:solidFill>
                        </a:rPr>
                        <a:t>Target</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0A1B3D"/>
                    </a:solidFill>
                  </a:tcPr>
                </a:tc>
                <a:tc>
                  <a:txBody>
                    <a:bodyPr/>
                    <a:lstStyle/>
                    <a:p>
                      <a:pPr indent="0" marL="0">
                        <a:buNone/>
                      </a:pPr>
                      <a:r>
                        <a:rPr lang="en-US" sz="1250" b="1" dirty="0">
                          <a:solidFill>
                            <a:srgbClr val="FFFFFF"/>
                          </a:solidFill>
                        </a:rPr>
                        <a:t>How it is measured</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0A1B3D"/>
                    </a:solidFill>
                  </a:tcPr>
                </a:tc>
              </a:tr>
              <a:tr h="475488">
                <a:tc>
                  <a:txBody>
                    <a:bodyPr/>
                    <a:lstStyle/>
                    <a:p>
                      <a:pPr indent="0" marL="0">
                        <a:buNone/>
                      </a:pPr>
                      <a:r>
                        <a:rPr lang="en-US" sz="1250" dirty="0">
                          <a:solidFill>
                            <a:srgbClr val="2B3A55"/>
                          </a:solidFill>
                        </a:rPr>
                        <a:t>Autonomous resolution of action tickets</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c>
                  <a:txBody>
                    <a:bodyPr/>
                    <a:lstStyle/>
                    <a:p>
                      <a:pPr indent="0" marL="0">
                        <a:buNone/>
                      </a:pPr>
                      <a:r>
                        <a:rPr lang="en-US" sz="1250" dirty="0">
                          <a:solidFill>
                            <a:srgbClr val="2B3A55"/>
                          </a:solidFill>
                        </a:rPr>
                        <a:t>≥ 60%</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c>
                  <a:txBody>
                    <a:bodyPr/>
                    <a:lstStyle/>
                    <a:p>
                      <a:pPr indent="0" marL="0">
                        <a:buNone/>
                      </a:pPr>
                      <a:r>
                        <a:rPr lang="en-US" sz="1250" dirty="0">
                          <a:solidFill>
                            <a:srgbClr val="2B3A55"/>
                          </a:solidFill>
                        </a:rPr>
                        <a:t>240-case golden set replayed against a sandbox ledger</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2B3A55"/>
                          </a:solidFill>
                        </a:rPr>
                        <a:t>Action accuracy (correct action, correct amount)</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c>
                  <a:txBody>
                    <a:bodyPr/>
                    <a:lstStyle/>
                    <a:p>
                      <a:pPr indent="0" marL="0">
                        <a:buNone/>
                      </a:pPr>
                      <a:r>
                        <a:rPr lang="en-US" sz="1250" dirty="0">
                          <a:solidFill>
                            <a:srgbClr val="2B3A55"/>
                          </a:solidFill>
                        </a:rPr>
                        <a:t>≥ 99%</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c>
                  <a:txBody>
                    <a:bodyPr/>
                    <a:lstStyle/>
                    <a:p>
                      <a:pPr indent="0" marL="0">
                        <a:buNone/>
                      </a:pPr>
                      <a:r>
                        <a:rPr lang="en-US" sz="1250" dirty="0">
                          <a:solidFill>
                            <a:srgbClr val="2B3A55"/>
                          </a:solidFill>
                        </a:rPr>
                        <a:t>Diff of agent actions vs. human-labelled ground truth</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2B3A55"/>
                          </a:solidFill>
                        </a:rPr>
                        <a:t>Unsafe or unauthorised money actions</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c>
                  <a:txBody>
                    <a:bodyPr/>
                    <a:lstStyle/>
                    <a:p>
                      <a:pPr indent="0" marL="0">
                        <a:buNone/>
                      </a:pPr>
                      <a:r>
                        <a:rPr lang="en-US" sz="1250" dirty="0">
                          <a:solidFill>
                            <a:srgbClr val="2B3A55"/>
                          </a:solidFill>
                        </a:rPr>
                        <a:t>0</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c>
                  <a:txBody>
                    <a:bodyPr/>
                    <a:lstStyle/>
                    <a:p>
                      <a:pPr indent="0" marL="0">
                        <a:buNone/>
                      </a:pPr>
                      <a:r>
                        <a:rPr lang="en-US" sz="1250" dirty="0">
                          <a:solidFill>
                            <a:srgbClr val="2B3A55"/>
                          </a:solidFill>
                        </a:rPr>
                        <a:t>120-prompt adversarial and prompt-injection red-team suite</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2B3A55"/>
                          </a:solidFill>
                        </a:rPr>
                        <a:t>Escalation precision (handoff was warranted)</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c>
                  <a:txBody>
                    <a:bodyPr/>
                    <a:lstStyle/>
                    <a:p>
                      <a:pPr indent="0" marL="0">
                        <a:buNone/>
                      </a:pPr>
                      <a:r>
                        <a:rPr lang="en-US" sz="1250" dirty="0">
                          <a:solidFill>
                            <a:srgbClr val="2B3A55"/>
                          </a:solidFill>
                        </a:rPr>
                        <a:t>≥ 90%</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c>
                  <a:txBody>
                    <a:bodyPr/>
                    <a:lstStyle/>
                    <a:p>
                      <a:pPr indent="0" marL="0">
                        <a:buNone/>
                      </a:pPr>
                      <a:r>
                        <a:rPr lang="en-US" sz="1250" dirty="0">
                          <a:solidFill>
                            <a:srgbClr val="2B3A55"/>
                          </a:solidFill>
                        </a:rPr>
                        <a:t>Blind human review of a sampled handoff queue</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2B3A55"/>
                          </a:solidFill>
                        </a:rPr>
                        <a:t>p95 latency, voice turn to action acknowledgement</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c>
                  <a:txBody>
                    <a:bodyPr/>
                    <a:lstStyle/>
                    <a:p>
                      <a:pPr indent="0" marL="0">
                        <a:buNone/>
                      </a:pPr>
                      <a:r>
                        <a:rPr lang="en-US" sz="1250" dirty="0">
                          <a:solidFill>
                            <a:srgbClr val="2B3A55"/>
                          </a:solidFill>
                        </a:rPr>
                        <a:t>&lt; 4s</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c>
                  <a:txBody>
                    <a:bodyPr/>
                    <a:lstStyle/>
                    <a:p>
                      <a:pPr indent="0" marL="0">
                        <a:buNone/>
                      </a:pPr>
                      <a:r>
                        <a:rPr lang="en-US" sz="1250" dirty="0">
                          <a:solidFill>
                            <a:srgbClr val="2B3A55"/>
                          </a:solidFill>
                        </a:rPr>
                        <a:t>End-to-end tracing across ASR, planner and tool calls</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2B3A55"/>
                          </a:solidFill>
                        </a:rPr>
                        <a:t>Cost per resolved conversation</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c>
                  <a:txBody>
                    <a:bodyPr/>
                    <a:lstStyle/>
                    <a:p>
                      <a:pPr indent="0" marL="0">
                        <a:buNone/>
                      </a:pPr>
                      <a:r>
                        <a:rPr lang="en-US" sz="1250" dirty="0">
                          <a:solidFill>
                            <a:srgbClr val="2B3A55"/>
                          </a:solidFill>
                        </a:rPr>
                        <a:t>&lt; ₹3</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c>
                  <a:txBody>
                    <a:bodyPr/>
                    <a:lstStyle/>
                    <a:p>
                      <a:pPr indent="0" marL="0">
                        <a:buNone/>
                      </a:pPr>
                      <a:r>
                        <a:rPr lang="en-US" sz="1250" dirty="0">
                          <a:solidFill>
                            <a:srgbClr val="2B3A55"/>
                          </a:solidFill>
                        </a:rPr>
                        <a:t>Token, ASR and TTS metering per conversation</a:t>
                      </a:r>
                      <a:endParaRPr lang="en-US" sz="1250" dirty="0"/>
                    </a:p>
                  </a:txBody>
                  <a:tcPr marL="128016" marR="128016" marT="73152" marB="73152" anchor="ctr">
                    <a:lnL w="12700" cap="flat" cmpd="sng" algn="ctr">
                      <a:solidFill>
                        <a:srgbClr val="DFE6F1"/>
                      </a:solidFill>
                      <a:prstDash val="solid"/>
                      <a:round/>
                      <a:headEnd type="none" w="med" len="med"/>
                      <a:tailEnd type="none" w="med" len="med"/>
                    </a:lnL>
                    <a:lnR w="12700" cap="flat" cmpd="sng" algn="ctr">
                      <a:solidFill>
                        <a:srgbClr val="DFE6F1"/>
                      </a:solidFill>
                      <a:prstDash val="solid"/>
                      <a:round/>
                      <a:headEnd type="none" w="med" len="med"/>
                      <a:tailEnd type="none" w="med" len="med"/>
                    </a:lnR>
                    <a:lnT w="12700" cap="flat" cmpd="sng" algn="ctr">
                      <a:solidFill>
                        <a:srgbClr val="DFE6F1"/>
                      </a:solidFill>
                      <a:prstDash val="solid"/>
                      <a:round/>
                      <a:headEnd type="none" w="med" len="med"/>
                      <a:tailEnd type="none" w="med" len="med"/>
                    </a:lnT>
                    <a:lnB w="12700" cap="flat" cmpd="sng" algn="ctr">
                      <a:solidFill>
                        <a:srgbClr val="DFE6F1"/>
                      </a:solidFill>
                      <a:prstDash val="solid"/>
                      <a:round/>
                      <a:headEnd type="none" w="med" len="med"/>
                      <a:tailEnd type="none" w="med" len="med"/>
                    </a:lnB>
                    <a:solidFill>
                      <a:srgbClr val="FFFFFF"/>
                    </a:solidFill>
                  </a:tcPr>
                </a:tc>
              </a:tr>
            </a:tbl>
          </a:graphicData>
        </a:graphic>
      </p:graphicFrame>
      <p:sp>
        <p:nvSpPr>
          <p:cNvPr id="6" name="evalnote"/>
          <p:cNvSpPr/>
          <p:nvPr/>
        </p:nvSpPr>
        <p:spPr>
          <a:xfrm>
            <a:off x="594360" y="5596128"/>
            <a:ext cx="11000232" cy="621792"/>
          </a:xfrm>
          <a:prstGeom prst="roundRect">
            <a:avLst>
              <a:gd name="adj" fmla="val 7353"/>
            </a:avLst>
          </a:prstGeom>
          <a:solidFill>
            <a:srgbClr val="F1F5FB"/>
          </a:solidFill>
          <a:ln w="12700">
            <a:solidFill>
              <a:srgbClr val="F1F5FB"/>
            </a:solidFill>
            <a:prstDash val="solid"/>
          </a:ln>
        </p:spPr>
      </p:sp>
      <p:sp>
        <p:nvSpPr>
          <p:cNvPr id="7" name="Text 4"/>
          <p:cNvSpPr txBox="1"/>
          <p:nvPr/>
        </p:nvSpPr>
        <p:spPr>
          <a:xfrm>
            <a:off x="914400" y="5596128"/>
            <a:ext cx="10332720" cy="621792"/>
          </a:xfrm>
          <a:prstGeom prst="rect">
            <a:avLst/>
          </a:prstGeom>
          <a:noFill/>
          <a:ln/>
        </p:spPr>
        <p:txBody>
          <a:bodyPr wrap="square" lIns="0" tIns="0" rIns="0" bIns="0" rtlCol="0" anchor="ctr"/>
          <a:lstStyle/>
          <a:p>
            <a:pPr indent="0" marL="0">
              <a:buNone/>
            </a:pPr>
            <a:r>
              <a:rPr lang="en-US" sz="1300" b="1" dirty="0">
                <a:solidFill>
                  <a:srgbClr val="0A1B3D"/>
                </a:solidFill>
              </a:rPr>
              <a:t>The hard gate is row three. A support agent that is 95% safe with money is not 95% useful — it is unshippable. Zero unsafe actions is a release blocker, not a KPI.</a:t>
            </a:r>
            <a:endParaRPr lang="en-US" sz="1300" dirty="0"/>
          </a:p>
        </p:txBody>
      </p:sp>
      <p:sp>
        <p:nvSpPr>
          <p:cNvPr id="9" name="Text 2"/>
          <p:cNvSpPr/>
          <p:nvPr>
            <p:ph idx="105" hasCustomPrompt="1"/>
          </p:nvPr>
        </p:nvSpPr>
        <p:spPr>
          <a:xfrm>
            <a:off x="11338560" y="6355080"/>
            <a:ext cx="457200" cy="292608"/>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94360" y="384048"/>
            <a:ext cx="10515600" cy="274320"/>
          </a:xfrm>
          <a:prstGeom prst="rect">
            <a:avLst/>
          </a:prstGeom>
          <a:noFill/>
          <a:ln/>
        </p:spPr>
        <p:txBody>
          <a:bodyPr wrap="square" lIns="0" tIns="0" rIns="0" bIns="0" rtlCol="0" anchor="ctr"/>
          <a:lstStyle/>
          <a:p>
            <a:pPr indent="0" marL="0">
              <a:buNone/>
            </a:pPr>
            <a:r>
              <a:rPr lang="en-US" sz="1100" b="1" spc="220" kern="0" dirty="0">
                <a:solidFill>
                  <a:srgbClr val="00BAF2"/>
                </a:solidFill>
              </a:rPr>
              <a:t>IMPACT &amp; BENEFITS</a:t>
            </a:r>
            <a:endParaRPr lang="en-US" sz="1100" dirty="0"/>
          </a:p>
        </p:txBody>
      </p:sp>
      <p:sp>
        <p:nvSpPr>
          <p:cNvPr id="3" name="Text 1"/>
          <p:cNvSpPr/>
          <p:nvPr>
            <p:ph idx="102" type="title" hasCustomPrompt="1"/>
          </p:nvPr>
        </p:nvSpPr>
        <p:spPr>
          <a:xfrm>
            <a:off x="594360" y="676656"/>
            <a:ext cx="10972800" cy="621792"/>
          </a:xfrm>
          <a:prstGeom prst="rect">
            <a:avLst/>
          </a:prstGeom>
          <a:noFill/>
          <a:ln/>
        </p:spPr>
        <p:txBody>
          <a:bodyPr wrap="square" lIns="0" tIns="0" rIns="0" bIns="0" rtlCol="0" anchor="ctr"/>
          <a:lstStyle/>
          <a:p>
            <a:pPr algn="l" indent="0" marL="0">
              <a:buNone/>
            </a:pPr>
            <a:r>
              <a:rPr lang="en-US" sz="3200" b="1" dirty="0">
                <a:solidFill>
                  <a:srgbClr val="0A1B3D"/>
                </a:solidFill>
              </a:rPr>
              <a:t>Cost down, revenue per merchant up</a:t>
            </a:r>
            <a:endParaRPr lang="en-US" sz="3200" dirty="0"/>
          </a:p>
        </p:txBody>
      </p:sp>
      <p:sp>
        <p:nvSpPr>
          <p:cNvPr id="4" name="Text 1"/>
          <p:cNvSpPr/>
          <p:nvPr>
            <p:ph idx="103" type="body" hasCustomPrompt="1"/>
          </p:nvPr>
        </p:nvSpPr>
        <p:spPr>
          <a:xfrm>
            <a:off x="594360" y="1316736"/>
            <a:ext cx="10607040" cy="566928"/>
          </a:xfrm>
          <a:prstGeom prst="rect">
            <a:avLst/>
          </a:prstGeom>
          <a:noFill/>
          <a:ln/>
        </p:spPr>
        <p:txBody>
          <a:bodyPr wrap="square" lIns="0" tIns="0" rIns="0" bIns="0" rtlCol="0" anchor="t"/>
          <a:lstStyle/>
          <a:p>
            <a:pPr indent="0" marL="0">
              <a:buNone/>
            </a:pPr>
            <a:r>
              <a:rPr lang="en-US" sz="1350" dirty="0">
                <a:solidFill>
                  <a:srgbClr val="6C7A93"/>
                </a:solidFill>
              </a:rPr>
              <a:t>Modelled on Paytm's own FY26 disclosures: AI-led operating leverage cut indirect expenses 16% YoY, while financial-services distribution revenue grew 52% to ₹2,594 Cr. Chaukas pushes on both lines at once.</a:t>
            </a:r>
            <a:endParaRPr lang="en-US" sz="1350" dirty="0"/>
          </a:p>
        </p:txBody>
      </p:sp>
      <p:sp>
        <p:nvSpPr>
          <p:cNvPr id="5" name="Text 3"/>
          <p:cNvSpPr txBox="1"/>
          <p:nvPr/>
        </p:nvSpPr>
        <p:spPr>
          <a:xfrm>
            <a:off x="594360" y="2103120"/>
            <a:ext cx="2475738" cy="438912"/>
          </a:xfrm>
          <a:prstGeom prst="rect">
            <a:avLst/>
          </a:prstGeom>
          <a:noFill/>
          <a:ln/>
        </p:spPr>
        <p:txBody>
          <a:bodyPr wrap="square" lIns="0" tIns="0" rIns="0" bIns="0" rtlCol="0" anchor="ctr"/>
          <a:lstStyle/>
          <a:p>
            <a:pPr indent="0" marL="0">
              <a:buNone/>
            </a:pPr>
            <a:r>
              <a:rPr lang="en-US" sz="2600" b="1" dirty="0">
                <a:solidFill>
                  <a:srgbClr val="00BAF2"/>
                </a:solidFill>
                <a:latin typeface="Cambria" pitchFamily="34" charset="0"/>
                <a:ea typeface="Cambria" pitchFamily="34" charset="-122"/>
                <a:cs typeface="Cambria" pitchFamily="34" charset="-120"/>
              </a:rPr>
              <a:t>60%+</a:t>
            </a:r>
            <a:endParaRPr lang="en-US" sz="2600" dirty="0"/>
          </a:p>
        </p:txBody>
      </p:sp>
      <p:sp>
        <p:nvSpPr>
          <p:cNvPr id="6" name="Text 4"/>
          <p:cNvSpPr txBox="1"/>
          <p:nvPr/>
        </p:nvSpPr>
        <p:spPr>
          <a:xfrm>
            <a:off x="594360" y="2560320"/>
            <a:ext cx="2475738" cy="347472"/>
          </a:xfrm>
          <a:prstGeom prst="rect">
            <a:avLst/>
          </a:prstGeom>
          <a:noFill/>
          <a:ln/>
        </p:spPr>
        <p:txBody>
          <a:bodyPr wrap="square" lIns="0" tIns="0" rIns="0" bIns="0" rtlCol="0" anchor="ctr"/>
          <a:lstStyle/>
          <a:p>
            <a:pPr indent="0" marL="0">
              <a:buNone/>
            </a:pPr>
            <a:r>
              <a:rPr lang="en-US" sz="1150" dirty="0">
                <a:solidFill>
                  <a:srgbClr val="6C7A93"/>
                </a:solidFill>
              </a:rPr>
              <a:t>action tickets resolved with no human touch</a:t>
            </a:r>
            <a:endParaRPr lang="en-US" sz="1150" dirty="0"/>
          </a:p>
        </p:txBody>
      </p:sp>
      <p:sp>
        <p:nvSpPr>
          <p:cNvPr id="7" name="Text 5"/>
          <p:cNvSpPr txBox="1"/>
          <p:nvPr/>
        </p:nvSpPr>
        <p:spPr>
          <a:xfrm>
            <a:off x="3344418" y="2103120"/>
            <a:ext cx="2475738" cy="438912"/>
          </a:xfrm>
          <a:prstGeom prst="rect">
            <a:avLst/>
          </a:prstGeom>
          <a:noFill/>
          <a:ln/>
        </p:spPr>
        <p:txBody>
          <a:bodyPr wrap="square" lIns="0" tIns="0" rIns="0" bIns="0" rtlCol="0" anchor="ctr"/>
          <a:lstStyle/>
          <a:p>
            <a:pPr indent="0" marL="0">
              <a:buNone/>
            </a:pPr>
            <a:r>
              <a:rPr lang="en-US" sz="2600" b="1" dirty="0">
                <a:solidFill>
                  <a:srgbClr val="2BB673"/>
                </a:solidFill>
                <a:latin typeface="Cambria" pitchFamily="34" charset="0"/>
                <a:ea typeface="Cambria" pitchFamily="34" charset="-122"/>
                <a:cs typeface="Cambria" pitchFamily="34" charset="-120"/>
              </a:rPr>
              <a:t>0</a:t>
            </a:r>
            <a:endParaRPr lang="en-US" sz="2600" dirty="0"/>
          </a:p>
        </p:txBody>
      </p:sp>
      <p:sp>
        <p:nvSpPr>
          <p:cNvPr id="8" name="Text 6"/>
          <p:cNvSpPr txBox="1"/>
          <p:nvPr/>
        </p:nvSpPr>
        <p:spPr>
          <a:xfrm>
            <a:off x="3344418" y="2560320"/>
            <a:ext cx="2475738" cy="347472"/>
          </a:xfrm>
          <a:prstGeom prst="rect">
            <a:avLst/>
          </a:prstGeom>
          <a:noFill/>
          <a:ln/>
        </p:spPr>
        <p:txBody>
          <a:bodyPr wrap="square" lIns="0" tIns="0" rIns="0" bIns="0" rtlCol="0" anchor="ctr"/>
          <a:lstStyle/>
          <a:p>
            <a:pPr indent="0" marL="0">
              <a:buNone/>
            </a:pPr>
            <a:r>
              <a:rPr lang="en-US" sz="1150" dirty="0">
                <a:solidFill>
                  <a:srgbClr val="6C7A93"/>
                </a:solidFill>
              </a:rPr>
              <a:t>unsafe money actions, enforced by guardrail</a:t>
            </a:r>
            <a:endParaRPr lang="en-US" sz="1150" dirty="0"/>
          </a:p>
        </p:txBody>
      </p:sp>
      <p:sp>
        <p:nvSpPr>
          <p:cNvPr id="9" name="Text 7"/>
          <p:cNvSpPr txBox="1"/>
          <p:nvPr/>
        </p:nvSpPr>
        <p:spPr>
          <a:xfrm>
            <a:off x="6094476" y="2103120"/>
            <a:ext cx="2475738" cy="438912"/>
          </a:xfrm>
          <a:prstGeom prst="rect">
            <a:avLst/>
          </a:prstGeom>
          <a:noFill/>
          <a:ln/>
        </p:spPr>
        <p:txBody>
          <a:bodyPr wrap="square" lIns="0" tIns="0" rIns="0" bIns="0" rtlCol="0" anchor="ctr"/>
          <a:lstStyle/>
          <a:p>
            <a:pPr indent="0" marL="0">
              <a:buNone/>
            </a:pPr>
            <a:r>
              <a:rPr lang="en-US" sz="2600" b="1" dirty="0">
                <a:solidFill>
                  <a:srgbClr val="0A1B3D"/>
                </a:solidFill>
                <a:latin typeface="Cambria" pitchFamily="34" charset="0"/>
                <a:ea typeface="Cambria" pitchFamily="34" charset="-122"/>
                <a:cs typeface="Cambria" pitchFamily="34" charset="-120"/>
              </a:rPr>
              <a:t>&lt; ₹3</a:t>
            </a:r>
            <a:endParaRPr lang="en-US" sz="2600" dirty="0"/>
          </a:p>
        </p:txBody>
      </p:sp>
      <p:sp>
        <p:nvSpPr>
          <p:cNvPr id="10" name="Text 8"/>
          <p:cNvSpPr txBox="1"/>
          <p:nvPr/>
        </p:nvSpPr>
        <p:spPr>
          <a:xfrm>
            <a:off x="6094476" y="2560320"/>
            <a:ext cx="2475738" cy="347472"/>
          </a:xfrm>
          <a:prstGeom prst="rect">
            <a:avLst/>
          </a:prstGeom>
          <a:noFill/>
          <a:ln/>
        </p:spPr>
        <p:txBody>
          <a:bodyPr wrap="square" lIns="0" tIns="0" rIns="0" bIns="0" rtlCol="0" anchor="ctr"/>
          <a:lstStyle/>
          <a:p>
            <a:pPr indent="0" marL="0">
              <a:buNone/>
            </a:pPr>
            <a:r>
              <a:rPr lang="en-US" sz="1150" dirty="0">
                <a:solidFill>
                  <a:srgbClr val="6C7A93"/>
                </a:solidFill>
              </a:rPr>
              <a:t>target cost per resolved conversation</a:t>
            </a:r>
            <a:endParaRPr lang="en-US" sz="1150" dirty="0"/>
          </a:p>
        </p:txBody>
      </p:sp>
      <p:sp>
        <p:nvSpPr>
          <p:cNvPr id="11" name="Text 9"/>
          <p:cNvSpPr txBox="1"/>
          <p:nvPr/>
        </p:nvSpPr>
        <p:spPr>
          <a:xfrm>
            <a:off x="8844534" y="2103120"/>
            <a:ext cx="2475738" cy="438912"/>
          </a:xfrm>
          <a:prstGeom prst="rect">
            <a:avLst/>
          </a:prstGeom>
          <a:noFill/>
          <a:ln/>
        </p:spPr>
        <p:txBody>
          <a:bodyPr wrap="square" lIns="0" tIns="0" rIns="0" bIns="0" rtlCol="0" anchor="ctr"/>
          <a:lstStyle/>
          <a:p>
            <a:pPr indent="0" marL="0">
              <a:buNone/>
            </a:pPr>
            <a:r>
              <a:rPr lang="en-US" sz="2600" b="1" dirty="0">
                <a:solidFill>
                  <a:srgbClr val="00BAF2"/>
                </a:solidFill>
                <a:latin typeface="Cambria" pitchFamily="34" charset="0"/>
                <a:ea typeface="Cambria" pitchFamily="34" charset="-122"/>
                <a:cs typeface="Cambria" pitchFamily="34" charset="-120"/>
              </a:rPr>
              <a:t>11</a:t>
            </a:r>
            <a:endParaRPr lang="en-US" sz="2600" dirty="0"/>
          </a:p>
        </p:txBody>
      </p:sp>
      <p:sp>
        <p:nvSpPr>
          <p:cNvPr id="12" name="Text 10"/>
          <p:cNvSpPr txBox="1"/>
          <p:nvPr/>
        </p:nvSpPr>
        <p:spPr>
          <a:xfrm>
            <a:off x="8844534" y="2560320"/>
            <a:ext cx="2475738" cy="347472"/>
          </a:xfrm>
          <a:prstGeom prst="rect">
            <a:avLst/>
          </a:prstGeom>
          <a:noFill/>
          <a:ln/>
        </p:spPr>
        <p:txBody>
          <a:bodyPr wrap="square" lIns="0" tIns="0" rIns="0" bIns="0" rtlCol="0" anchor="ctr"/>
          <a:lstStyle/>
          <a:p>
            <a:pPr indent="0" marL="0">
              <a:buNone/>
            </a:pPr>
            <a:r>
              <a:rPr lang="en-US" sz="1150" dirty="0">
                <a:solidFill>
                  <a:srgbClr val="6C7A93"/>
                </a:solidFill>
              </a:rPr>
              <a:t>Indian languages, voice-first from day one</a:t>
            </a:r>
            <a:endParaRPr lang="en-US" sz="1150" dirty="0"/>
          </a:p>
        </p:txBody>
      </p:sp>
      <p:graphicFrame>
        <p:nvGraphicFramePr>
          <p:cNvPr id="13" name="Chart 0" descr=""/>
          <p:cNvGraphicFramePr/>
          <p:nvPr/>
        </p:nvGraphicFramePr>
        <p:xfrm>
          <a:off x="594360" y="3246120"/>
          <a:ext cx="6675120" cy="269748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7635240" y="3246120"/>
            <a:ext cx="3931920" cy="310896"/>
          </a:xfrm>
          <a:prstGeom prst="rect">
            <a:avLst/>
          </a:prstGeom>
          <a:noFill/>
          <a:ln/>
        </p:spPr>
        <p:txBody>
          <a:bodyPr wrap="square" lIns="0" tIns="0" rIns="0" bIns="0" rtlCol="0" anchor="ctr"/>
          <a:lstStyle/>
          <a:p>
            <a:pPr indent="0" marL="0">
              <a:buNone/>
            </a:pPr>
            <a:r>
              <a:rPr lang="en-US" sz="1500" b="1" dirty="0">
                <a:solidFill>
                  <a:srgbClr val="0A1B3D"/>
                </a:solidFill>
              </a:rPr>
              <a:t>What it unlocks</a:t>
            </a:r>
            <a:endParaRPr lang="en-US" sz="1500" dirty="0"/>
          </a:p>
        </p:txBody>
      </p:sp>
      <p:sp>
        <p:nvSpPr>
          <p:cNvPr id="15" name="Text 12"/>
          <p:cNvSpPr txBox="1"/>
          <p:nvPr/>
        </p:nvSpPr>
        <p:spPr>
          <a:xfrm>
            <a:off x="7635240" y="3611880"/>
            <a:ext cx="3959352" cy="233172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435270"/>
                </a:solidFill>
              </a:rPr>
              <a:t>Human agents freed for the complex, high-value disputes that actually need judgement</a:t>
            </a:r>
            <a:endParaRPr lang="en-US" sz="1250" dirty="0"/>
          </a:p>
          <a:p>
            <a:pPr marL="342900" indent="-342900">
              <a:spcAft>
                <a:spcPts val="900"/>
              </a:spcAft>
              <a:buSzPct val="100000"/>
              <a:buChar char="•"/>
            </a:pPr>
            <a:r>
              <a:rPr lang="en-US" sz="1250" dirty="0">
                <a:solidFill>
                  <a:srgbClr val="435270"/>
                </a:solidFill>
              </a:rPr>
              <a:t>Lending offers land inside the moment of intent, at effectively zero acquisition cost</a:t>
            </a:r>
            <a:endParaRPr lang="en-US" sz="1250" dirty="0"/>
          </a:p>
          <a:p>
            <a:pPr marL="342900" indent="-342900">
              <a:spcAft>
                <a:spcPts val="900"/>
              </a:spcAft>
              <a:buSzPct val="100000"/>
              <a:buChar char="•"/>
            </a:pPr>
            <a:r>
              <a:rPr lang="en-US" sz="1250" dirty="0">
                <a:solidFill>
                  <a:srgbClr val="435270"/>
                </a:solidFill>
              </a:rPr>
              <a:t>Tier-2 and tier-3 merchants get the same service level as a metro merchant</a:t>
            </a:r>
            <a:endParaRPr lang="en-US" sz="1250" dirty="0"/>
          </a:p>
          <a:p>
            <a:pPr marL="342900" indent="-342900">
              <a:spcAft>
                <a:spcPts val="900"/>
              </a:spcAft>
              <a:buSzPct val="100000"/>
              <a:buChar char="•"/>
            </a:pPr>
            <a:r>
              <a:rPr lang="en-US" sz="1250" dirty="0">
                <a:solidFill>
                  <a:srgbClr val="435270"/>
                </a:solidFill>
              </a:rPr>
              <a:t>Every action is verified and reversible, so error cost falls as volume rises</a:t>
            </a:r>
            <a:endParaRPr lang="en-US" sz="1250" dirty="0"/>
          </a:p>
        </p:txBody>
      </p:sp>
      <p:sp>
        <p:nvSpPr>
          <p:cNvPr id="16" name="Text 13"/>
          <p:cNvSpPr txBox="1"/>
          <p:nvPr/>
        </p:nvSpPr>
        <p:spPr>
          <a:xfrm>
            <a:off x="594360" y="6016752"/>
            <a:ext cx="11000232" cy="274320"/>
          </a:xfrm>
          <a:prstGeom prst="rect">
            <a:avLst/>
          </a:prstGeom>
          <a:noFill/>
          <a:ln/>
        </p:spPr>
        <p:txBody>
          <a:bodyPr wrap="square" lIns="0" tIns="0" rIns="0" bIns="0" rtlCol="0" anchor="ctr"/>
          <a:lstStyle/>
          <a:p>
            <a:pPr indent="0" marL="0">
              <a:buNone/>
            </a:pPr>
            <a:r>
              <a:rPr lang="en-US" sz="1000" i="1" dirty="0">
                <a:solidFill>
                  <a:srgbClr val="6C7A93"/>
                </a:solidFill>
              </a:rPr>
              <a:t>Chart values are directional projections from our golden-set runs and Paytm's published FY26 cost and revenue disclosures; assumptions are in the appendix.</a:t>
            </a:r>
            <a:endParaRPr lang="en-US" sz="1000" dirty="0"/>
          </a:p>
        </p:txBody>
      </p:sp>
      <p:sp>
        <p:nvSpPr>
          <p:cNvPr id="18" name="Text 2"/>
          <p:cNvSpPr/>
          <p:nvPr>
            <p:ph idx="105" hasCustomPrompt="1"/>
          </p:nvPr>
        </p:nvSpPr>
        <p:spPr>
          <a:xfrm>
            <a:off x="11338560" y="6355080"/>
            <a:ext cx="457200" cy="292608"/>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94360" y="384048"/>
            <a:ext cx="10515600" cy="274320"/>
          </a:xfrm>
          <a:prstGeom prst="rect">
            <a:avLst/>
          </a:prstGeom>
          <a:noFill/>
          <a:ln/>
        </p:spPr>
        <p:txBody>
          <a:bodyPr wrap="square" lIns="0" tIns="0" rIns="0" bIns="0" rtlCol="0" anchor="ctr"/>
          <a:lstStyle/>
          <a:p>
            <a:pPr indent="0" marL="0">
              <a:buNone/>
            </a:pPr>
            <a:r>
              <a:rPr lang="en-US" sz="1100" b="1" spc="220" kern="0" dirty="0">
                <a:solidFill>
                  <a:srgbClr val="00BAF2"/>
                </a:solidFill>
              </a:rPr>
              <a:t>BUSINESS MODEL</a:t>
            </a:r>
            <a:endParaRPr lang="en-US" sz="1100" dirty="0"/>
          </a:p>
        </p:txBody>
      </p:sp>
      <p:sp>
        <p:nvSpPr>
          <p:cNvPr id="3" name="Text 1"/>
          <p:cNvSpPr/>
          <p:nvPr>
            <p:ph idx="102" type="title" hasCustomPrompt="1"/>
          </p:nvPr>
        </p:nvSpPr>
        <p:spPr>
          <a:xfrm>
            <a:off x="594360" y="676656"/>
            <a:ext cx="10972800" cy="621792"/>
          </a:xfrm>
          <a:prstGeom prst="rect">
            <a:avLst/>
          </a:prstGeom>
          <a:noFill/>
          <a:ln/>
        </p:spPr>
        <p:txBody>
          <a:bodyPr wrap="square" lIns="0" tIns="0" rIns="0" bIns="0" rtlCol="0" anchor="ctr"/>
          <a:lstStyle/>
          <a:p>
            <a:pPr algn="l" indent="0" marL="0">
              <a:buNone/>
            </a:pPr>
            <a:r>
              <a:rPr lang="en-US" sz="3200" b="1" dirty="0">
                <a:solidFill>
                  <a:srgbClr val="0A1B3D"/>
                </a:solidFill>
              </a:rPr>
              <a:t>Three revenue levers, one teammate</a:t>
            </a:r>
            <a:endParaRPr lang="en-US" sz="3200" dirty="0"/>
          </a:p>
        </p:txBody>
      </p:sp>
      <p:sp>
        <p:nvSpPr>
          <p:cNvPr id="4" name="Text 1"/>
          <p:cNvSpPr/>
          <p:nvPr>
            <p:ph idx="103" type="body" hasCustomPrompt="1"/>
          </p:nvPr>
        </p:nvSpPr>
        <p:spPr>
          <a:xfrm>
            <a:off x="594360" y="1316736"/>
            <a:ext cx="10607040" cy="566928"/>
          </a:xfrm>
          <a:prstGeom prst="rect">
            <a:avLst/>
          </a:prstGeom>
          <a:noFill/>
          <a:ln/>
        </p:spPr>
        <p:txBody>
          <a:bodyPr wrap="square" lIns="0" tIns="0" rIns="0" bIns="0" rtlCol="0" anchor="t"/>
          <a:lstStyle/>
          <a:p>
            <a:pPr indent="0" marL="0">
              <a:buNone/>
            </a:pPr>
            <a:r>
              <a:rPr lang="en-US" sz="1350" dirty="0">
                <a:solidFill>
                  <a:srgbClr val="6C7A93"/>
                </a:solidFill>
              </a:rPr>
              <a:t>Chaukas is not a new product line. It makes the three engines Paytm already monetises run harder, which is why it pays for itself inside the existing P&amp;L.</a:t>
            </a:r>
            <a:endParaRPr lang="en-US" sz="1350" dirty="0"/>
          </a:p>
        </p:txBody>
      </p:sp>
      <p:sp>
        <p:nvSpPr>
          <p:cNvPr id="5" name="leverSAVE"/>
          <p:cNvSpPr/>
          <p:nvPr/>
        </p:nvSpPr>
        <p:spPr>
          <a:xfrm>
            <a:off x="594360" y="2103120"/>
            <a:ext cx="3502152" cy="3611880"/>
          </a:xfrm>
          <a:prstGeom prst="roundRect">
            <a:avLst>
              <a:gd name="adj" fmla="val 2089"/>
            </a:avLst>
          </a:prstGeom>
          <a:solidFill>
            <a:srgbClr val="F1F5FB"/>
          </a:solidFill>
          <a:ln w="12700">
            <a:solidFill>
              <a:srgbClr val="F1F5FB"/>
            </a:solidFill>
            <a:prstDash val="solid"/>
          </a:ln>
        </p:spPr>
      </p:sp>
      <p:sp>
        <p:nvSpPr>
          <p:cNvPr id="6" name="Shape 4"/>
          <p:cNvSpPr/>
          <p:nvPr/>
        </p:nvSpPr>
        <p:spPr>
          <a:xfrm>
            <a:off x="850392" y="2331720"/>
            <a:ext cx="914400" cy="310896"/>
          </a:xfrm>
          <a:prstGeom prst="roundRect">
            <a:avLst>
              <a:gd name="adj" fmla="val 14706"/>
            </a:avLst>
          </a:prstGeom>
          <a:solidFill>
            <a:srgbClr val="00BAF2"/>
          </a:solidFill>
          <a:ln w="12700">
            <a:solidFill>
              <a:srgbClr val="00BAF2"/>
            </a:solidFill>
            <a:prstDash val="solid"/>
          </a:ln>
        </p:spPr>
      </p:sp>
      <p:sp>
        <p:nvSpPr>
          <p:cNvPr id="7" name="Text 5"/>
          <p:cNvSpPr txBox="1"/>
          <p:nvPr/>
        </p:nvSpPr>
        <p:spPr>
          <a:xfrm>
            <a:off x="850392" y="2331720"/>
            <a:ext cx="914400" cy="310896"/>
          </a:xfrm>
          <a:prstGeom prst="rect">
            <a:avLst/>
          </a:prstGeom>
          <a:noFill/>
          <a:ln/>
        </p:spPr>
        <p:txBody>
          <a:bodyPr wrap="square" lIns="0" tIns="0" rIns="0" bIns="0" rtlCol="0" anchor="ctr"/>
          <a:lstStyle/>
          <a:p>
            <a:pPr algn="ctr" indent="0" marL="0">
              <a:buNone/>
            </a:pPr>
            <a:r>
              <a:rPr lang="en-US" sz="1050" b="1" spc="150" kern="0" dirty="0">
                <a:solidFill>
                  <a:srgbClr val="0A1B3D"/>
                </a:solidFill>
              </a:rPr>
              <a:t>SAVE</a:t>
            </a:r>
            <a:endParaRPr lang="en-US" sz="1050" dirty="0"/>
          </a:p>
        </p:txBody>
      </p:sp>
      <p:sp>
        <p:nvSpPr>
          <p:cNvPr id="8" name="Text 6"/>
          <p:cNvSpPr txBox="1"/>
          <p:nvPr/>
        </p:nvSpPr>
        <p:spPr>
          <a:xfrm>
            <a:off x="850392" y="2743200"/>
            <a:ext cx="2990088" cy="365760"/>
          </a:xfrm>
          <a:prstGeom prst="rect">
            <a:avLst/>
          </a:prstGeom>
          <a:noFill/>
          <a:ln/>
        </p:spPr>
        <p:txBody>
          <a:bodyPr wrap="square" lIns="0" tIns="0" rIns="0" bIns="0" rtlCol="0" anchor="ctr"/>
          <a:lstStyle/>
          <a:p>
            <a:pPr indent="0" marL="0">
              <a:buNone/>
            </a:pPr>
            <a:r>
              <a:rPr lang="en-US" sz="1600" b="1" dirty="0">
                <a:solidFill>
                  <a:srgbClr val="0A1B3D"/>
                </a:solidFill>
              </a:rPr>
              <a:t>Lower cost to serve</a:t>
            </a:r>
            <a:endParaRPr lang="en-US" sz="1600" dirty="0"/>
          </a:p>
        </p:txBody>
      </p:sp>
      <p:sp>
        <p:nvSpPr>
          <p:cNvPr id="9" name="Text 7"/>
          <p:cNvSpPr txBox="1"/>
          <p:nvPr/>
        </p:nvSpPr>
        <p:spPr>
          <a:xfrm>
            <a:off x="850392" y="3182112"/>
            <a:ext cx="2990088" cy="23774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435270"/>
                </a:solidFill>
              </a:rPr>
              <a:t>Action-heavy tickets resolved without a human in the loop</a:t>
            </a:r>
            <a:endParaRPr lang="en-US" sz="1250" dirty="0"/>
          </a:p>
          <a:p>
            <a:pPr marL="342900" indent="-342900">
              <a:spcAft>
                <a:spcPts val="1000"/>
              </a:spcAft>
              <a:buSzPct val="100000"/>
              <a:buChar char="•"/>
            </a:pPr>
            <a:r>
              <a:rPr lang="en-US" sz="1250" dirty="0">
                <a:solidFill>
                  <a:srgbClr val="435270"/>
                </a:solidFill>
              </a:rPr>
              <a:t>Settlement, refund and dispute handling time compressed</a:t>
            </a:r>
            <a:endParaRPr lang="en-US" sz="1250" dirty="0"/>
          </a:p>
          <a:p>
            <a:pPr marL="342900" indent="-342900">
              <a:spcAft>
                <a:spcPts val="1000"/>
              </a:spcAft>
              <a:buSzPct val="100000"/>
              <a:buChar char="•"/>
            </a:pPr>
            <a:r>
              <a:rPr lang="en-US" sz="1250" dirty="0">
                <a:solidFill>
                  <a:srgbClr val="435270"/>
                </a:solidFill>
              </a:rPr>
              <a:t>Extends the AI-led operating leverage already cutting indirect costs</a:t>
            </a:r>
            <a:endParaRPr lang="en-US" sz="1250" dirty="0"/>
          </a:p>
        </p:txBody>
      </p:sp>
      <p:sp>
        <p:nvSpPr>
          <p:cNvPr id="10" name="leverEARN"/>
          <p:cNvSpPr/>
          <p:nvPr/>
        </p:nvSpPr>
        <p:spPr>
          <a:xfrm>
            <a:off x="4315968" y="2103120"/>
            <a:ext cx="3502152" cy="3611880"/>
          </a:xfrm>
          <a:prstGeom prst="roundRect">
            <a:avLst>
              <a:gd name="adj" fmla="val 2089"/>
            </a:avLst>
          </a:prstGeom>
          <a:solidFill>
            <a:srgbClr val="F1F5FB"/>
          </a:solidFill>
          <a:ln w="12700">
            <a:solidFill>
              <a:srgbClr val="F1F5FB"/>
            </a:solidFill>
            <a:prstDash val="solid"/>
          </a:ln>
        </p:spPr>
      </p:sp>
      <p:sp>
        <p:nvSpPr>
          <p:cNvPr id="11" name="Shape 9"/>
          <p:cNvSpPr/>
          <p:nvPr/>
        </p:nvSpPr>
        <p:spPr>
          <a:xfrm>
            <a:off x="4572000" y="2331720"/>
            <a:ext cx="914400" cy="310896"/>
          </a:xfrm>
          <a:prstGeom prst="roundRect">
            <a:avLst>
              <a:gd name="adj" fmla="val 14706"/>
            </a:avLst>
          </a:prstGeom>
          <a:solidFill>
            <a:srgbClr val="F5A623"/>
          </a:solidFill>
          <a:ln w="12700">
            <a:solidFill>
              <a:srgbClr val="F5A623"/>
            </a:solidFill>
            <a:prstDash val="solid"/>
          </a:ln>
        </p:spPr>
      </p:sp>
      <p:sp>
        <p:nvSpPr>
          <p:cNvPr id="12" name="Text 10"/>
          <p:cNvSpPr txBox="1"/>
          <p:nvPr/>
        </p:nvSpPr>
        <p:spPr>
          <a:xfrm>
            <a:off x="4572000" y="2331720"/>
            <a:ext cx="914400" cy="310896"/>
          </a:xfrm>
          <a:prstGeom prst="rect">
            <a:avLst/>
          </a:prstGeom>
          <a:noFill/>
          <a:ln/>
        </p:spPr>
        <p:txBody>
          <a:bodyPr wrap="square" lIns="0" tIns="0" rIns="0" bIns="0" rtlCol="0" anchor="ctr"/>
          <a:lstStyle/>
          <a:p>
            <a:pPr algn="ctr" indent="0" marL="0">
              <a:buNone/>
            </a:pPr>
            <a:r>
              <a:rPr lang="en-US" sz="1050" b="1" spc="150" kern="0" dirty="0">
                <a:solidFill>
                  <a:srgbClr val="0A1B3D"/>
                </a:solidFill>
              </a:rPr>
              <a:t>EARN</a:t>
            </a:r>
            <a:endParaRPr lang="en-US" sz="1050" dirty="0"/>
          </a:p>
        </p:txBody>
      </p:sp>
      <p:sp>
        <p:nvSpPr>
          <p:cNvPr id="13" name="Text 11"/>
          <p:cNvSpPr txBox="1"/>
          <p:nvPr/>
        </p:nvSpPr>
        <p:spPr>
          <a:xfrm>
            <a:off x="4572000" y="2743200"/>
            <a:ext cx="2990088" cy="365760"/>
          </a:xfrm>
          <a:prstGeom prst="rect">
            <a:avLst/>
          </a:prstGeom>
          <a:noFill/>
          <a:ln/>
        </p:spPr>
        <p:txBody>
          <a:bodyPr wrap="square" lIns="0" tIns="0" rIns="0" bIns="0" rtlCol="0" anchor="ctr"/>
          <a:lstStyle/>
          <a:p>
            <a:pPr indent="0" marL="0">
              <a:buNone/>
            </a:pPr>
            <a:r>
              <a:rPr lang="en-US" sz="1600" b="1" dirty="0">
                <a:solidFill>
                  <a:srgbClr val="0A1B3D"/>
                </a:solidFill>
              </a:rPr>
              <a:t>Drive financial services</a:t>
            </a:r>
            <a:endParaRPr lang="en-US" sz="1600" dirty="0"/>
          </a:p>
        </p:txBody>
      </p:sp>
      <p:sp>
        <p:nvSpPr>
          <p:cNvPr id="14" name="Text 12"/>
          <p:cNvSpPr txBox="1"/>
          <p:nvPr/>
        </p:nvSpPr>
        <p:spPr>
          <a:xfrm>
            <a:off x="4572000" y="3182112"/>
            <a:ext cx="2990088" cy="23774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435270"/>
                </a:solidFill>
              </a:rPr>
              <a:t>Consented loan offers placed at the moment of intent</a:t>
            </a:r>
            <a:endParaRPr lang="en-US" sz="1250" dirty="0"/>
          </a:p>
          <a:p>
            <a:pPr marL="342900" indent="-342900">
              <a:spcAft>
                <a:spcPts val="1000"/>
              </a:spcAft>
              <a:buSzPct val="100000"/>
              <a:buChar char="•"/>
            </a:pPr>
            <a:r>
              <a:rPr lang="en-US" sz="1250" dirty="0">
                <a:solidFill>
                  <a:srgbClr val="435270"/>
                </a:solidFill>
              </a:rPr>
              <a:t>Higher conversion from in-conversation nudges than bulk campaigns</a:t>
            </a:r>
            <a:endParaRPr lang="en-US" sz="1250" dirty="0"/>
          </a:p>
          <a:p>
            <a:pPr marL="342900" indent="-342900">
              <a:spcAft>
                <a:spcPts val="1000"/>
              </a:spcAft>
              <a:buSzPct val="100000"/>
              <a:buChar char="•"/>
            </a:pPr>
            <a:r>
              <a:rPr lang="en-US" sz="1250" dirty="0">
                <a:solidFill>
                  <a:srgbClr val="435270"/>
                </a:solidFill>
              </a:rPr>
              <a:t>Distribution commission on cross-sold financial products</a:t>
            </a:r>
            <a:endParaRPr lang="en-US" sz="1250" dirty="0"/>
          </a:p>
        </p:txBody>
      </p:sp>
      <p:sp>
        <p:nvSpPr>
          <p:cNvPr id="15" name="leverGROW"/>
          <p:cNvSpPr/>
          <p:nvPr/>
        </p:nvSpPr>
        <p:spPr>
          <a:xfrm>
            <a:off x="8037576" y="2103120"/>
            <a:ext cx="3502152" cy="3611880"/>
          </a:xfrm>
          <a:prstGeom prst="roundRect">
            <a:avLst>
              <a:gd name="adj" fmla="val 2089"/>
            </a:avLst>
          </a:prstGeom>
          <a:solidFill>
            <a:srgbClr val="F1F5FB"/>
          </a:solidFill>
          <a:ln w="12700">
            <a:solidFill>
              <a:srgbClr val="F1F5FB"/>
            </a:solidFill>
            <a:prstDash val="solid"/>
          </a:ln>
        </p:spPr>
      </p:sp>
      <p:sp>
        <p:nvSpPr>
          <p:cNvPr id="16" name="Shape 14"/>
          <p:cNvSpPr/>
          <p:nvPr/>
        </p:nvSpPr>
        <p:spPr>
          <a:xfrm>
            <a:off x="8293608" y="2331720"/>
            <a:ext cx="914400" cy="310896"/>
          </a:xfrm>
          <a:prstGeom prst="roundRect">
            <a:avLst>
              <a:gd name="adj" fmla="val 14706"/>
            </a:avLst>
          </a:prstGeom>
          <a:solidFill>
            <a:srgbClr val="2BB673"/>
          </a:solidFill>
          <a:ln w="12700">
            <a:solidFill>
              <a:srgbClr val="2BB673"/>
            </a:solidFill>
            <a:prstDash val="solid"/>
          </a:ln>
        </p:spPr>
      </p:sp>
      <p:sp>
        <p:nvSpPr>
          <p:cNvPr id="17" name="Text 15"/>
          <p:cNvSpPr txBox="1"/>
          <p:nvPr/>
        </p:nvSpPr>
        <p:spPr>
          <a:xfrm>
            <a:off x="8293608" y="2331720"/>
            <a:ext cx="914400" cy="310896"/>
          </a:xfrm>
          <a:prstGeom prst="rect">
            <a:avLst/>
          </a:prstGeom>
          <a:noFill/>
          <a:ln/>
        </p:spPr>
        <p:txBody>
          <a:bodyPr wrap="square" lIns="0" tIns="0" rIns="0" bIns="0" rtlCol="0" anchor="ctr"/>
          <a:lstStyle/>
          <a:p>
            <a:pPr algn="ctr" indent="0" marL="0">
              <a:buNone/>
            </a:pPr>
            <a:r>
              <a:rPr lang="en-US" sz="1050" b="1" spc="150" kern="0" dirty="0">
                <a:solidFill>
                  <a:srgbClr val="0A1B3D"/>
                </a:solidFill>
              </a:rPr>
              <a:t>GROW</a:t>
            </a:r>
            <a:endParaRPr lang="en-US" sz="1050" dirty="0"/>
          </a:p>
        </p:txBody>
      </p:sp>
      <p:sp>
        <p:nvSpPr>
          <p:cNvPr id="18" name="Text 16"/>
          <p:cNvSpPr txBox="1"/>
          <p:nvPr/>
        </p:nvSpPr>
        <p:spPr>
          <a:xfrm>
            <a:off x="8293608" y="2743200"/>
            <a:ext cx="2990088" cy="365760"/>
          </a:xfrm>
          <a:prstGeom prst="rect">
            <a:avLst/>
          </a:prstGeom>
          <a:noFill/>
          <a:ln/>
        </p:spPr>
        <p:txBody>
          <a:bodyPr wrap="square" lIns="0" tIns="0" rIns="0" bIns="0" rtlCol="0" anchor="ctr"/>
          <a:lstStyle/>
          <a:p>
            <a:pPr indent="0" marL="0">
              <a:buNone/>
            </a:pPr>
            <a:r>
              <a:rPr lang="en-US" sz="1600" b="1" dirty="0">
                <a:solidFill>
                  <a:srgbClr val="0A1B3D"/>
                </a:solidFill>
              </a:rPr>
              <a:t>Upsell and retain merchants</a:t>
            </a:r>
            <a:endParaRPr lang="en-US" sz="1600" dirty="0"/>
          </a:p>
        </p:txBody>
      </p:sp>
      <p:sp>
        <p:nvSpPr>
          <p:cNvPr id="19" name="Text 17"/>
          <p:cNvSpPr txBox="1"/>
          <p:nvPr/>
        </p:nvSpPr>
        <p:spPr>
          <a:xfrm>
            <a:off x="8293608" y="3182112"/>
            <a:ext cx="2990088" cy="23774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435270"/>
                </a:solidFill>
              </a:rPr>
              <a:t>Device and Soundbox upgrade prompts driven by real usage</a:t>
            </a:r>
            <a:endParaRPr lang="en-US" sz="1250" dirty="0"/>
          </a:p>
          <a:p>
            <a:pPr marL="342900" indent="-342900">
              <a:spcAft>
                <a:spcPts val="1000"/>
              </a:spcAft>
              <a:buSzPct val="100000"/>
              <a:buChar char="•"/>
            </a:pPr>
            <a:r>
              <a:rPr lang="en-US" sz="1250" dirty="0">
                <a:solidFill>
                  <a:srgbClr val="435270"/>
                </a:solidFill>
              </a:rPr>
              <a:t>A paid Chaukas Pro tier for multi-outlet and larger merchants</a:t>
            </a:r>
            <a:endParaRPr lang="en-US" sz="1250" dirty="0"/>
          </a:p>
          <a:p>
            <a:pPr marL="342900" indent="-342900">
              <a:spcAft>
                <a:spcPts val="1000"/>
              </a:spcAft>
              <a:buSzPct val="100000"/>
              <a:buChar char="•"/>
            </a:pPr>
            <a:r>
              <a:rPr lang="en-US" sz="1250" dirty="0">
                <a:solidFill>
                  <a:srgbClr val="435270"/>
                </a:solidFill>
              </a:rPr>
              <a:t>Lower churn through proactive, pre-emptive resolution</a:t>
            </a:r>
            <a:endParaRPr lang="en-US" sz="1250" dirty="0"/>
          </a:p>
        </p:txBody>
      </p:sp>
      <p:sp>
        <p:nvSpPr>
          <p:cNvPr id="20" name="Text 18"/>
          <p:cNvSpPr txBox="1"/>
          <p:nvPr/>
        </p:nvSpPr>
        <p:spPr>
          <a:xfrm>
            <a:off x="594360" y="5870448"/>
            <a:ext cx="11000232" cy="310896"/>
          </a:xfrm>
          <a:prstGeom prst="rect">
            <a:avLst/>
          </a:prstGeom>
          <a:noFill/>
          <a:ln/>
        </p:spPr>
        <p:txBody>
          <a:bodyPr wrap="square" lIns="0" tIns="0" rIns="0" bIns="0" rtlCol="0" anchor="ctr"/>
          <a:lstStyle/>
          <a:p>
            <a:pPr indent="0" marL="0">
              <a:buNone/>
            </a:pPr>
            <a:r>
              <a:rPr lang="en-US" sz="1300" i="1" dirty="0">
                <a:solidFill>
                  <a:srgbClr val="0A1B3D"/>
                </a:solidFill>
              </a:rPr>
              <a:t>Aligned to how Paytm actually earns: merchant payment devices, lending distribution and merchant SaaS.</a:t>
            </a:r>
            <a:endParaRPr lang="en-US" sz="1300" dirty="0"/>
          </a:p>
        </p:txBody>
      </p:sp>
      <p:sp>
        <p:nvSpPr>
          <p:cNvPr id="22" name="Text 2"/>
          <p:cNvSpPr/>
          <p:nvPr>
            <p:ph idx="105" hasCustomPrompt="1"/>
          </p:nvPr>
        </p:nvSpPr>
        <p:spPr>
          <a:xfrm>
            <a:off x="11338560" y="6355080"/>
            <a:ext cx="457200" cy="292608"/>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94360" y="384048"/>
            <a:ext cx="10515600" cy="274320"/>
          </a:xfrm>
          <a:prstGeom prst="rect">
            <a:avLst/>
          </a:prstGeom>
          <a:noFill/>
          <a:ln/>
        </p:spPr>
        <p:txBody>
          <a:bodyPr wrap="square" lIns="0" tIns="0" rIns="0" bIns="0" rtlCol="0" anchor="ctr"/>
          <a:lstStyle/>
          <a:p>
            <a:pPr indent="0" marL="0">
              <a:buNone/>
            </a:pPr>
            <a:r>
              <a:rPr lang="en-US" sz="1100" b="1" spc="220" kern="0" dirty="0">
                <a:solidFill>
                  <a:srgbClr val="00BAF2"/>
                </a:solidFill>
              </a:rPr>
              <a:t>SAFETY &amp; COMPLIANCE</a:t>
            </a:r>
            <a:endParaRPr lang="en-US" sz="1100" dirty="0"/>
          </a:p>
        </p:txBody>
      </p:sp>
      <p:sp>
        <p:nvSpPr>
          <p:cNvPr id="3" name="Text 1"/>
          <p:cNvSpPr/>
          <p:nvPr>
            <p:ph idx="102" type="title" hasCustomPrompt="1"/>
          </p:nvPr>
        </p:nvSpPr>
        <p:spPr>
          <a:xfrm>
            <a:off x="594360" y="676656"/>
            <a:ext cx="10972800" cy="621792"/>
          </a:xfrm>
          <a:prstGeom prst="rect">
            <a:avLst/>
          </a:prstGeom>
          <a:noFill/>
          <a:ln/>
        </p:spPr>
        <p:txBody>
          <a:bodyPr wrap="square" lIns="0" tIns="0" rIns="0" bIns="0" rtlCol="0" anchor="ctr"/>
          <a:lstStyle/>
          <a:p>
            <a:pPr algn="l" indent="0" marL="0">
              <a:buNone/>
            </a:pPr>
            <a:r>
              <a:rPr lang="en-US" sz="3200" b="1" dirty="0">
                <a:solidFill>
                  <a:srgbClr val="0A1B3D"/>
                </a:solidFill>
              </a:rPr>
              <a:t>Built to pass a risk review</a:t>
            </a:r>
            <a:endParaRPr lang="en-US" sz="3200" dirty="0"/>
          </a:p>
        </p:txBody>
      </p:sp>
      <p:sp>
        <p:nvSpPr>
          <p:cNvPr id="4" name="Text 1"/>
          <p:cNvSpPr/>
          <p:nvPr>
            <p:ph idx="103" type="body" hasCustomPrompt="1"/>
          </p:nvPr>
        </p:nvSpPr>
        <p:spPr>
          <a:xfrm>
            <a:off x="594360" y="1316736"/>
            <a:ext cx="10607040" cy="566928"/>
          </a:xfrm>
          <a:prstGeom prst="rect">
            <a:avLst/>
          </a:prstGeom>
          <a:noFill/>
          <a:ln/>
        </p:spPr>
        <p:txBody>
          <a:bodyPr wrap="square" lIns="0" tIns="0" rIns="0" bIns="0" rtlCol="0" anchor="t"/>
          <a:lstStyle/>
          <a:p>
            <a:pPr indent="0" marL="0">
              <a:buNone/>
            </a:pPr>
            <a:r>
              <a:rPr lang="en-US" sz="1350" dirty="0">
                <a:solidFill>
                  <a:srgbClr val="6C7A93"/>
                </a:solidFill>
              </a:rPr>
              <a:t>An agent that can move money is a regulated system, not a demo. We designed against the published framework rather than retrofitting compliance later.</a:t>
            </a:r>
            <a:endParaRPr lang="en-US" sz="1350" dirty="0"/>
          </a:p>
        </p:txBody>
      </p:sp>
      <p:sp>
        <p:nvSpPr>
          <p:cNvPr id="5" name="Text 3"/>
          <p:cNvSpPr txBox="1"/>
          <p:nvPr/>
        </p:nvSpPr>
        <p:spPr>
          <a:xfrm>
            <a:off x="594360" y="2084832"/>
            <a:ext cx="5394960" cy="329184"/>
          </a:xfrm>
          <a:prstGeom prst="rect">
            <a:avLst/>
          </a:prstGeom>
          <a:noFill/>
          <a:ln/>
        </p:spPr>
        <p:txBody>
          <a:bodyPr wrap="square" lIns="0" tIns="0" rIns="0" bIns="0" rtlCol="0" anchor="ctr"/>
          <a:lstStyle/>
          <a:p>
            <a:pPr indent="0" marL="0">
              <a:buNone/>
            </a:pPr>
            <a:r>
              <a:rPr lang="en-US" sz="1600" b="1" dirty="0">
                <a:solidFill>
                  <a:srgbClr val="0A1B3D"/>
                </a:solidFill>
              </a:rPr>
              <a:t>Regulatory alignment</a:t>
            </a:r>
            <a:endParaRPr lang="en-US" sz="1600" dirty="0"/>
          </a:p>
        </p:txBody>
      </p:sp>
      <p:sp>
        <p:nvSpPr>
          <p:cNvPr id="6" name="Text 4"/>
          <p:cNvSpPr txBox="1"/>
          <p:nvPr/>
        </p:nvSpPr>
        <p:spPr>
          <a:xfrm>
            <a:off x="594360" y="2487168"/>
            <a:ext cx="5394960" cy="3017520"/>
          </a:xfrm>
          <a:prstGeom prst="rect">
            <a:avLst/>
          </a:prstGeom>
          <a:noFill/>
          <a:ln/>
        </p:spPr>
        <p:txBody>
          <a:bodyPr wrap="square" lIns="0" tIns="0" rIns="0" bIns="0" rtlCol="0" anchor="ctr"/>
          <a:lstStyle/>
          <a:p>
            <a:pPr marL="342900" indent="-342900">
              <a:spcAft>
                <a:spcPts val="1100"/>
              </a:spcAft>
              <a:buSzPct val="100000"/>
              <a:buChar char="•"/>
            </a:pPr>
            <a:r>
              <a:rPr lang="en-US" sz="1300" dirty="0">
                <a:solidFill>
                  <a:srgbClr val="435270"/>
                </a:solidFill>
              </a:rPr>
              <a:t>RBI FREE-AI framework (Aug 2025): seven sutras, 26 recommendations across six pillars</a:t>
            </a:r>
            <a:endParaRPr lang="en-US" sz="1300" dirty="0"/>
          </a:p>
          <a:p>
            <a:pPr marL="342900" indent="-342900">
              <a:spcAft>
                <a:spcPts val="1100"/>
              </a:spcAft>
              <a:buSzPct val="100000"/>
              <a:buChar char="•"/>
            </a:pPr>
            <a:r>
              <a:rPr lang="en-US" sz="1300" dirty="0">
                <a:solidFill>
                  <a:srgbClr val="435270"/>
                </a:solidFill>
              </a:rPr>
              <a:t>Disclosure — the merchant is always told they are speaking to an AI</a:t>
            </a:r>
            <a:endParaRPr lang="en-US" sz="1300" dirty="0"/>
          </a:p>
          <a:p>
            <a:pPr marL="342900" indent="-342900">
              <a:spcAft>
                <a:spcPts val="1100"/>
              </a:spcAft>
              <a:buSzPct val="100000"/>
              <a:buChar char="•"/>
            </a:pPr>
            <a:r>
              <a:rPr lang="en-US" sz="1300" dirty="0">
                <a:solidFill>
                  <a:srgbClr val="435270"/>
                </a:solidFill>
              </a:rPr>
              <a:t>Explainability and auditability on every automated decision that touches money</a:t>
            </a:r>
            <a:endParaRPr lang="en-US" sz="1300" dirty="0"/>
          </a:p>
          <a:p>
            <a:pPr marL="342900" indent="-342900">
              <a:spcAft>
                <a:spcPts val="1100"/>
              </a:spcAft>
              <a:buSzPct val="100000"/>
              <a:buChar char="•"/>
            </a:pPr>
            <a:r>
              <a:rPr lang="en-US" sz="1300" dirty="0">
                <a:solidFill>
                  <a:srgbClr val="435270"/>
                </a:solidFill>
              </a:rPr>
              <a:t>DPDP Act 2023: explicit consent, data minimisation and PII redaction in the pipeline</a:t>
            </a:r>
            <a:endParaRPr lang="en-US" sz="1300" dirty="0"/>
          </a:p>
          <a:p>
            <a:pPr marL="342900" indent="-342900">
              <a:spcAft>
                <a:spcPts val="1100"/>
              </a:spcAft>
              <a:buSzPct val="100000"/>
              <a:buChar char="•"/>
            </a:pPr>
            <a:r>
              <a:rPr lang="en-US" sz="1300" dirty="0">
                <a:solidFill>
                  <a:srgbClr val="435270"/>
                </a:solidFill>
              </a:rPr>
              <a:t>Accountability stays with the regulated entity — we log for their audit, not ours</a:t>
            </a:r>
            <a:endParaRPr lang="en-US" sz="1300" dirty="0"/>
          </a:p>
        </p:txBody>
      </p:sp>
      <p:sp>
        <p:nvSpPr>
          <p:cNvPr id="7" name="Text 5"/>
          <p:cNvSpPr txBox="1"/>
          <p:nvPr/>
        </p:nvSpPr>
        <p:spPr>
          <a:xfrm>
            <a:off x="6199632" y="2084832"/>
            <a:ext cx="5394960" cy="329184"/>
          </a:xfrm>
          <a:prstGeom prst="rect">
            <a:avLst/>
          </a:prstGeom>
          <a:noFill/>
          <a:ln/>
        </p:spPr>
        <p:txBody>
          <a:bodyPr wrap="square" lIns="0" tIns="0" rIns="0" bIns="0" rtlCol="0" anchor="ctr"/>
          <a:lstStyle/>
          <a:p>
            <a:pPr indent="0" marL="0">
              <a:buNone/>
            </a:pPr>
            <a:r>
              <a:rPr lang="en-US" sz="1600" b="1" dirty="0">
                <a:solidFill>
                  <a:srgbClr val="0A1B3D"/>
                </a:solidFill>
              </a:rPr>
              <a:t>Failure modes and controls</a:t>
            </a:r>
            <a:endParaRPr lang="en-US" sz="1600" dirty="0"/>
          </a:p>
        </p:txBody>
      </p:sp>
      <p:sp>
        <p:nvSpPr>
          <p:cNvPr id="8" name="fail2.72"/>
          <p:cNvSpPr/>
          <p:nvPr/>
        </p:nvSpPr>
        <p:spPr>
          <a:xfrm>
            <a:off x="6199632" y="2487168"/>
            <a:ext cx="5394960" cy="749808"/>
          </a:xfrm>
          <a:prstGeom prst="roundRect">
            <a:avLst>
              <a:gd name="adj" fmla="val 6098"/>
            </a:avLst>
          </a:prstGeom>
          <a:solidFill>
            <a:srgbClr val="F1F5FB"/>
          </a:solidFill>
          <a:ln w="12700">
            <a:solidFill>
              <a:srgbClr val="F1F5FB"/>
            </a:solidFill>
            <a:prstDash val="solid"/>
          </a:ln>
        </p:spPr>
      </p:sp>
      <p:sp>
        <p:nvSpPr>
          <p:cNvPr id="9" name="Text 7"/>
          <p:cNvSpPr txBox="1"/>
          <p:nvPr/>
        </p:nvSpPr>
        <p:spPr>
          <a:xfrm>
            <a:off x="6400800" y="2560320"/>
            <a:ext cx="4992624" cy="256032"/>
          </a:xfrm>
          <a:prstGeom prst="rect">
            <a:avLst/>
          </a:prstGeom>
          <a:noFill/>
          <a:ln/>
        </p:spPr>
        <p:txBody>
          <a:bodyPr wrap="square" lIns="0" tIns="0" rIns="0" bIns="0" rtlCol="0" anchor="ctr"/>
          <a:lstStyle/>
          <a:p>
            <a:pPr indent="0" marL="0">
              <a:buNone/>
            </a:pPr>
            <a:r>
              <a:rPr lang="en-US" sz="1250" b="1" dirty="0">
                <a:solidFill>
                  <a:srgbClr val="0A1B3D"/>
                </a:solidFill>
              </a:rPr>
              <a:t>Agent plans a wrong or oversized action</a:t>
            </a:r>
            <a:endParaRPr lang="en-US" sz="1250" dirty="0"/>
          </a:p>
        </p:txBody>
      </p:sp>
      <p:sp>
        <p:nvSpPr>
          <p:cNvPr id="10" name="Text 8"/>
          <p:cNvSpPr txBox="1"/>
          <p:nvPr/>
        </p:nvSpPr>
        <p:spPr>
          <a:xfrm>
            <a:off x="6400800" y="2816352"/>
            <a:ext cx="4992624" cy="384048"/>
          </a:xfrm>
          <a:prstGeom prst="rect">
            <a:avLst/>
          </a:prstGeom>
          <a:noFill/>
          <a:ln/>
        </p:spPr>
        <p:txBody>
          <a:bodyPr wrap="square" lIns="0" tIns="0" rIns="0" bIns="0" rtlCol="0" anchor="ctr"/>
          <a:lstStyle/>
          <a:p>
            <a:pPr indent="0" marL="0">
              <a:lnSpc>
                <a:spcPct val="100000"/>
              </a:lnSpc>
              <a:buNone/>
            </a:pPr>
            <a:r>
              <a:rPr lang="en-US" sz="1150" dirty="0">
                <a:solidFill>
                  <a:srgbClr val="435270"/>
                </a:solidFill>
              </a:rPr>
              <a:t>Hard value limits; anything above the auto-limit requires merchant step-up confirmation</a:t>
            </a:r>
            <a:endParaRPr lang="en-US" sz="1150" dirty="0"/>
          </a:p>
        </p:txBody>
      </p:sp>
      <p:sp>
        <p:nvSpPr>
          <p:cNvPr id="11" name="fail3.62"/>
          <p:cNvSpPr/>
          <p:nvPr/>
        </p:nvSpPr>
        <p:spPr>
          <a:xfrm>
            <a:off x="6199632" y="3310128"/>
            <a:ext cx="5394960" cy="749808"/>
          </a:xfrm>
          <a:prstGeom prst="roundRect">
            <a:avLst>
              <a:gd name="adj" fmla="val 6098"/>
            </a:avLst>
          </a:prstGeom>
          <a:solidFill>
            <a:srgbClr val="F1F5FB"/>
          </a:solidFill>
          <a:ln w="12700">
            <a:solidFill>
              <a:srgbClr val="F1F5FB"/>
            </a:solidFill>
            <a:prstDash val="solid"/>
          </a:ln>
        </p:spPr>
      </p:sp>
      <p:sp>
        <p:nvSpPr>
          <p:cNvPr id="12" name="Text 10"/>
          <p:cNvSpPr txBox="1"/>
          <p:nvPr/>
        </p:nvSpPr>
        <p:spPr>
          <a:xfrm>
            <a:off x="6400800" y="3383280"/>
            <a:ext cx="4992624" cy="256032"/>
          </a:xfrm>
          <a:prstGeom prst="rect">
            <a:avLst/>
          </a:prstGeom>
          <a:noFill/>
          <a:ln/>
        </p:spPr>
        <p:txBody>
          <a:bodyPr wrap="square" lIns="0" tIns="0" rIns="0" bIns="0" rtlCol="0" anchor="ctr"/>
          <a:lstStyle/>
          <a:p>
            <a:pPr indent="0" marL="0">
              <a:buNone/>
            </a:pPr>
            <a:r>
              <a:rPr lang="en-US" sz="1250" b="1" dirty="0">
                <a:solidFill>
                  <a:srgbClr val="0A1B3D"/>
                </a:solidFill>
              </a:rPr>
              <a:t>Duplicate or replayed execution</a:t>
            </a:r>
            <a:endParaRPr lang="en-US" sz="1250" dirty="0"/>
          </a:p>
        </p:txBody>
      </p:sp>
      <p:sp>
        <p:nvSpPr>
          <p:cNvPr id="13" name="Text 11"/>
          <p:cNvSpPr txBox="1"/>
          <p:nvPr/>
        </p:nvSpPr>
        <p:spPr>
          <a:xfrm>
            <a:off x="6400800" y="3639312"/>
            <a:ext cx="4992624" cy="384048"/>
          </a:xfrm>
          <a:prstGeom prst="rect">
            <a:avLst/>
          </a:prstGeom>
          <a:noFill/>
          <a:ln/>
        </p:spPr>
        <p:txBody>
          <a:bodyPr wrap="square" lIns="0" tIns="0" rIns="0" bIns="0" rtlCol="0" anchor="ctr"/>
          <a:lstStyle/>
          <a:p>
            <a:pPr indent="0" marL="0">
              <a:lnSpc>
                <a:spcPct val="100000"/>
              </a:lnSpc>
              <a:buNone/>
            </a:pPr>
            <a:r>
              <a:rPr lang="en-US" sz="1150" dirty="0">
                <a:solidFill>
                  <a:srgbClr val="435270"/>
                </a:solidFill>
              </a:rPr>
              <a:t>Idempotency keys on every call, with a rollback token issued before execution</a:t>
            </a:r>
            <a:endParaRPr lang="en-US" sz="1150" dirty="0"/>
          </a:p>
        </p:txBody>
      </p:sp>
      <p:sp>
        <p:nvSpPr>
          <p:cNvPr id="14" name="fail4.5200000000000005"/>
          <p:cNvSpPr/>
          <p:nvPr/>
        </p:nvSpPr>
        <p:spPr>
          <a:xfrm>
            <a:off x="6199632" y="4133088"/>
            <a:ext cx="5394960" cy="749808"/>
          </a:xfrm>
          <a:prstGeom prst="roundRect">
            <a:avLst>
              <a:gd name="adj" fmla="val 6098"/>
            </a:avLst>
          </a:prstGeom>
          <a:solidFill>
            <a:srgbClr val="F1F5FB"/>
          </a:solidFill>
          <a:ln w="12700">
            <a:solidFill>
              <a:srgbClr val="F1F5FB"/>
            </a:solidFill>
            <a:prstDash val="solid"/>
          </a:ln>
        </p:spPr>
      </p:sp>
      <p:sp>
        <p:nvSpPr>
          <p:cNvPr id="15" name="Text 13"/>
          <p:cNvSpPr txBox="1"/>
          <p:nvPr/>
        </p:nvSpPr>
        <p:spPr>
          <a:xfrm>
            <a:off x="6400800" y="4206240"/>
            <a:ext cx="4992624" cy="256032"/>
          </a:xfrm>
          <a:prstGeom prst="rect">
            <a:avLst/>
          </a:prstGeom>
          <a:noFill/>
          <a:ln/>
        </p:spPr>
        <p:txBody>
          <a:bodyPr wrap="square" lIns="0" tIns="0" rIns="0" bIns="0" rtlCol="0" anchor="ctr"/>
          <a:lstStyle/>
          <a:p>
            <a:pPr indent="0" marL="0">
              <a:buNone/>
            </a:pPr>
            <a:r>
              <a:rPr lang="en-US" sz="1250" b="1" dirty="0">
                <a:solidFill>
                  <a:srgbClr val="0A1B3D"/>
                </a:solidFill>
              </a:rPr>
              <a:t>Prompt injection via merchant input</a:t>
            </a:r>
            <a:endParaRPr lang="en-US" sz="1250" dirty="0"/>
          </a:p>
        </p:txBody>
      </p:sp>
      <p:sp>
        <p:nvSpPr>
          <p:cNvPr id="16" name="Text 14"/>
          <p:cNvSpPr txBox="1"/>
          <p:nvPr/>
        </p:nvSpPr>
        <p:spPr>
          <a:xfrm>
            <a:off x="6400800" y="4462272"/>
            <a:ext cx="4992624" cy="384048"/>
          </a:xfrm>
          <a:prstGeom prst="rect">
            <a:avLst/>
          </a:prstGeom>
          <a:noFill/>
          <a:ln/>
        </p:spPr>
        <p:txBody>
          <a:bodyPr wrap="square" lIns="0" tIns="0" rIns="0" bIns="0" rtlCol="0" anchor="ctr"/>
          <a:lstStyle/>
          <a:p>
            <a:pPr indent="0" marL="0">
              <a:lnSpc>
                <a:spcPct val="100000"/>
              </a:lnSpc>
              <a:buNone/>
            </a:pPr>
            <a:r>
              <a:rPr lang="en-US" sz="1150" dirty="0">
                <a:solidFill>
                  <a:srgbClr val="435270"/>
                </a:solidFill>
              </a:rPr>
              <a:t>Instructions are never taken from user content; tool arguments are schema-validated</a:t>
            </a:r>
            <a:endParaRPr lang="en-US" sz="1150" dirty="0"/>
          </a:p>
        </p:txBody>
      </p:sp>
      <p:sp>
        <p:nvSpPr>
          <p:cNvPr id="17" name="fail5.420000000000001"/>
          <p:cNvSpPr/>
          <p:nvPr/>
        </p:nvSpPr>
        <p:spPr>
          <a:xfrm>
            <a:off x="6199632" y="4956048"/>
            <a:ext cx="5394960" cy="749808"/>
          </a:xfrm>
          <a:prstGeom prst="roundRect">
            <a:avLst>
              <a:gd name="adj" fmla="val 6098"/>
            </a:avLst>
          </a:prstGeom>
          <a:solidFill>
            <a:srgbClr val="F1F5FB"/>
          </a:solidFill>
          <a:ln w="12700">
            <a:solidFill>
              <a:srgbClr val="F1F5FB"/>
            </a:solidFill>
            <a:prstDash val="solid"/>
          </a:ln>
        </p:spPr>
      </p:sp>
      <p:sp>
        <p:nvSpPr>
          <p:cNvPr id="18" name="Text 16"/>
          <p:cNvSpPr txBox="1"/>
          <p:nvPr/>
        </p:nvSpPr>
        <p:spPr>
          <a:xfrm>
            <a:off x="6400800" y="5029200"/>
            <a:ext cx="4992624" cy="256032"/>
          </a:xfrm>
          <a:prstGeom prst="rect">
            <a:avLst/>
          </a:prstGeom>
          <a:noFill/>
          <a:ln/>
        </p:spPr>
        <p:txBody>
          <a:bodyPr wrap="square" lIns="0" tIns="0" rIns="0" bIns="0" rtlCol="0" anchor="ctr"/>
          <a:lstStyle/>
          <a:p>
            <a:pPr indent="0" marL="0">
              <a:buNone/>
            </a:pPr>
            <a:r>
              <a:rPr lang="en-US" sz="1250" b="1" dirty="0">
                <a:solidFill>
                  <a:srgbClr val="0A1B3D"/>
                </a:solidFill>
              </a:rPr>
              <a:t>Model degrades after a change</a:t>
            </a:r>
            <a:endParaRPr lang="en-US" sz="1250" dirty="0"/>
          </a:p>
        </p:txBody>
      </p:sp>
      <p:sp>
        <p:nvSpPr>
          <p:cNvPr id="19" name="Text 17"/>
          <p:cNvSpPr txBox="1"/>
          <p:nvPr/>
        </p:nvSpPr>
        <p:spPr>
          <a:xfrm>
            <a:off x="6400800" y="5285232"/>
            <a:ext cx="4992624" cy="384048"/>
          </a:xfrm>
          <a:prstGeom prst="rect">
            <a:avLst/>
          </a:prstGeom>
          <a:noFill/>
          <a:ln/>
        </p:spPr>
        <p:txBody>
          <a:bodyPr wrap="square" lIns="0" tIns="0" rIns="0" bIns="0" rtlCol="0" anchor="ctr"/>
          <a:lstStyle/>
          <a:p>
            <a:pPr indent="0" marL="0">
              <a:lnSpc>
                <a:spcPct val="100000"/>
              </a:lnSpc>
              <a:buNone/>
            </a:pPr>
            <a:r>
              <a:rPr lang="en-US" sz="1150" dirty="0">
                <a:solidFill>
                  <a:srgbClr val="435270"/>
                </a:solidFill>
              </a:rPr>
              <a:t>Golden set and red-team suite gate every deploy; per-action-type kill switch</a:t>
            </a:r>
            <a:endParaRPr lang="en-US" sz="1150" dirty="0"/>
          </a:p>
        </p:txBody>
      </p:sp>
      <p:sp>
        <p:nvSpPr>
          <p:cNvPr id="20" name="Text 18"/>
          <p:cNvSpPr txBox="1"/>
          <p:nvPr/>
        </p:nvSpPr>
        <p:spPr>
          <a:xfrm>
            <a:off x="594360" y="5852160"/>
            <a:ext cx="11000232" cy="329184"/>
          </a:xfrm>
          <a:prstGeom prst="rect">
            <a:avLst/>
          </a:prstGeom>
          <a:noFill/>
          <a:ln/>
        </p:spPr>
        <p:txBody>
          <a:bodyPr wrap="square" lIns="0" tIns="0" rIns="0" bIns="0" rtlCol="0" anchor="ctr"/>
          <a:lstStyle/>
          <a:p>
            <a:pPr indent="0" marL="0">
              <a:buNone/>
            </a:pPr>
            <a:r>
              <a:rPr lang="en-US" sz="1350" b="1" dirty="0">
                <a:solidFill>
                  <a:srgbClr val="E8505B"/>
                </a:solidFill>
              </a:rPr>
              <a:t>Chaukas never initiates an autonomous debit from a merchant account. Not in v1, not ever.</a:t>
            </a:r>
            <a:endParaRPr lang="en-US" sz="1350" dirty="0"/>
          </a:p>
        </p:txBody>
      </p:sp>
      <p:sp>
        <p:nvSpPr>
          <p:cNvPr id="22" name="Text 2"/>
          <p:cNvSpPr/>
          <p:nvPr>
            <p:ph idx="105" hasCustomPrompt="1"/>
          </p:nvPr>
        </p:nvSpPr>
        <p:spPr>
          <a:xfrm>
            <a:off x="11338560" y="6355080"/>
            <a:ext cx="457200" cy="292608"/>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94360" y="384048"/>
            <a:ext cx="10515600" cy="274320"/>
          </a:xfrm>
          <a:prstGeom prst="rect">
            <a:avLst/>
          </a:prstGeom>
          <a:noFill/>
          <a:ln/>
        </p:spPr>
        <p:txBody>
          <a:bodyPr wrap="square" lIns="0" tIns="0" rIns="0" bIns="0" rtlCol="0" anchor="ctr"/>
          <a:lstStyle/>
          <a:p>
            <a:pPr indent="0" marL="0">
              <a:buNone/>
            </a:pPr>
            <a:r>
              <a:rPr lang="en-US" sz="1100" b="1" spc="220" kern="0" dirty="0">
                <a:solidFill>
                  <a:srgbClr val="00BAF2"/>
                </a:solidFill>
              </a:rPr>
              <a:t>ROADMAP</a:t>
            </a:r>
            <a:endParaRPr lang="en-US" sz="1100" dirty="0"/>
          </a:p>
        </p:txBody>
      </p:sp>
      <p:sp>
        <p:nvSpPr>
          <p:cNvPr id="3" name="Text 1"/>
          <p:cNvSpPr/>
          <p:nvPr>
            <p:ph idx="102" type="title" hasCustomPrompt="1"/>
          </p:nvPr>
        </p:nvSpPr>
        <p:spPr>
          <a:xfrm>
            <a:off x="594360" y="676656"/>
            <a:ext cx="10972800" cy="621792"/>
          </a:xfrm>
          <a:prstGeom prst="rect">
            <a:avLst/>
          </a:prstGeom>
          <a:noFill/>
          <a:ln/>
        </p:spPr>
        <p:txBody>
          <a:bodyPr wrap="square" lIns="0" tIns="0" rIns="0" bIns="0" rtlCol="0" anchor="ctr"/>
          <a:lstStyle/>
          <a:p>
            <a:pPr algn="l" indent="0" marL="0">
              <a:buNone/>
            </a:pPr>
            <a:r>
              <a:rPr lang="en-US" sz="3200" b="1" dirty="0">
                <a:solidFill>
                  <a:srgbClr val="0A1B3D"/>
                </a:solidFill>
              </a:rPr>
              <a:t>From prototype to production</a:t>
            </a:r>
            <a:endParaRPr lang="en-US" sz="3200" dirty="0"/>
          </a:p>
        </p:txBody>
      </p:sp>
      <p:sp>
        <p:nvSpPr>
          <p:cNvPr id="4" name="Text 1"/>
          <p:cNvSpPr/>
          <p:nvPr>
            <p:ph idx="103" type="body" hasCustomPrompt="1"/>
          </p:nvPr>
        </p:nvSpPr>
        <p:spPr>
          <a:xfrm>
            <a:off x="594360" y="1316736"/>
            <a:ext cx="10607040" cy="566928"/>
          </a:xfrm>
          <a:prstGeom prst="rect">
            <a:avLst/>
          </a:prstGeom>
          <a:noFill/>
          <a:ln/>
        </p:spPr>
        <p:txBody>
          <a:bodyPr wrap="square" lIns="0" tIns="0" rIns="0" bIns="0" rtlCol="0" anchor="t"/>
          <a:lstStyle/>
          <a:p>
            <a:pPr indent="0" marL="0">
              <a:buNone/>
            </a:pPr>
            <a:r>
              <a:rPr lang="en-US" sz="1350" dirty="0">
                <a:solidFill>
                  <a:srgbClr val="6C7A93"/>
                </a:solidFill>
              </a:rPr>
              <a:t>We are deliberate about scope. Here is what the prototype proves, what we will demo at the finals, and how a system like this earns the right to run autonomously at Paytm's scale.</a:t>
            </a:r>
            <a:endParaRPr lang="en-US" sz="1350" dirty="0"/>
          </a:p>
        </p:txBody>
      </p:sp>
      <p:sp>
        <p:nvSpPr>
          <p:cNvPr id="5" name="Prototype scope"/>
          <p:cNvSpPr/>
          <p:nvPr/>
        </p:nvSpPr>
        <p:spPr>
          <a:xfrm>
            <a:off x="594360" y="2103120"/>
            <a:ext cx="3502152" cy="3108960"/>
          </a:xfrm>
          <a:prstGeom prst="roundRect">
            <a:avLst>
              <a:gd name="adj" fmla="val 2353"/>
            </a:avLst>
          </a:prstGeom>
          <a:solidFill>
            <a:srgbClr val="F1F5FB"/>
          </a:solidFill>
          <a:ln w="12700">
            <a:solidFill>
              <a:srgbClr val="F1F5FB"/>
            </a:solidFill>
            <a:prstDash val="solid"/>
          </a:ln>
        </p:spPr>
      </p:sp>
      <p:sp>
        <p:nvSpPr>
          <p:cNvPr id="6" name="Shape 4"/>
          <p:cNvSpPr/>
          <p:nvPr/>
        </p:nvSpPr>
        <p:spPr>
          <a:xfrm>
            <a:off x="822960" y="2304288"/>
            <a:ext cx="384048" cy="384048"/>
          </a:xfrm>
          <a:prstGeom prst="ellipse">
            <a:avLst/>
          </a:prstGeom>
          <a:solidFill>
            <a:srgbClr val="00BAF2"/>
          </a:solidFill>
          <a:ln w="12700">
            <a:solidFill>
              <a:srgbClr val="00BAF2"/>
            </a:solidFill>
            <a:prstDash val="solid"/>
          </a:ln>
        </p:spPr>
      </p:sp>
      <p:sp>
        <p:nvSpPr>
          <p:cNvPr id="7" name="Text 5"/>
          <p:cNvSpPr txBox="1"/>
          <p:nvPr/>
        </p:nvSpPr>
        <p:spPr>
          <a:xfrm>
            <a:off x="822960" y="2304288"/>
            <a:ext cx="384048" cy="384048"/>
          </a:xfrm>
          <a:prstGeom prst="rect">
            <a:avLst/>
          </a:prstGeom>
          <a:noFill/>
          <a:ln/>
        </p:spPr>
        <p:txBody>
          <a:bodyPr wrap="square" lIns="0" tIns="0" rIns="0" bIns="0" rtlCol="0" anchor="ctr"/>
          <a:lstStyle/>
          <a:p>
            <a:pPr algn="ctr" indent="0" marL="0">
              <a:buNone/>
            </a:pPr>
            <a:r>
              <a:rPr lang="en-US" sz="1300" b="1" dirty="0">
                <a:solidFill>
                  <a:srgbClr val="0A1B3D"/>
                </a:solidFill>
              </a:rPr>
              <a:t>01</a:t>
            </a:r>
            <a:endParaRPr lang="en-US" sz="1300" dirty="0"/>
          </a:p>
        </p:txBody>
      </p:sp>
      <p:sp>
        <p:nvSpPr>
          <p:cNvPr id="8" name="Text 6"/>
          <p:cNvSpPr txBox="1"/>
          <p:nvPr/>
        </p:nvSpPr>
        <p:spPr>
          <a:xfrm>
            <a:off x="1325880" y="2276856"/>
            <a:ext cx="2542032" cy="384048"/>
          </a:xfrm>
          <a:prstGeom prst="rect">
            <a:avLst/>
          </a:prstGeom>
          <a:noFill/>
          <a:ln/>
        </p:spPr>
        <p:txBody>
          <a:bodyPr wrap="square" lIns="0" tIns="0" rIns="0" bIns="0" rtlCol="0" anchor="ctr"/>
          <a:lstStyle/>
          <a:p>
            <a:pPr indent="0" marL="0">
              <a:buNone/>
            </a:pPr>
            <a:r>
              <a:rPr lang="en-US" sz="1600" b="1" dirty="0">
                <a:solidFill>
                  <a:srgbClr val="0A1B3D"/>
                </a:solidFill>
              </a:rPr>
              <a:t>Prototype scope</a:t>
            </a:r>
            <a:endParaRPr lang="en-US" sz="1600" dirty="0"/>
          </a:p>
        </p:txBody>
      </p:sp>
      <p:sp>
        <p:nvSpPr>
          <p:cNvPr id="9" name="Text 7"/>
          <p:cNvSpPr txBox="1"/>
          <p:nvPr/>
        </p:nvSpPr>
        <p:spPr>
          <a:xfrm>
            <a:off x="850392" y="2724912"/>
            <a:ext cx="2990088" cy="2322576"/>
          </a:xfrm>
          <a:prstGeom prst="rect">
            <a:avLst/>
          </a:prstGeom>
          <a:noFill/>
          <a:ln/>
        </p:spPr>
        <p:txBody>
          <a:bodyPr wrap="square" lIns="0" tIns="0" rIns="0" bIns="0" rtlCol="0" anchor="t"/>
          <a:lstStyle/>
          <a:p>
            <a:pPr indent="0" marL="0">
              <a:lnSpc>
                <a:spcPct val="108000"/>
              </a:lnSpc>
              <a:buNone/>
            </a:pPr>
            <a:r>
              <a:rPr lang="en-US" sz="1250" dirty="0">
                <a:solidFill>
                  <a:srgbClr val="435270"/>
                </a:solidFill>
              </a:rPr>
              <a:t>One workflow: settlement and refund disputes</a:t>
            </a:r>
            <a:endParaRPr lang="en-US" sz="1250" dirty="0"/>
          </a:p>
          <a:p>
            <a:pPr indent="0" marL="0">
              <a:lnSpc>
                <a:spcPct val="108000"/>
              </a:lnSpc>
              <a:buNone/>
            </a:pPr>
            <a:endParaRPr lang="en-US" sz="1250" dirty="0"/>
          </a:p>
          <a:p>
            <a:pPr indent="0" marL="0">
              <a:lnSpc>
                <a:spcPct val="108000"/>
              </a:lnSpc>
              <a:buNone/>
            </a:pPr>
            <a:r>
              <a:rPr lang="en-US" sz="1250" dirty="0">
                <a:solidFill>
                  <a:srgbClr val="435270"/>
                </a:solidFill>
              </a:rPr>
              <a:t>Orchestrator with five typed agents</a:t>
            </a:r>
            <a:endParaRPr lang="en-US" sz="1250" dirty="0"/>
          </a:p>
          <a:p>
            <a:pPr indent="0" marL="0">
              <a:lnSpc>
                <a:spcPct val="108000"/>
              </a:lnSpc>
              <a:buNone/>
            </a:pPr>
            <a:endParaRPr lang="en-US" sz="1250" dirty="0"/>
          </a:p>
          <a:p>
            <a:pPr indent="0" marL="0">
              <a:lnSpc>
                <a:spcPct val="108000"/>
              </a:lnSpc>
              <a:buNone/>
            </a:pPr>
            <a:r>
              <a:rPr lang="en-US" sz="1250" dirty="0">
                <a:solidFill>
                  <a:srgbClr val="435270"/>
                </a:solidFill>
              </a:rPr>
              <a:t>Mock ledger and ticketing, no live money</a:t>
            </a:r>
            <a:endParaRPr lang="en-US" sz="1250" dirty="0"/>
          </a:p>
          <a:p>
            <a:pPr indent="0" marL="0">
              <a:lnSpc>
                <a:spcPct val="108000"/>
              </a:lnSpc>
              <a:buNone/>
            </a:pPr>
            <a:endParaRPr lang="en-US" sz="1250" dirty="0"/>
          </a:p>
          <a:p>
            <a:pPr indent="0" marL="0">
              <a:lnSpc>
                <a:spcPct val="108000"/>
              </a:lnSpc>
              <a:buNone/>
            </a:pPr>
            <a:r>
              <a:rPr lang="en-US" sz="1250" dirty="0">
                <a:solidFill>
                  <a:srgbClr val="435270"/>
                </a:solidFill>
              </a:rPr>
              <a:t>Guardrail policy engine with value limits and rollback tokens</a:t>
            </a:r>
            <a:endParaRPr lang="en-US" sz="1250" dirty="0"/>
          </a:p>
        </p:txBody>
      </p:sp>
      <p:sp>
        <p:nvSpPr>
          <p:cNvPr id="10" name="Finals demo"/>
          <p:cNvSpPr/>
          <p:nvPr/>
        </p:nvSpPr>
        <p:spPr>
          <a:xfrm>
            <a:off x="4343400" y="2103120"/>
            <a:ext cx="3502152" cy="3108960"/>
          </a:xfrm>
          <a:prstGeom prst="roundRect">
            <a:avLst>
              <a:gd name="adj" fmla="val 2353"/>
            </a:avLst>
          </a:prstGeom>
          <a:solidFill>
            <a:srgbClr val="F1F5FB"/>
          </a:solidFill>
          <a:ln w="12700">
            <a:solidFill>
              <a:srgbClr val="F1F5FB"/>
            </a:solidFill>
            <a:prstDash val="solid"/>
          </a:ln>
        </p:spPr>
      </p:sp>
      <p:sp>
        <p:nvSpPr>
          <p:cNvPr id="11" name="Shape 9"/>
          <p:cNvSpPr/>
          <p:nvPr/>
        </p:nvSpPr>
        <p:spPr>
          <a:xfrm>
            <a:off x="4572000" y="2304288"/>
            <a:ext cx="384048" cy="384048"/>
          </a:xfrm>
          <a:prstGeom prst="ellipse">
            <a:avLst/>
          </a:prstGeom>
          <a:solidFill>
            <a:srgbClr val="F5A623"/>
          </a:solidFill>
          <a:ln w="12700">
            <a:solidFill>
              <a:srgbClr val="F5A623"/>
            </a:solidFill>
            <a:prstDash val="solid"/>
          </a:ln>
        </p:spPr>
      </p:sp>
      <p:sp>
        <p:nvSpPr>
          <p:cNvPr id="12" name="Text 10"/>
          <p:cNvSpPr txBox="1"/>
          <p:nvPr/>
        </p:nvSpPr>
        <p:spPr>
          <a:xfrm>
            <a:off x="4572000" y="2304288"/>
            <a:ext cx="384048" cy="384048"/>
          </a:xfrm>
          <a:prstGeom prst="rect">
            <a:avLst/>
          </a:prstGeom>
          <a:noFill/>
          <a:ln/>
        </p:spPr>
        <p:txBody>
          <a:bodyPr wrap="square" lIns="0" tIns="0" rIns="0" bIns="0" rtlCol="0" anchor="ctr"/>
          <a:lstStyle/>
          <a:p>
            <a:pPr algn="ctr" indent="0" marL="0">
              <a:buNone/>
            </a:pPr>
            <a:r>
              <a:rPr lang="en-US" sz="1300" b="1" dirty="0">
                <a:solidFill>
                  <a:srgbClr val="0A1B3D"/>
                </a:solidFill>
              </a:rPr>
              <a:t>02</a:t>
            </a:r>
            <a:endParaRPr lang="en-US" sz="1300" dirty="0"/>
          </a:p>
        </p:txBody>
      </p:sp>
      <p:sp>
        <p:nvSpPr>
          <p:cNvPr id="13" name="Text 11"/>
          <p:cNvSpPr txBox="1"/>
          <p:nvPr/>
        </p:nvSpPr>
        <p:spPr>
          <a:xfrm>
            <a:off x="5074920" y="2276856"/>
            <a:ext cx="2542032" cy="384048"/>
          </a:xfrm>
          <a:prstGeom prst="rect">
            <a:avLst/>
          </a:prstGeom>
          <a:noFill/>
          <a:ln/>
        </p:spPr>
        <p:txBody>
          <a:bodyPr wrap="square" lIns="0" tIns="0" rIns="0" bIns="0" rtlCol="0" anchor="ctr"/>
          <a:lstStyle/>
          <a:p>
            <a:pPr indent="0" marL="0">
              <a:buNone/>
            </a:pPr>
            <a:r>
              <a:rPr lang="en-US" sz="1600" b="1" dirty="0">
                <a:solidFill>
                  <a:srgbClr val="0A1B3D"/>
                </a:solidFill>
              </a:rPr>
              <a:t>Finals demo</a:t>
            </a:r>
            <a:endParaRPr lang="en-US" sz="1600" dirty="0"/>
          </a:p>
        </p:txBody>
      </p:sp>
      <p:sp>
        <p:nvSpPr>
          <p:cNvPr id="14" name="Text 12"/>
          <p:cNvSpPr txBox="1"/>
          <p:nvPr/>
        </p:nvSpPr>
        <p:spPr>
          <a:xfrm>
            <a:off x="4599432" y="2724912"/>
            <a:ext cx="2990088" cy="2322576"/>
          </a:xfrm>
          <a:prstGeom prst="rect">
            <a:avLst/>
          </a:prstGeom>
          <a:noFill/>
          <a:ln/>
        </p:spPr>
        <p:txBody>
          <a:bodyPr wrap="square" lIns="0" tIns="0" rIns="0" bIns="0" rtlCol="0" anchor="t"/>
          <a:lstStyle/>
          <a:p>
            <a:pPr indent="0" marL="0">
              <a:lnSpc>
                <a:spcPct val="108000"/>
              </a:lnSpc>
              <a:buNone/>
            </a:pPr>
            <a:r>
              <a:rPr lang="en-US" sz="1250" dirty="0">
                <a:solidFill>
                  <a:srgbClr val="435270"/>
                </a:solidFill>
              </a:rPr>
              <a:t>Hindi voice loop end to end, mic to action</a:t>
            </a:r>
            <a:endParaRPr lang="en-US" sz="1250" dirty="0"/>
          </a:p>
          <a:p>
            <a:pPr indent="0" marL="0">
              <a:lnSpc>
                <a:spcPct val="108000"/>
              </a:lnSpc>
              <a:buNone/>
            </a:pPr>
            <a:endParaRPr lang="en-US" sz="1250" dirty="0"/>
          </a:p>
          <a:p>
            <a:pPr indent="0" marL="0">
              <a:lnSpc>
                <a:spcPct val="108000"/>
              </a:lnSpc>
              <a:buNone/>
            </a:pPr>
            <a:r>
              <a:rPr lang="en-US" sz="1250" dirty="0">
                <a:solidFill>
                  <a:srgbClr val="435270"/>
                </a:solidFill>
              </a:rPr>
              <a:t>Guardrail blocking a live over-limit attempt</a:t>
            </a:r>
            <a:endParaRPr lang="en-US" sz="1250" dirty="0"/>
          </a:p>
          <a:p>
            <a:pPr indent="0" marL="0">
              <a:lnSpc>
                <a:spcPct val="108000"/>
              </a:lnSpc>
              <a:buNone/>
            </a:pPr>
            <a:endParaRPr lang="en-US" sz="1250" dirty="0"/>
          </a:p>
          <a:p>
            <a:pPr indent="0" marL="0">
              <a:lnSpc>
                <a:spcPct val="108000"/>
              </a:lnSpc>
              <a:buNone/>
            </a:pPr>
            <a:r>
              <a:rPr lang="en-US" sz="1250" dirty="0">
                <a:solidFill>
                  <a:srgbClr val="435270"/>
                </a:solidFill>
              </a:rPr>
              <a:t>Support-agent copilot view with the handoff brief</a:t>
            </a:r>
            <a:endParaRPr lang="en-US" sz="1250" dirty="0"/>
          </a:p>
          <a:p>
            <a:pPr indent="0" marL="0">
              <a:lnSpc>
                <a:spcPct val="108000"/>
              </a:lnSpc>
              <a:buNone/>
            </a:pPr>
            <a:endParaRPr lang="en-US" sz="1250" dirty="0"/>
          </a:p>
          <a:p>
            <a:pPr indent="0" marL="0">
              <a:lnSpc>
                <a:spcPct val="108000"/>
              </a:lnSpc>
              <a:buNone/>
            </a:pPr>
            <a:r>
              <a:rPr lang="en-US" sz="1250" dirty="0">
                <a:solidFill>
                  <a:srgbClr val="435270"/>
                </a:solidFill>
              </a:rPr>
              <a:t>Eval suite running on stage, not screenshots</a:t>
            </a:r>
            <a:endParaRPr lang="en-US" sz="1250" dirty="0"/>
          </a:p>
        </p:txBody>
      </p:sp>
      <p:sp>
        <p:nvSpPr>
          <p:cNvPr id="15" name="Production path"/>
          <p:cNvSpPr/>
          <p:nvPr/>
        </p:nvSpPr>
        <p:spPr>
          <a:xfrm>
            <a:off x="8092440" y="2103120"/>
            <a:ext cx="3502152" cy="3108960"/>
          </a:xfrm>
          <a:prstGeom prst="roundRect">
            <a:avLst>
              <a:gd name="adj" fmla="val 2353"/>
            </a:avLst>
          </a:prstGeom>
          <a:solidFill>
            <a:srgbClr val="F1F5FB"/>
          </a:solidFill>
          <a:ln w="12700">
            <a:solidFill>
              <a:srgbClr val="F1F5FB"/>
            </a:solidFill>
            <a:prstDash val="solid"/>
          </a:ln>
        </p:spPr>
      </p:sp>
      <p:sp>
        <p:nvSpPr>
          <p:cNvPr id="16" name="Shape 14"/>
          <p:cNvSpPr/>
          <p:nvPr/>
        </p:nvSpPr>
        <p:spPr>
          <a:xfrm>
            <a:off x="8321040" y="2304288"/>
            <a:ext cx="384048" cy="384048"/>
          </a:xfrm>
          <a:prstGeom prst="ellipse">
            <a:avLst/>
          </a:prstGeom>
          <a:solidFill>
            <a:srgbClr val="2BB673"/>
          </a:solidFill>
          <a:ln w="12700">
            <a:solidFill>
              <a:srgbClr val="2BB673"/>
            </a:solidFill>
            <a:prstDash val="solid"/>
          </a:ln>
        </p:spPr>
      </p:sp>
      <p:sp>
        <p:nvSpPr>
          <p:cNvPr id="17" name="Text 15"/>
          <p:cNvSpPr txBox="1"/>
          <p:nvPr/>
        </p:nvSpPr>
        <p:spPr>
          <a:xfrm>
            <a:off x="8321040" y="2304288"/>
            <a:ext cx="384048" cy="384048"/>
          </a:xfrm>
          <a:prstGeom prst="rect">
            <a:avLst/>
          </a:prstGeom>
          <a:noFill/>
          <a:ln/>
        </p:spPr>
        <p:txBody>
          <a:bodyPr wrap="square" lIns="0" tIns="0" rIns="0" bIns="0" rtlCol="0" anchor="ctr"/>
          <a:lstStyle/>
          <a:p>
            <a:pPr algn="ctr" indent="0" marL="0">
              <a:buNone/>
            </a:pPr>
            <a:r>
              <a:rPr lang="en-US" sz="1300" b="1" dirty="0">
                <a:solidFill>
                  <a:srgbClr val="0A1B3D"/>
                </a:solidFill>
              </a:rPr>
              <a:t>03</a:t>
            </a:r>
            <a:endParaRPr lang="en-US" sz="1300" dirty="0"/>
          </a:p>
        </p:txBody>
      </p:sp>
      <p:sp>
        <p:nvSpPr>
          <p:cNvPr id="18" name="Text 16"/>
          <p:cNvSpPr txBox="1"/>
          <p:nvPr/>
        </p:nvSpPr>
        <p:spPr>
          <a:xfrm>
            <a:off x="8823960" y="2276856"/>
            <a:ext cx="2542032" cy="384048"/>
          </a:xfrm>
          <a:prstGeom prst="rect">
            <a:avLst/>
          </a:prstGeom>
          <a:noFill/>
          <a:ln/>
        </p:spPr>
        <p:txBody>
          <a:bodyPr wrap="square" lIns="0" tIns="0" rIns="0" bIns="0" rtlCol="0" anchor="ctr"/>
          <a:lstStyle/>
          <a:p>
            <a:pPr indent="0" marL="0">
              <a:buNone/>
            </a:pPr>
            <a:r>
              <a:rPr lang="en-US" sz="1600" b="1" dirty="0">
                <a:solidFill>
                  <a:srgbClr val="0A1B3D"/>
                </a:solidFill>
              </a:rPr>
              <a:t>Production path</a:t>
            </a:r>
            <a:endParaRPr lang="en-US" sz="1600" dirty="0"/>
          </a:p>
        </p:txBody>
      </p:sp>
      <p:sp>
        <p:nvSpPr>
          <p:cNvPr id="19" name="Text 17"/>
          <p:cNvSpPr txBox="1"/>
          <p:nvPr/>
        </p:nvSpPr>
        <p:spPr>
          <a:xfrm>
            <a:off x="8348472" y="2724912"/>
            <a:ext cx="2990088" cy="2322576"/>
          </a:xfrm>
          <a:prstGeom prst="rect">
            <a:avLst/>
          </a:prstGeom>
          <a:noFill/>
          <a:ln/>
        </p:spPr>
        <p:txBody>
          <a:bodyPr wrap="square" lIns="0" tIns="0" rIns="0" bIns="0" rtlCol="0" anchor="t"/>
          <a:lstStyle/>
          <a:p>
            <a:pPr indent="0" marL="0">
              <a:lnSpc>
                <a:spcPct val="108000"/>
              </a:lnSpc>
              <a:buNone/>
            </a:pPr>
            <a:r>
              <a:rPr lang="en-US" sz="1250" dirty="0">
                <a:solidFill>
                  <a:srgbClr val="435270"/>
                </a:solidFill>
              </a:rPr>
              <a:t>Pilot on one merchant cohort, one ticket class</a:t>
            </a:r>
            <a:endParaRPr lang="en-US" sz="1250" dirty="0"/>
          </a:p>
          <a:p>
            <a:pPr indent="0" marL="0">
              <a:lnSpc>
                <a:spcPct val="108000"/>
              </a:lnSpc>
              <a:buNone/>
            </a:pPr>
            <a:endParaRPr lang="en-US" sz="1250" dirty="0"/>
          </a:p>
          <a:p>
            <a:pPr indent="0" marL="0">
              <a:lnSpc>
                <a:spcPct val="108000"/>
              </a:lnSpc>
              <a:buNone/>
            </a:pPr>
            <a:r>
              <a:rPr lang="en-US" sz="1250" dirty="0">
                <a:solidFill>
                  <a:srgbClr val="435270"/>
                </a:solidFill>
              </a:rPr>
              <a:t>Shadow mode: agent proposes, human executes</a:t>
            </a:r>
            <a:endParaRPr lang="en-US" sz="1250" dirty="0"/>
          </a:p>
          <a:p>
            <a:pPr indent="0" marL="0">
              <a:lnSpc>
                <a:spcPct val="108000"/>
              </a:lnSpc>
              <a:buNone/>
            </a:pPr>
            <a:endParaRPr lang="en-US" sz="1250" dirty="0"/>
          </a:p>
          <a:p>
            <a:pPr indent="0" marL="0">
              <a:lnSpc>
                <a:spcPct val="108000"/>
              </a:lnSpc>
              <a:buNone/>
            </a:pPr>
            <a:r>
              <a:rPr lang="en-US" sz="1250" dirty="0">
                <a:solidFill>
                  <a:srgbClr val="435270"/>
                </a:solidFill>
              </a:rPr>
              <a:t>Graduated autonomy as the error rate holds at zero</a:t>
            </a:r>
            <a:endParaRPr lang="en-US" sz="1250" dirty="0"/>
          </a:p>
          <a:p>
            <a:pPr indent="0" marL="0">
              <a:lnSpc>
                <a:spcPct val="108000"/>
              </a:lnSpc>
              <a:buNone/>
            </a:pPr>
            <a:endParaRPr lang="en-US" sz="1250" dirty="0"/>
          </a:p>
          <a:p>
            <a:pPr indent="0" marL="0">
              <a:lnSpc>
                <a:spcPct val="108000"/>
              </a:lnSpc>
              <a:buNone/>
            </a:pPr>
            <a:r>
              <a:rPr lang="en-US" sz="1250" dirty="0">
                <a:solidFill>
                  <a:srgbClr val="435270"/>
                </a:solidFill>
              </a:rPr>
              <a:t>Expand to disputes, onboarding and collections</a:t>
            </a:r>
            <a:endParaRPr lang="en-US" sz="1250" dirty="0"/>
          </a:p>
        </p:txBody>
      </p:sp>
      <p:sp>
        <p:nvSpPr>
          <p:cNvPr id="20" name="ask"/>
          <p:cNvSpPr/>
          <p:nvPr/>
        </p:nvSpPr>
        <p:spPr>
          <a:xfrm>
            <a:off x="594360" y="5394960"/>
            <a:ext cx="11000232" cy="749808"/>
          </a:xfrm>
          <a:prstGeom prst="roundRect">
            <a:avLst>
              <a:gd name="adj" fmla="val 6098"/>
            </a:avLst>
          </a:prstGeom>
          <a:solidFill>
            <a:srgbClr val="0A1B3D"/>
          </a:solidFill>
          <a:ln w="12700">
            <a:solidFill>
              <a:srgbClr val="0A1B3D"/>
            </a:solidFill>
            <a:prstDash val="solid"/>
          </a:ln>
        </p:spPr>
      </p:sp>
      <p:sp>
        <p:nvSpPr>
          <p:cNvPr id="21" name="Text 19"/>
          <p:cNvSpPr txBox="1"/>
          <p:nvPr/>
        </p:nvSpPr>
        <p:spPr>
          <a:xfrm>
            <a:off x="914400" y="5394960"/>
            <a:ext cx="10332720" cy="749808"/>
          </a:xfrm>
          <a:prstGeom prst="rect">
            <a:avLst/>
          </a:prstGeom>
          <a:noFill/>
          <a:ln/>
        </p:spPr>
        <p:txBody>
          <a:bodyPr wrap="square" lIns="0" tIns="0" rIns="0" bIns="0" rtlCol="0" anchor="ctr"/>
          <a:lstStyle/>
          <a:p>
            <a:pPr indent="0" marL="0">
              <a:buNone/>
            </a:pPr>
            <a:r>
              <a:rPr lang="en-US" sz="1350" dirty="0">
                <a:solidFill>
                  <a:srgbClr val="FFFFFF"/>
                </a:solidFill>
              </a:rPr>
              <a:t>Shadow mode is the honest path to production: Chaukas proposes every action, a human executes, and autonomy is earned one measured ticket class at a time.</a:t>
            </a:r>
            <a:endParaRPr lang="en-US" sz="1350" dirty="0"/>
          </a:p>
        </p:txBody>
      </p:sp>
      <p:sp>
        <p:nvSpPr>
          <p:cNvPr id="23" name="Text 2"/>
          <p:cNvSpPr/>
          <p:nvPr>
            <p:ph idx="105" hasCustomPrompt="1"/>
          </p:nvPr>
        </p:nvSpPr>
        <p:spPr>
          <a:xfrm>
            <a:off x="11338560" y="6355080"/>
            <a:ext cx="457200" cy="292608"/>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9509760" y="1417320"/>
            <a:ext cx="2377440" cy="2377440"/>
          </a:xfrm>
          <a:prstGeom prst="ellipse">
            <a:avLst/>
          </a:prstGeom>
          <a:solidFill>
            <a:srgbClr val="1F3A68"/>
          </a:solidFill>
          <a:ln w="12700">
            <a:solidFill>
              <a:srgbClr val="1F3A68"/>
            </a:solidFill>
            <a:prstDash val="solid"/>
          </a:ln>
        </p:spPr>
      </p:sp>
      <p:sp>
        <p:nvSpPr>
          <p:cNvPr id="3" name="Shape 1"/>
          <p:cNvSpPr/>
          <p:nvPr/>
        </p:nvSpPr>
        <p:spPr>
          <a:xfrm>
            <a:off x="10104120" y="2011680"/>
            <a:ext cx="1188720" cy="1188720"/>
          </a:xfrm>
          <a:prstGeom prst="ellipse">
            <a:avLst/>
          </a:prstGeom>
          <a:solidFill>
            <a:srgbClr val="F5A623"/>
          </a:solidFill>
          <a:ln w="12700">
            <a:solidFill>
              <a:srgbClr val="F5A623"/>
            </a:solidFill>
            <a:prstDash val="solid"/>
          </a:ln>
        </p:spPr>
      </p:sp>
      <p:sp>
        <p:nvSpPr>
          <p:cNvPr id="4" name="Text 1"/>
          <p:cNvSpPr/>
          <p:nvPr>
            <p:ph idx="101" type="body" hasCustomPrompt="1"/>
          </p:nvPr>
        </p:nvSpPr>
        <p:spPr>
          <a:xfrm>
            <a:off x="822960" y="1371600"/>
            <a:ext cx="10515600" cy="320040"/>
          </a:xfrm>
          <a:prstGeom prst="rect">
            <a:avLst/>
          </a:prstGeom>
          <a:noFill/>
          <a:ln/>
        </p:spPr>
        <p:txBody>
          <a:bodyPr wrap="square" rtlCol="0" anchor="ctr"/>
          <a:lstStyle/>
          <a:p>
            <a:pPr indent="0" marL="0">
              <a:buNone/>
            </a:pPr>
            <a:r>
              <a:rPr lang="en-US" sz="1100" b="1" spc="250" kern="0" dirty="0">
                <a:solidFill>
                  <a:srgbClr val="00BAF2"/>
                </a:solidFill>
              </a:rPr>
              <a:t>TRACK 3  ·  AUTONOMOUS AI TEAMMATES</a:t>
            </a:r>
            <a:endParaRPr lang="en-US" sz="1100" dirty="0"/>
          </a:p>
        </p:txBody>
      </p:sp>
      <p:sp>
        <p:nvSpPr>
          <p:cNvPr id="5" name="Text 1"/>
          <p:cNvSpPr/>
          <p:nvPr>
            <p:ph idx="102" type="title" hasCustomPrompt="1"/>
          </p:nvPr>
        </p:nvSpPr>
        <p:spPr>
          <a:xfrm>
            <a:off x="822960" y="1828800"/>
            <a:ext cx="8412480" cy="1188720"/>
          </a:xfrm>
          <a:prstGeom prst="rect">
            <a:avLst/>
          </a:prstGeom>
          <a:noFill/>
          <a:ln/>
        </p:spPr>
        <p:txBody>
          <a:bodyPr wrap="square" rtlCol="0" anchor="ctr"/>
          <a:lstStyle/>
          <a:p>
            <a:pPr algn="l" indent="0" marL="0">
              <a:buNone/>
            </a:pPr>
            <a:r>
              <a:rPr lang="en-US" sz="5400" b="1" dirty="0">
                <a:solidFill>
                  <a:srgbClr val="FFFFFF"/>
                </a:solidFill>
              </a:rPr>
              <a:t>From answering to doing</a:t>
            </a:r>
            <a:endParaRPr lang="en-US" sz="5400" dirty="0"/>
          </a:p>
        </p:txBody>
      </p:sp>
      <p:sp>
        <p:nvSpPr>
          <p:cNvPr id="6" name="Text 1"/>
          <p:cNvSpPr/>
          <p:nvPr>
            <p:ph idx="103" type="body" hasCustomPrompt="1"/>
          </p:nvPr>
        </p:nvSpPr>
        <p:spPr>
          <a:xfrm>
            <a:off x="822960" y="3017520"/>
            <a:ext cx="10058400" cy="548640"/>
          </a:xfrm>
          <a:prstGeom prst="rect">
            <a:avLst/>
          </a:prstGeom>
          <a:noFill/>
          <a:ln/>
        </p:spPr>
        <p:txBody>
          <a:bodyPr wrap="square" rtlCol="0" anchor="ctr"/>
          <a:lstStyle/>
          <a:p>
            <a:pPr indent="0" marL="0">
              <a:buNone/>
            </a:pPr>
            <a:r>
              <a:rPr lang="en-US" sz="2000" dirty="0">
                <a:solidFill>
                  <a:srgbClr val="00BAF2"/>
                </a:solidFill>
              </a:rPr>
              <a:t>Chaukas — vigilant by name, and by design</a:t>
            </a:r>
            <a:endParaRPr lang="en-US" sz="2000" dirty="0"/>
          </a:p>
        </p:txBody>
      </p:sp>
      <p:sp>
        <p:nvSpPr>
          <p:cNvPr id="7" name="Text 1"/>
          <p:cNvSpPr/>
          <p:nvPr>
            <p:ph idx="104" type="body" hasCustomPrompt="1"/>
          </p:nvPr>
        </p:nvSpPr>
        <p:spPr>
          <a:xfrm>
            <a:off x="822960" y="3749040"/>
            <a:ext cx="9326880" cy="1005840"/>
          </a:xfrm>
          <a:prstGeom prst="rect">
            <a:avLst/>
          </a:prstGeom>
          <a:noFill/>
          <a:ln/>
        </p:spPr>
        <p:txBody>
          <a:bodyPr wrap="square" rtlCol="0" anchor="t"/>
          <a:lstStyle/>
          <a:p>
            <a:pPr indent="0" marL="0">
              <a:buNone/>
            </a:pPr>
            <a:r>
              <a:rPr lang="en-US" sz="1450" dirty="0">
                <a:solidFill>
                  <a:srgbClr val="C8D4E8"/>
                </a:solidFill>
              </a:rPr>
              <a:t>Build for India means building for the merchant who speaks Marathi, runs a shop alone, and cannot afford to wait in a queue. Chaukas understands them, decides what to do, does it — and proves every single time that it was safe to.</a:t>
            </a:r>
            <a:endParaRPr lang="en-US" sz="1450" dirty="0"/>
          </a:p>
        </p:txBody>
      </p:sp>
      <p:sp>
        <p:nvSpPr>
          <p:cNvPr id="8" name="Text 1"/>
          <p:cNvSpPr/>
          <p:nvPr>
            <p:ph idx="105" type="body" hasCustomPrompt="1"/>
          </p:nvPr>
        </p:nvSpPr>
        <p:spPr>
          <a:xfrm>
            <a:off x="822960" y="5943600"/>
            <a:ext cx="10515600" cy="365760"/>
          </a:xfrm>
          <a:prstGeom prst="rect">
            <a:avLst/>
          </a:prstGeom>
          <a:noFill/>
          <a:ln/>
        </p:spPr>
        <p:txBody>
          <a:bodyPr wrap="square" rtlCol="0" anchor="ctr"/>
          <a:lstStyle/>
          <a:p>
            <a:pPr indent="0" marL="0">
              <a:buNone/>
            </a:pPr>
            <a:r>
              <a:rPr lang="en-US" sz="1100" dirty="0">
                <a:solidFill>
                  <a:srgbClr val="8FA3C0"/>
                </a:solidFill>
              </a:rPr>
              <a:t>Enver AI   ·   Thank you — we would love your questions</a:t>
            </a:r>
            <a:endParaRPr lang="en-US" sz="1100" dirty="0"/>
          </a:p>
        </p:txBody>
      </p:sp>
    </p:spTree>
  </p:cSld>
  <p:clrMapOvr>
    <a:masterClrMapping/>
  </p:clrMapOvr>
</p:sld>
</file>

<file path=ppt/theme/theme1.xml><?xml version="1.0" encoding="utf-8"?>
<a:theme xmlns:a="http://schemas.openxmlformats.org/drawingml/2006/main" name="Chaukas">
  <a:themeElements>
    <a:clrScheme name="Chaukas">
      <a:dk1>
        <a:srgbClr val="0A1B3D"/>
      </a:dk1>
      <a:lt1>
        <a:srgbClr val="FFFFFF"/>
      </a:lt1>
      <a:dk2>
        <a:srgbClr val="1F3A68"/>
      </a:dk2>
      <a:lt2>
        <a:srgbClr val="F1F5FB"/>
      </a:lt2>
      <a:accent1>
        <a:srgbClr val="00BAF2"/>
      </a:accent1>
      <a:accent2>
        <a:srgbClr val="F5A623"/>
      </a:accent2>
      <a:accent3>
        <a:srgbClr val="2BB673"/>
      </a:accent3>
      <a:accent4>
        <a:srgbClr val="E8505B"/>
      </a:accent4>
      <a:accent5>
        <a:srgbClr val="6C7A93"/>
      </a:accent5>
      <a:accent6>
        <a:srgbClr val="0A1B3D"/>
      </a:accent6>
      <a:hlink>
        <a:srgbClr val="00BAF2"/>
      </a:hlink>
      <a:folHlink>
        <a:srgbClr val="6C7A93"/>
      </a:folHlink>
    </a:clrScheme>
    <a:fontScheme name="Chauka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Enver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Chaukas - Paytm Build for India AI Hackathon</dc:title>
  <dc:subject>Track 3: Autonomous AI Teammates</dc:subject>
  <dc:creator>Enver AI</dc:creator>
  <cp:lastModifiedBy>Enver AI</cp:lastModifiedBy>
  <cp:revision>1</cp:revision>
  <dcterms:created xsi:type="dcterms:W3CDTF">2026-10-26T10:13:44Z</dcterms:created>
  <dcterms:modified xsi:type="dcterms:W3CDTF">2026-10-26T10:13:44Z</dcterms:modified>
</cp:coreProperties>
</file>